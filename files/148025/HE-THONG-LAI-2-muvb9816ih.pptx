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8288000" cy="10287000"/>
  <p:notesSz cx="6858000" cy="9144000"/>
  <p:embeddedFontLst>
    <p:embeddedFont>
      <p:font typeface="Times New Roman" charset="1" panose="02020603050405020304"/>
      <p:regular r:id="rId40"/>
    </p:embeddedFont>
    <p:embeddedFont>
      <p:font typeface="Times New Roman Bold" charset="1" panose="02020803070505020304"/>
      <p:regular r:id="rId41"/>
    </p:embeddedFont>
    <p:embeddedFont>
      <p:font typeface="Times New Roman Bold Italics" charset="1" panose="020207030605050903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7.png" Type="http://schemas.openxmlformats.org/officeDocument/2006/relationships/image"/><Relationship Id="rId5"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3.jpe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3.jpe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9.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5.png" Type="http://schemas.openxmlformats.org/officeDocument/2006/relationships/image"/><Relationship Id="rId4" Target="../media/image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svg" Type="http://schemas.openxmlformats.org/officeDocument/2006/relationships/image"/><Relationship Id="rId11" Target="../media/image33.png" Type="http://schemas.openxmlformats.org/officeDocument/2006/relationships/image"/><Relationship Id="rId12" Target="../media/image34.png" Type="http://schemas.openxmlformats.org/officeDocument/2006/relationships/image"/><Relationship Id="rId13" Target="../media/image35.svg" Type="http://schemas.openxmlformats.org/officeDocument/2006/relationships/image"/><Relationship Id="rId14" Target="../media/image36.png" Type="http://schemas.openxmlformats.org/officeDocument/2006/relationships/image"/><Relationship Id="rId15" Target="../media/image37.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3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8.png" Type="http://schemas.openxmlformats.org/officeDocument/2006/relationships/image"/><Relationship Id="rId7" Target="../media/image39.png" Type="http://schemas.openxmlformats.org/officeDocument/2006/relationships/image"/><Relationship Id="rId8" Target="../media/image40.png" Type="http://schemas.openxmlformats.org/officeDocument/2006/relationships/image"/><Relationship Id="rId9" Target="../media/image4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8.png" Type="http://schemas.openxmlformats.org/officeDocument/2006/relationships/image"/><Relationship Id="rId5" Target="../media/image43.pn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4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8.png" Type="http://schemas.openxmlformats.org/officeDocument/2006/relationships/image"/><Relationship Id="rId7" Target="../media/image39.png" Type="http://schemas.openxmlformats.org/officeDocument/2006/relationships/image"/><Relationship Id="rId8" Target="../media/image47.png" Type="http://schemas.openxmlformats.org/officeDocument/2006/relationships/image"/><Relationship Id="rId9" Target="../media/image4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5.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51.png" Type="http://schemas.openxmlformats.org/officeDocument/2006/relationships/image"/><Relationship Id="rId7" Target="../media/image52.svg" Type="http://schemas.openxmlformats.org/officeDocument/2006/relationships/image"/><Relationship Id="rId8" Target="../media/image53.png" Type="http://schemas.openxmlformats.org/officeDocument/2006/relationships/image"/><Relationship Id="rId9" Target="../media/image5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8.png" Type="http://schemas.openxmlformats.org/officeDocument/2006/relationships/image"/><Relationship Id="rId5" Target="../media/image33.png" Type="http://schemas.openxmlformats.org/officeDocument/2006/relationships/image"/><Relationship Id="rId6" Target="../media/image56.png" Type="http://schemas.openxmlformats.org/officeDocument/2006/relationships/image"/><Relationship Id="rId7" Target="../media/image57.svg" Type="http://schemas.openxmlformats.org/officeDocument/2006/relationships/image"/><Relationship Id="rId8" Target="../media/image58.png" Type="http://schemas.openxmlformats.org/officeDocument/2006/relationships/image"/><Relationship Id="rId9" Target="../media/image59.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62.png" Type="http://schemas.openxmlformats.org/officeDocument/2006/relationships/image"/><Relationship Id="rId9" Target="../media/image6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8.png" Type="http://schemas.openxmlformats.org/officeDocument/2006/relationships/image"/><Relationship Id="rId5" Target="../media/image64.png" Type="http://schemas.openxmlformats.org/officeDocument/2006/relationships/image"/><Relationship Id="rId6" Target="../media/image65.png" Type="http://schemas.openxmlformats.org/officeDocument/2006/relationships/image"/><Relationship Id="rId7" Target="../media/image66.svg" Type="http://schemas.openxmlformats.org/officeDocument/2006/relationships/image"/><Relationship Id="rId8" Target="../media/image67.png" Type="http://schemas.openxmlformats.org/officeDocument/2006/relationships/image"/><Relationship Id="rId9" Target="../media/image68.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9.png" Type="http://schemas.openxmlformats.org/officeDocument/2006/relationships/image"/><Relationship Id="rId5" Target="../media/image70.svg" Type="http://schemas.openxmlformats.org/officeDocument/2006/relationships/image"/><Relationship Id="rId6" Target="../media/image71.png" Type="http://schemas.openxmlformats.org/officeDocument/2006/relationships/image"/><Relationship Id="rId7" Target="../media/image72.png" Type="http://schemas.openxmlformats.org/officeDocument/2006/relationships/image"/><Relationship Id="rId8" Target="../media/image7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11" Target="../media/image42.sv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74.pn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46.png" Type="http://schemas.openxmlformats.org/officeDocument/2006/relationships/image"/><Relationship Id="rId8" Target="../media/image47.png" Type="http://schemas.openxmlformats.org/officeDocument/2006/relationships/image"/><Relationship Id="rId9" Target="../media/image7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3.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76.pn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7.png" Type="http://schemas.openxmlformats.org/officeDocument/2006/relationships/image"/><Relationship Id="rId11" Target="../media/image78.svg" Type="http://schemas.openxmlformats.org/officeDocument/2006/relationships/image"/><Relationship Id="rId12" Target="../media/image56.png" Type="http://schemas.openxmlformats.org/officeDocument/2006/relationships/image"/><Relationship Id="rId13" Target="../media/image57.svg" Type="http://schemas.openxmlformats.org/officeDocument/2006/relationships/image"/><Relationship Id="rId14" Target="../media/image34.png" Type="http://schemas.openxmlformats.org/officeDocument/2006/relationships/image"/><Relationship Id="rId15" Target="../media/image35.svg" Type="http://schemas.openxmlformats.org/officeDocument/2006/relationships/image"/><Relationship Id="rId16" Target="../media/image79.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0.png" Type="http://schemas.openxmlformats.org/officeDocument/2006/relationships/image"/><Relationship Id="rId11" Target="../media/image63.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60.png" Type="http://schemas.openxmlformats.org/officeDocument/2006/relationships/image"/><Relationship Id="rId9" Target="../media/image61.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81.png" Type="http://schemas.openxmlformats.org/officeDocument/2006/relationships/image"/><Relationship Id="rId12" Target="../media/image82.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2.png" Type="http://schemas.openxmlformats.org/officeDocument/2006/relationships/image"/><Relationship Id="rId11" Target="../media/image83.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4.png" Type="http://schemas.openxmlformats.org/officeDocument/2006/relationships/image"/><Relationship Id="rId11" Target="../media/image47.png" Type="http://schemas.openxmlformats.org/officeDocument/2006/relationships/image"/><Relationship Id="rId12" Target="../media/image85.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6.png" Type="http://schemas.openxmlformats.org/officeDocument/2006/relationships/image"/><Relationship Id="rId11" Target="../media/image87.png" Type="http://schemas.openxmlformats.org/officeDocument/2006/relationships/image"/><Relationship Id="rId12" Target="../media/image47.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784140" y="2584685"/>
            <a:ext cx="12674051" cy="1951777"/>
            <a:chOff x="0" y="0"/>
            <a:chExt cx="16898734" cy="2602370"/>
          </a:xfrm>
        </p:grpSpPr>
        <p:sp>
          <p:nvSpPr>
            <p:cNvPr name="Freeform 4" id="4"/>
            <p:cNvSpPr/>
            <p:nvPr/>
          </p:nvSpPr>
          <p:spPr>
            <a:xfrm flipH="false" flipV="false" rot="0">
              <a:off x="0" y="0"/>
              <a:ext cx="16898747" cy="2602357"/>
            </a:xfrm>
            <a:custGeom>
              <a:avLst/>
              <a:gdLst/>
              <a:ahLst/>
              <a:cxnLst/>
              <a:rect r="r" b="b" t="t" l="l"/>
              <a:pathLst>
                <a:path h="2602357" w="16898747">
                  <a:moveTo>
                    <a:pt x="0" y="0"/>
                  </a:moveTo>
                  <a:lnTo>
                    <a:pt x="16898747" y="0"/>
                  </a:lnTo>
                  <a:lnTo>
                    <a:pt x="16898747" y="2602357"/>
                  </a:lnTo>
                  <a:lnTo>
                    <a:pt x="0" y="2602357"/>
                  </a:lnTo>
                  <a:close/>
                </a:path>
              </a:pathLst>
            </a:custGeom>
            <a:blipFill>
              <a:blip r:embed="rId3">
                <a:alphaModFix amt="0"/>
              </a:blip>
              <a:stretch>
                <a:fillRect l="0" t="-76440" r="0" b="-76440"/>
              </a:stretch>
            </a:blipFill>
          </p:spPr>
        </p:sp>
      </p:grpSp>
      <p:grpSp>
        <p:nvGrpSpPr>
          <p:cNvPr name="Group 5" id="5"/>
          <p:cNvGrpSpPr/>
          <p:nvPr/>
        </p:nvGrpSpPr>
        <p:grpSpPr>
          <a:xfrm rot="0">
            <a:off x="408708" y="3867445"/>
            <a:ext cx="8778240" cy="1234440"/>
            <a:chOff x="0" y="0"/>
            <a:chExt cx="11704320" cy="1645920"/>
          </a:xfrm>
        </p:grpSpPr>
        <p:sp>
          <p:nvSpPr>
            <p:cNvPr name="Freeform 6" id="6"/>
            <p:cNvSpPr/>
            <p:nvPr/>
          </p:nvSpPr>
          <p:spPr>
            <a:xfrm flipH="false" flipV="false" rot="0">
              <a:off x="0" y="0"/>
              <a:ext cx="11704320" cy="1645920"/>
            </a:xfrm>
            <a:custGeom>
              <a:avLst/>
              <a:gdLst/>
              <a:ahLst/>
              <a:cxnLst/>
              <a:rect r="r" b="b" t="t" l="l"/>
              <a:pathLst>
                <a:path h="1645920" w="11704320">
                  <a:moveTo>
                    <a:pt x="0" y="0"/>
                  </a:moveTo>
                  <a:lnTo>
                    <a:pt x="11704320" y="0"/>
                  </a:lnTo>
                  <a:lnTo>
                    <a:pt x="11704320" y="1645920"/>
                  </a:lnTo>
                  <a:lnTo>
                    <a:pt x="0" y="1645920"/>
                  </a:lnTo>
                  <a:close/>
                </a:path>
              </a:pathLst>
            </a:custGeom>
            <a:blipFill>
              <a:blip r:embed="rId3">
                <a:alphaModFix amt="0"/>
              </a:blip>
              <a:stretch>
                <a:fillRect l="0" t="-88463" r="0" b="-88463"/>
              </a:stretch>
            </a:blipFill>
          </p:spPr>
        </p:sp>
      </p:grpSp>
      <p:grpSp>
        <p:nvGrpSpPr>
          <p:cNvPr name="Group 7" id="7"/>
          <p:cNvGrpSpPr/>
          <p:nvPr/>
        </p:nvGrpSpPr>
        <p:grpSpPr>
          <a:xfrm rot="0">
            <a:off x="645297" y="4209926"/>
            <a:ext cx="8778240" cy="738034"/>
            <a:chOff x="0" y="0"/>
            <a:chExt cx="11704320" cy="984046"/>
          </a:xfrm>
        </p:grpSpPr>
        <p:sp>
          <p:nvSpPr>
            <p:cNvPr name="Freeform 8" id="8"/>
            <p:cNvSpPr/>
            <p:nvPr/>
          </p:nvSpPr>
          <p:spPr>
            <a:xfrm flipH="false" flipV="false" rot="0">
              <a:off x="0" y="0"/>
              <a:ext cx="11704320" cy="984046"/>
            </a:xfrm>
            <a:custGeom>
              <a:avLst/>
              <a:gdLst/>
              <a:ahLst/>
              <a:cxnLst/>
              <a:rect r="r" b="b" t="t" l="l"/>
              <a:pathLst>
                <a:path h="984046" w="11704320">
                  <a:moveTo>
                    <a:pt x="0" y="0"/>
                  </a:moveTo>
                  <a:lnTo>
                    <a:pt x="11704320" y="0"/>
                  </a:lnTo>
                  <a:lnTo>
                    <a:pt x="11704320" y="984046"/>
                  </a:lnTo>
                  <a:lnTo>
                    <a:pt x="0" y="984046"/>
                  </a:lnTo>
                  <a:close/>
                </a:path>
              </a:pathLst>
            </a:custGeom>
            <a:blipFill>
              <a:blip r:embed="rId4">
                <a:alphaModFix amt="0"/>
              </a:blip>
              <a:stretch>
                <a:fillRect l="0" t="-143770" r="0" b="-219742"/>
              </a:stretch>
            </a:blipFill>
          </p:spPr>
        </p:sp>
        <p:sp>
          <p:nvSpPr>
            <p:cNvPr name="TextBox 9" id="9"/>
            <p:cNvSpPr txBox="true"/>
            <p:nvPr/>
          </p:nvSpPr>
          <p:spPr>
            <a:xfrm>
              <a:off x="0" y="-85725"/>
              <a:ext cx="11704320" cy="1069771"/>
            </a:xfrm>
            <a:prstGeom prst="rect">
              <a:avLst/>
            </a:prstGeom>
          </p:spPr>
          <p:txBody>
            <a:bodyPr anchor="ctr" rtlCol="false" tIns="0" lIns="0" bIns="0" rIns="0"/>
            <a:lstStyle/>
            <a:p>
              <a:pPr algn="l">
                <a:lnSpc>
                  <a:spcPts val="3600"/>
                </a:lnSpc>
              </a:pPr>
              <a:r>
                <a:rPr lang="en-US" sz="2400">
                  <a:solidFill>
                    <a:srgbClr val="3A3F45"/>
                  </a:solidFill>
                  <a:latin typeface="Times New Roman"/>
                  <a:ea typeface="Times New Roman"/>
                  <a:cs typeface="Times New Roman"/>
                  <a:sym typeface="Times New Roman"/>
                </a:rPr>
                <a:t>T</a:t>
              </a:r>
              <a:r>
                <a:rPr lang="en-US" sz="2400">
                  <a:solidFill>
                    <a:srgbClr val="3A3F45"/>
                  </a:solidFill>
                  <a:latin typeface="Times New Roman"/>
                  <a:ea typeface="Times New Roman"/>
                  <a:cs typeface="Times New Roman"/>
                  <a:sym typeface="Times New Roman"/>
                </a:rPr>
                <a:t>hực tập hệ thống điều khiển và chuyển động ô tô</a:t>
              </a:r>
            </a:p>
          </p:txBody>
        </p:sp>
      </p:grpSp>
      <p:graphicFrame>
        <p:nvGraphicFramePr>
          <p:cNvPr name="Table 10" id="10"/>
          <p:cNvGraphicFramePr>
            <a:graphicFrameLocks noGrp="true"/>
          </p:cNvGraphicFramePr>
          <p:nvPr/>
        </p:nvGraphicFramePr>
        <p:xfrm>
          <a:off x="693952" y="5385911"/>
          <a:ext cx="10121900" cy="3673508"/>
        </p:xfrm>
        <a:graphic>
          <a:graphicData uri="http://schemas.openxmlformats.org/drawingml/2006/table">
            <a:tbl>
              <a:tblPr/>
              <a:tblGrid>
                <a:gridCol w="3738972"/>
                <a:gridCol w="6382928"/>
              </a:tblGrid>
              <a:tr h="819740">
                <a:tc>
                  <a:txBody>
                    <a:bodyPr anchor="t" rtlCol="false"/>
                    <a:lstStyle/>
                    <a:p>
                      <a:pPr algn="l">
                        <a:lnSpc>
                          <a:spcPts val="2729"/>
                        </a:lnSpc>
                        <a:defRPr/>
                      </a:pPr>
                      <a:r>
                        <a:rPr lang="en-US" sz="2274">
                          <a:solidFill>
                            <a:srgbClr val="1F2328"/>
                          </a:solidFill>
                          <a:latin typeface="Times New Roman"/>
                          <a:ea typeface="Times New Roman"/>
                          <a:cs typeface="Times New Roman"/>
                          <a:sym typeface="Times New Roman"/>
                        </a:rPr>
                        <a:t>Sinh viên thực hiện:</a:t>
                      </a:r>
                      <a:endParaRPr lang="en-US" sz="1100"/>
                    </a:p>
                  </a:txBody>
                  <a:tcPr marL="91440" marR="91440" marT="91440" marB="91440" anchor="ctr">
                    <a:lnL cmpd="sng" algn="ctr" cap="flat" w="12700">
                      <a:solidFill>
                        <a:srgbClr val="D8D9D0"/>
                      </a:solidFill>
                      <a:prstDash val="solid"/>
                      <a:round/>
                      <a:headEnd type="none" w="med" len="med"/>
                      <a:tailEnd type="none" w="med" len="med"/>
                    </a:lnL>
                    <a:lnR cmpd="sng" algn="ctr" cap="flat" w="12700">
                      <a:solidFill>
                        <a:srgbClr val="D8D9D0"/>
                      </a:solidFill>
                      <a:prstDash val="solid"/>
                      <a:round/>
                      <a:headEnd type="none" w="med" len="med"/>
                      <a:tailEnd type="none" w="med" len="med"/>
                    </a:lnR>
                    <a:lnT cmpd="sng" algn="ctr" cap="flat" w="12700">
                      <a:solidFill>
                        <a:srgbClr val="D8D9D0"/>
                      </a:solidFill>
                      <a:prstDash val="solid"/>
                      <a:round/>
                      <a:headEnd type="none" w="med" len="med"/>
                      <a:tailEnd type="none" w="med" len="med"/>
                    </a:lnT>
                    <a:lnB cmpd="sng" algn="ctr" cap="flat" w="12700">
                      <a:solidFill>
                        <a:srgbClr val="D8D9D0"/>
                      </a:solidFill>
                      <a:prstDash val="solid"/>
                      <a:round/>
                      <a:headEnd type="none" w="med" len="med"/>
                      <a:tailEnd type="none" w="med" len="med"/>
                    </a:lnB>
                    <a:solidFill>
                      <a:srgbClr val="FFFFFF"/>
                    </a:solidFill>
                  </a:tcPr>
                </a:tc>
                <a:tc>
                  <a:txBody>
                    <a:bodyPr anchor="t" rtlCol="false"/>
                    <a:lstStyle/>
                    <a:p>
                      <a:pPr algn="l">
                        <a:lnSpc>
                          <a:spcPts val="2729"/>
                        </a:lnSpc>
                        <a:defRPr/>
                      </a:pPr>
                      <a:r>
                        <a:rPr lang="en-US" sz="2274" b="true">
                          <a:solidFill>
                            <a:srgbClr val="1F2328"/>
                          </a:solidFill>
                          <a:latin typeface="Times New Roman Bold"/>
                          <a:ea typeface="Times New Roman Bold"/>
                          <a:cs typeface="Times New Roman Bold"/>
                          <a:sym typeface="Times New Roman Bold"/>
                        </a:rPr>
                        <a:t>HẦU NGỌC MINH TÂM</a:t>
                      </a:r>
                      <a:endParaRPr lang="en-US" sz="1100"/>
                    </a:p>
                  </a:txBody>
                  <a:tcPr marL="91440" marR="91440" marT="91440" marB="91440" anchor="ctr">
                    <a:lnL cmpd="sng" algn="ctr" cap="flat" w="12700">
                      <a:solidFill>
                        <a:srgbClr val="D8D9D0"/>
                      </a:solidFill>
                      <a:prstDash val="solid"/>
                      <a:round/>
                      <a:headEnd type="none" w="med" len="med"/>
                      <a:tailEnd type="none" w="med" len="med"/>
                    </a:lnL>
                    <a:lnR cmpd="sng" algn="ctr" cap="flat" w="12700">
                      <a:solidFill>
                        <a:srgbClr val="D8D9D0"/>
                      </a:solidFill>
                      <a:prstDash val="solid"/>
                      <a:round/>
                      <a:headEnd type="none" w="med" len="med"/>
                      <a:tailEnd type="none" w="med" len="med"/>
                    </a:lnR>
                    <a:lnT cmpd="sng" algn="ctr" cap="flat" w="12700">
                      <a:solidFill>
                        <a:srgbClr val="D8D9D0"/>
                      </a:solidFill>
                      <a:prstDash val="solid"/>
                      <a:round/>
                      <a:headEnd type="none" w="med" len="med"/>
                      <a:tailEnd type="none" w="med" len="med"/>
                    </a:lnT>
                    <a:lnB cmpd="sng" algn="ctr" cap="flat" w="12700">
                      <a:solidFill>
                        <a:srgbClr val="D8D9D0"/>
                      </a:solidFill>
                      <a:prstDash val="solid"/>
                      <a:round/>
                      <a:headEnd type="none" w="med" len="med"/>
                      <a:tailEnd type="none" w="med" len="med"/>
                    </a:lnB>
                    <a:solidFill>
                      <a:srgbClr val="FFFFFF"/>
                    </a:solidFill>
                  </a:tcPr>
                </a:tc>
              </a:tr>
              <a:tr h="1035821">
                <a:tc>
                  <a:txBody>
                    <a:bodyPr anchor="t" rtlCol="false"/>
                    <a:lstStyle/>
                    <a:p>
                      <a:pPr algn="l">
                        <a:lnSpc>
                          <a:spcPts val="2729"/>
                        </a:lnSpc>
                        <a:defRPr/>
                      </a:pPr>
                      <a:r>
                        <a:rPr lang="en-US" sz="2274">
                          <a:solidFill>
                            <a:srgbClr val="1F2328"/>
                          </a:solidFill>
                          <a:latin typeface="Times New Roman"/>
                          <a:ea typeface="Times New Roman"/>
                          <a:cs typeface="Times New Roman"/>
                          <a:sym typeface="Times New Roman"/>
                        </a:rPr>
                        <a:t>Thông tin :</a:t>
                      </a:r>
                      <a:endParaRPr lang="en-US" sz="1100"/>
                    </a:p>
                  </a:txBody>
                  <a:tcPr marL="91440" marR="91440" marT="91440" marB="91440" anchor="ctr">
                    <a:lnL cmpd="sng" algn="ctr" cap="flat" w="12700">
                      <a:solidFill>
                        <a:srgbClr val="D8D9D0"/>
                      </a:solidFill>
                      <a:prstDash val="solid"/>
                      <a:round/>
                      <a:headEnd type="none" w="med" len="med"/>
                      <a:tailEnd type="none" w="med" len="med"/>
                    </a:lnL>
                    <a:lnR cmpd="sng" algn="ctr" cap="flat" w="12700">
                      <a:solidFill>
                        <a:srgbClr val="D8D9D0"/>
                      </a:solidFill>
                      <a:prstDash val="solid"/>
                      <a:round/>
                      <a:headEnd type="none" w="med" len="med"/>
                      <a:tailEnd type="none" w="med" len="med"/>
                    </a:lnR>
                    <a:lnT cmpd="sng" algn="ctr" cap="flat" w="12700">
                      <a:solidFill>
                        <a:srgbClr val="D8D9D0"/>
                      </a:solidFill>
                      <a:prstDash val="solid"/>
                      <a:round/>
                      <a:headEnd type="none" w="med" len="med"/>
                      <a:tailEnd type="none" w="med" len="med"/>
                    </a:lnT>
                    <a:lnB cmpd="sng" algn="ctr" cap="flat" w="12700">
                      <a:solidFill>
                        <a:srgbClr val="D8D9D0"/>
                      </a:solidFill>
                      <a:prstDash val="solid"/>
                      <a:round/>
                      <a:headEnd type="none" w="med" len="med"/>
                      <a:tailEnd type="none" w="med" len="med"/>
                    </a:lnB>
                    <a:solidFill>
                      <a:srgbClr val="FFFFFF"/>
                    </a:solidFill>
                  </a:tcPr>
                </a:tc>
                <a:tc>
                  <a:txBody>
                    <a:bodyPr anchor="t" rtlCol="false"/>
                    <a:lstStyle/>
                    <a:p>
                      <a:pPr algn="l">
                        <a:lnSpc>
                          <a:spcPts val="2729"/>
                        </a:lnSpc>
                        <a:defRPr/>
                      </a:pPr>
                      <a:r>
                        <a:rPr lang="en-US" sz="2274" b="true">
                          <a:solidFill>
                            <a:srgbClr val="1F2328"/>
                          </a:solidFill>
                          <a:latin typeface="Times New Roman Bold"/>
                          <a:ea typeface="Times New Roman Bold"/>
                          <a:cs typeface="Times New Roman Bold"/>
                          <a:sym typeface="Times New Roman Bold"/>
                        </a:rPr>
                        <a:t>LỚP: 24OT113</a:t>
                      </a:r>
                      <a:endParaRPr lang="en-US" sz="1100"/>
                    </a:p>
                    <a:p>
                      <a:pPr algn="l">
                        <a:lnSpc>
                          <a:spcPts val="2729"/>
                        </a:lnSpc>
                      </a:pPr>
                      <a:r>
                        <a:rPr lang="en-US" sz="2274" b="true">
                          <a:solidFill>
                            <a:srgbClr val="1F2328"/>
                          </a:solidFill>
                          <a:latin typeface="Times New Roman Bold"/>
                          <a:ea typeface="Times New Roman Bold"/>
                          <a:cs typeface="Times New Roman Bold"/>
                          <a:sym typeface="Times New Roman Bold"/>
                        </a:rPr>
                        <a:t>MSSV: 124000812</a:t>
                      </a:r>
                    </a:p>
                  </a:txBody>
                  <a:tcPr marL="91440" marR="91440" marT="91440" marB="91440" anchor="ctr">
                    <a:lnL cmpd="sng" algn="ctr" cap="flat" w="12700">
                      <a:solidFill>
                        <a:srgbClr val="D8D9D0"/>
                      </a:solidFill>
                      <a:prstDash val="solid"/>
                      <a:round/>
                      <a:headEnd type="none" w="med" len="med"/>
                      <a:tailEnd type="none" w="med" len="med"/>
                    </a:lnL>
                    <a:lnR cmpd="sng" algn="ctr" cap="flat" w="12700">
                      <a:solidFill>
                        <a:srgbClr val="D8D9D0"/>
                      </a:solidFill>
                      <a:prstDash val="solid"/>
                      <a:round/>
                      <a:headEnd type="none" w="med" len="med"/>
                      <a:tailEnd type="none" w="med" len="med"/>
                    </a:lnR>
                    <a:lnT cmpd="sng" algn="ctr" cap="flat" w="12700">
                      <a:solidFill>
                        <a:srgbClr val="D8D9D0"/>
                      </a:solidFill>
                      <a:prstDash val="solid"/>
                      <a:round/>
                      <a:headEnd type="none" w="med" len="med"/>
                      <a:tailEnd type="none" w="med" len="med"/>
                    </a:lnT>
                    <a:lnB cmpd="sng" algn="ctr" cap="flat" w="12700">
                      <a:solidFill>
                        <a:srgbClr val="D8D9D0"/>
                      </a:solidFill>
                      <a:prstDash val="solid"/>
                      <a:round/>
                      <a:headEnd type="none" w="med" len="med"/>
                      <a:tailEnd type="none" w="med" len="med"/>
                    </a:lnB>
                    <a:solidFill>
                      <a:srgbClr val="FFFFFF"/>
                    </a:solidFill>
                  </a:tcPr>
                </a:tc>
              </a:tr>
              <a:tr h="1148884">
                <a:tc>
                  <a:txBody>
                    <a:bodyPr anchor="t" rtlCol="false"/>
                    <a:lstStyle/>
                    <a:p>
                      <a:pPr algn="l">
                        <a:lnSpc>
                          <a:spcPts val="2729"/>
                        </a:lnSpc>
                        <a:defRPr/>
                      </a:pPr>
                      <a:r>
                        <a:rPr lang="en-US" sz="2274">
                          <a:solidFill>
                            <a:srgbClr val="1F2328"/>
                          </a:solidFill>
                          <a:latin typeface="Times New Roman"/>
                          <a:ea typeface="Times New Roman"/>
                          <a:cs typeface="Times New Roman"/>
                          <a:sym typeface="Times New Roman"/>
                        </a:rPr>
                        <a:t>Giảng viên hướng dẫn:</a:t>
                      </a:r>
                      <a:endParaRPr lang="en-US" sz="1100"/>
                    </a:p>
                  </a:txBody>
                  <a:tcPr marL="91440" marR="91440" marT="91440" marB="91440" anchor="ctr">
                    <a:lnL cmpd="sng" algn="ctr" cap="flat" w="12700">
                      <a:solidFill>
                        <a:srgbClr val="D8D9D0"/>
                      </a:solidFill>
                      <a:prstDash val="solid"/>
                      <a:round/>
                      <a:headEnd type="none" w="med" len="med"/>
                      <a:tailEnd type="none" w="med" len="med"/>
                    </a:lnL>
                    <a:lnR cmpd="sng" algn="ctr" cap="flat" w="12700">
                      <a:solidFill>
                        <a:srgbClr val="D8D9D0"/>
                      </a:solidFill>
                      <a:prstDash val="solid"/>
                      <a:round/>
                      <a:headEnd type="none" w="med" len="med"/>
                      <a:tailEnd type="none" w="med" len="med"/>
                    </a:lnR>
                    <a:lnT cmpd="sng" algn="ctr" cap="flat" w="12700">
                      <a:solidFill>
                        <a:srgbClr val="D8D9D0"/>
                      </a:solidFill>
                      <a:prstDash val="solid"/>
                      <a:round/>
                      <a:headEnd type="none" w="med" len="med"/>
                      <a:tailEnd type="none" w="med" len="med"/>
                    </a:lnT>
                    <a:lnB cmpd="sng" algn="ctr" cap="flat" w="12700">
                      <a:solidFill>
                        <a:srgbClr val="D8D9D0"/>
                      </a:solidFill>
                      <a:prstDash val="solid"/>
                      <a:round/>
                      <a:headEnd type="none" w="med" len="med"/>
                      <a:tailEnd type="none" w="med" len="med"/>
                    </a:lnB>
                    <a:solidFill>
                      <a:srgbClr val="FFFFFF"/>
                    </a:solidFill>
                  </a:tcPr>
                </a:tc>
                <a:tc>
                  <a:txBody>
                    <a:bodyPr anchor="t" rtlCol="false"/>
                    <a:lstStyle/>
                    <a:p>
                      <a:pPr algn="l">
                        <a:lnSpc>
                          <a:spcPts val="2729"/>
                        </a:lnSpc>
                        <a:defRPr/>
                      </a:pPr>
                      <a:r>
                        <a:rPr lang="en-US" sz="2274" b="true">
                          <a:solidFill>
                            <a:srgbClr val="1F2328"/>
                          </a:solidFill>
                          <a:latin typeface="Times New Roman Bold"/>
                          <a:ea typeface="Times New Roman Bold"/>
                          <a:cs typeface="Times New Roman Bold"/>
                          <a:sym typeface="Times New Roman Bold"/>
                        </a:rPr>
                        <a:t>Th</a:t>
                      </a:r>
                      <a:r>
                        <a:rPr lang="en-US" sz="2274" b="true">
                          <a:solidFill>
                            <a:srgbClr val="1F2328"/>
                          </a:solidFill>
                          <a:latin typeface="Times New Roman Bold"/>
                          <a:ea typeface="Times New Roman Bold"/>
                          <a:cs typeface="Times New Roman Bold"/>
                          <a:sym typeface="Times New Roman Bold"/>
                        </a:rPr>
                        <a:t>.S NGUYỄN CÔNG QUÝ</a:t>
                      </a:r>
                      <a:endParaRPr lang="en-US" sz="1100"/>
                    </a:p>
                  </a:txBody>
                  <a:tcPr marL="91440" marR="91440" marT="91440" marB="91440" anchor="ctr">
                    <a:lnL cmpd="sng" algn="ctr" cap="flat" w="12700">
                      <a:solidFill>
                        <a:srgbClr val="D8D9D0"/>
                      </a:solidFill>
                      <a:prstDash val="solid"/>
                      <a:round/>
                      <a:headEnd type="none" w="med" len="med"/>
                      <a:tailEnd type="none" w="med" len="med"/>
                    </a:lnL>
                    <a:lnR cmpd="sng" algn="ctr" cap="flat" w="12700">
                      <a:solidFill>
                        <a:srgbClr val="D8D9D0"/>
                      </a:solidFill>
                      <a:prstDash val="solid"/>
                      <a:round/>
                      <a:headEnd type="none" w="med" len="med"/>
                      <a:tailEnd type="none" w="med" len="med"/>
                    </a:lnR>
                    <a:lnT cmpd="sng" algn="ctr" cap="flat" w="12700">
                      <a:solidFill>
                        <a:srgbClr val="D8D9D0"/>
                      </a:solidFill>
                      <a:prstDash val="solid"/>
                      <a:round/>
                      <a:headEnd type="none" w="med" len="med"/>
                      <a:tailEnd type="none" w="med" len="med"/>
                    </a:lnT>
                    <a:lnB cmpd="sng" algn="ctr" cap="flat" w="12700">
                      <a:solidFill>
                        <a:srgbClr val="D8D9D0"/>
                      </a:solidFill>
                      <a:prstDash val="solid"/>
                      <a:round/>
                      <a:headEnd type="none" w="med" len="med"/>
                      <a:tailEnd type="none" w="med" len="med"/>
                    </a:lnB>
                    <a:solidFill>
                      <a:srgbClr val="FFFFFF"/>
                    </a:solidFill>
                  </a:tcPr>
                </a:tc>
              </a:tr>
              <a:tr h="669063">
                <a:tc>
                  <a:txBody>
                    <a:bodyPr anchor="t" rtlCol="false"/>
                    <a:lstStyle/>
                    <a:p>
                      <a:pPr algn="l">
                        <a:lnSpc>
                          <a:spcPts val="2729"/>
                        </a:lnSpc>
                        <a:defRPr/>
                      </a:pPr>
                      <a:r>
                        <a:rPr lang="en-US" sz="2274">
                          <a:solidFill>
                            <a:srgbClr val="1F2328"/>
                          </a:solidFill>
                          <a:latin typeface="Times New Roman"/>
                          <a:ea typeface="Times New Roman"/>
                          <a:cs typeface="Times New Roman"/>
                          <a:sym typeface="Times New Roman"/>
                        </a:rPr>
                        <a:t>Giai đoạn báo cáo:</a:t>
                      </a:r>
                      <a:endParaRPr lang="en-US" sz="1100"/>
                    </a:p>
                  </a:txBody>
                  <a:tcPr marL="91440" marR="91440" marT="91440" marB="91440" anchor="ctr">
                    <a:lnL cmpd="sng" algn="ctr" cap="flat" w="12700">
                      <a:solidFill>
                        <a:srgbClr val="D8D9D0"/>
                      </a:solidFill>
                      <a:prstDash val="solid"/>
                      <a:round/>
                      <a:headEnd type="none" w="med" len="med"/>
                      <a:tailEnd type="none" w="med" len="med"/>
                    </a:lnL>
                    <a:lnR cmpd="sng" algn="ctr" cap="flat" w="12700">
                      <a:solidFill>
                        <a:srgbClr val="D8D9D0"/>
                      </a:solidFill>
                      <a:prstDash val="solid"/>
                      <a:round/>
                      <a:headEnd type="none" w="med" len="med"/>
                      <a:tailEnd type="none" w="med" len="med"/>
                    </a:lnR>
                    <a:lnT cmpd="sng" algn="ctr" cap="flat" w="12700">
                      <a:solidFill>
                        <a:srgbClr val="D8D9D0"/>
                      </a:solidFill>
                      <a:prstDash val="solid"/>
                      <a:round/>
                      <a:headEnd type="none" w="med" len="med"/>
                      <a:tailEnd type="none" w="med" len="med"/>
                    </a:lnT>
                    <a:lnB cmpd="sng" algn="ctr" cap="flat" w="12700">
                      <a:solidFill>
                        <a:srgbClr val="D8D9D0"/>
                      </a:solidFill>
                      <a:prstDash val="solid"/>
                      <a:round/>
                      <a:headEnd type="none" w="med" len="med"/>
                      <a:tailEnd type="none" w="med" len="med"/>
                    </a:lnB>
                    <a:solidFill>
                      <a:srgbClr val="FFFFFF"/>
                    </a:solidFill>
                  </a:tcPr>
                </a:tc>
                <a:tc>
                  <a:txBody>
                    <a:bodyPr anchor="t" rtlCol="false"/>
                    <a:lstStyle/>
                    <a:p>
                      <a:pPr algn="l">
                        <a:lnSpc>
                          <a:spcPts val="2849"/>
                        </a:lnSpc>
                        <a:defRPr/>
                      </a:pPr>
                      <a:r>
                        <a:rPr lang="en-US" sz="2373" b="true">
                          <a:solidFill>
                            <a:srgbClr val="1F2328"/>
                          </a:solidFill>
                          <a:latin typeface="Times New Roman Bold"/>
                          <a:ea typeface="Times New Roman Bold"/>
                          <a:cs typeface="Times New Roman Bold"/>
                          <a:sym typeface="Times New Roman Bold"/>
                        </a:rPr>
                        <a:t>Lần 1 </a:t>
                      </a:r>
                      <a:endParaRPr lang="en-US" sz="1100"/>
                    </a:p>
                  </a:txBody>
                  <a:tcPr marL="91440" marR="91440" marT="91440" marB="91440" anchor="ctr">
                    <a:lnL cmpd="sng" algn="ctr" cap="flat" w="12700">
                      <a:solidFill>
                        <a:srgbClr val="D8D9D0"/>
                      </a:solidFill>
                      <a:prstDash val="solid"/>
                      <a:round/>
                      <a:headEnd type="none" w="med" len="med"/>
                      <a:tailEnd type="none" w="med" len="med"/>
                    </a:lnL>
                    <a:lnR cmpd="sng" algn="ctr" cap="flat" w="12700">
                      <a:solidFill>
                        <a:srgbClr val="D8D9D0"/>
                      </a:solidFill>
                      <a:prstDash val="solid"/>
                      <a:round/>
                      <a:headEnd type="none" w="med" len="med"/>
                      <a:tailEnd type="none" w="med" len="med"/>
                    </a:lnR>
                    <a:lnT cmpd="sng" algn="ctr" cap="flat" w="12700">
                      <a:solidFill>
                        <a:srgbClr val="D8D9D0"/>
                      </a:solidFill>
                      <a:prstDash val="solid"/>
                      <a:round/>
                      <a:headEnd type="none" w="med" len="med"/>
                      <a:tailEnd type="none" w="med" len="med"/>
                    </a:lnT>
                    <a:lnB cmpd="sng" algn="ctr" cap="flat" w="12700">
                      <a:solidFill>
                        <a:srgbClr val="D8D9D0"/>
                      </a:solidFill>
                      <a:prstDash val="solid"/>
                      <a:round/>
                      <a:headEnd type="none" w="med" len="med"/>
                      <a:tailEnd type="none" w="med" len="med"/>
                    </a:lnB>
                    <a:solidFill>
                      <a:srgbClr val="FFFFFF"/>
                    </a:solidFill>
                  </a:tcPr>
                </a:tc>
              </a:tr>
            </a:tbl>
          </a:graphicData>
        </a:graphic>
      </p:graphicFrame>
      <p:grpSp>
        <p:nvGrpSpPr>
          <p:cNvPr name="Group 11" id="11"/>
          <p:cNvGrpSpPr/>
          <p:nvPr/>
        </p:nvGrpSpPr>
        <p:grpSpPr>
          <a:xfrm rot="0">
            <a:off x="408708" y="9748809"/>
            <a:ext cx="9601200" cy="397850"/>
            <a:chOff x="0" y="0"/>
            <a:chExt cx="12801600" cy="530466"/>
          </a:xfrm>
        </p:grpSpPr>
        <p:sp>
          <p:nvSpPr>
            <p:cNvPr name="Freeform 12" id="12"/>
            <p:cNvSpPr/>
            <p:nvPr/>
          </p:nvSpPr>
          <p:spPr>
            <a:xfrm flipH="false" flipV="false" rot="0">
              <a:off x="0" y="0"/>
              <a:ext cx="12801600" cy="530479"/>
            </a:xfrm>
            <a:custGeom>
              <a:avLst/>
              <a:gdLst/>
              <a:ahLst/>
              <a:cxnLst/>
              <a:rect r="r" b="b" t="t" l="l"/>
              <a:pathLst>
                <a:path h="530479" w="12801600">
                  <a:moveTo>
                    <a:pt x="0" y="0"/>
                  </a:moveTo>
                  <a:lnTo>
                    <a:pt x="12801600" y="0"/>
                  </a:lnTo>
                  <a:lnTo>
                    <a:pt x="12801600" y="530479"/>
                  </a:lnTo>
                  <a:lnTo>
                    <a:pt x="0" y="530479"/>
                  </a:lnTo>
                  <a:close/>
                </a:path>
              </a:pathLst>
            </a:custGeom>
            <a:blipFill>
              <a:blip r:embed="rId3">
                <a:alphaModFix amt="0"/>
              </a:blip>
              <a:stretch>
                <a:fillRect l="0" t="-419889" r="0" b="-419887"/>
              </a:stretch>
            </a:blipFill>
          </p:spPr>
        </p:sp>
      </p:grpSp>
      <p:grpSp>
        <p:nvGrpSpPr>
          <p:cNvPr name="Group 13" id="13"/>
          <p:cNvGrpSpPr/>
          <p:nvPr/>
        </p:nvGrpSpPr>
        <p:grpSpPr>
          <a:xfrm rot="0">
            <a:off x="693952" y="9542744"/>
            <a:ext cx="3539775" cy="404990"/>
            <a:chOff x="0" y="0"/>
            <a:chExt cx="4719700" cy="539986"/>
          </a:xfrm>
        </p:grpSpPr>
        <p:sp>
          <p:nvSpPr>
            <p:cNvPr name="Freeform 14" id="14"/>
            <p:cNvSpPr/>
            <p:nvPr/>
          </p:nvSpPr>
          <p:spPr>
            <a:xfrm flipH="false" flipV="false" rot="0">
              <a:off x="0" y="0"/>
              <a:ext cx="4719700" cy="539981"/>
            </a:xfrm>
            <a:custGeom>
              <a:avLst/>
              <a:gdLst/>
              <a:ahLst/>
              <a:cxnLst/>
              <a:rect r="r" b="b" t="t" l="l"/>
              <a:pathLst>
                <a:path h="539981" w="4719700">
                  <a:moveTo>
                    <a:pt x="0" y="0"/>
                  </a:moveTo>
                  <a:lnTo>
                    <a:pt x="4719700" y="0"/>
                  </a:lnTo>
                  <a:lnTo>
                    <a:pt x="4719700" y="539981"/>
                  </a:lnTo>
                  <a:lnTo>
                    <a:pt x="0" y="539981"/>
                  </a:lnTo>
                  <a:close/>
                </a:path>
              </a:pathLst>
            </a:custGeom>
            <a:blipFill>
              <a:blip r:embed="rId4">
                <a:alphaModFix amt="0"/>
              </a:blip>
              <a:stretch>
                <a:fillRect l="0" t="-411940" r="-171237" b="-411942"/>
              </a:stretch>
            </a:blipFill>
          </p:spPr>
        </p:sp>
        <p:sp>
          <p:nvSpPr>
            <p:cNvPr name="TextBox 15" id="15"/>
            <p:cNvSpPr txBox="true"/>
            <p:nvPr/>
          </p:nvSpPr>
          <p:spPr>
            <a:xfrm>
              <a:off x="0" y="-9525"/>
              <a:ext cx="4719700" cy="549511"/>
            </a:xfrm>
            <a:prstGeom prst="rect">
              <a:avLst/>
            </a:prstGeom>
          </p:spPr>
          <p:txBody>
            <a:bodyPr anchor="ctr" rtlCol="false" tIns="0" lIns="0" bIns="0" rIns="0"/>
            <a:lstStyle/>
            <a:p>
              <a:pPr algn="l">
                <a:lnSpc>
                  <a:spcPts val="1889"/>
                </a:lnSpc>
              </a:pPr>
              <a:r>
                <a:rPr lang="en-US" sz="1573">
                  <a:solidFill>
                    <a:srgbClr val="000000"/>
                  </a:solidFill>
                  <a:latin typeface="Times New Roman"/>
                  <a:ea typeface="Times New Roman"/>
                  <a:cs typeface="Times New Roman"/>
                  <a:sym typeface="Times New Roman"/>
                </a:rPr>
                <a:t>TP.</a:t>
              </a:r>
              <a:r>
                <a:rPr lang="en-US" sz="1573">
                  <a:solidFill>
                    <a:srgbClr val="000000"/>
                  </a:solidFill>
                  <a:latin typeface="Times New Roman"/>
                  <a:ea typeface="Times New Roman"/>
                  <a:cs typeface="Times New Roman"/>
                  <a:sym typeface="Times New Roman"/>
                </a:rPr>
                <a:t>Đồng Nai, ngày 6 tháng 9 năm 2026.</a:t>
              </a:r>
            </a:p>
          </p:txBody>
        </p:sp>
      </p:grpSp>
      <p:grpSp>
        <p:nvGrpSpPr>
          <p:cNvPr name="Group 16" id="16"/>
          <p:cNvGrpSpPr/>
          <p:nvPr/>
        </p:nvGrpSpPr>
        <p:grpSpPr>
          <a:xfrm rot="0">
            <a:off x="645297" y="4162301"/>
            <a:ext cx="10219211" cy="47625"/>
            <a:chOff x="0" y="0"/>
            <a:chExt cx="13625614" cy="63500"/>
          </a:xfrm>
        </p:grpSpPr>
        <p:sp>
          <p:nvSpPr>
            <p:cNvPr name="Freeform 17" id="17"/>
            <p:cNvSpPr/>
            <p:nvPr/>
          </p:nvSpPr>
          <p:spPr>
            <a:xfrm flipH="false" flipV="false" rot="0">
              <a:off x="0" y="0"/>
              <a:ext cx="13625576" cy="63500"/>
            </a:xfrm>
            <a:custGeom>
              <a:avLst/>
              <a:gdLst/>
              <a:ahLst/>
              <a:cxnLst/>
              <a:rect r="r" b="b" t="t" l="l"/>
              <a:pathLst>
                <a:path h="63500" w="13625576">
                  <a:moveTo>
                    <a:pt x="0" y="0"/>
                  </a:moveTo>
                  <a:lnTo>
                    <a:pt x="13625576" y="0"/>
                  </a:lnTo>
                  <a:lnTo>
                    <a:pt x="13625576" y="63500"/>
                  </a:lnTo>
                  <a:lnTo>
                    <a:pt x="0" y="63500"/>
                  </a:lnTo>
                  <a:lnTo>
                    <a:pt x="0" y="0"/>
                  </a:lnTo>
                  <a:close/>
                </a:path>
              </a:pathLst>
            </a:custGeom>
            <a:blipFill>
              <a:blip r:embed="rId5"/>
              <a:stretch>
                <a:fillRect l="0" t="-100500" r="0" b="-100500"/>
              </a:stretch>
            </a:blipFill>
          </p:spPr>
        </p:sp>
      </p:grpSp>
      <p:sp>
        <p:nvSpPr>
          <p:cNvPr name="Freeform 18" id="18"/>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6"/>
            <a:stretch>
              <a:fillRect l="-2068" t="0" r="-1573" b="-7769"/>
            </a:stretch>
          </a:blipFill>
        </p:spPr>
      </p:sp>
      <p:sp>
        <p:nvSpPr>
          <p:cNvPr name="TextBox 19" id="19"/>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20" id="20"/>
          <p:cNvGrpSpPr/>
          <p:nvPr/>
        </p:nvGrpSpPr>
        <p:grpSpPr>
          <a:xfrm rot="0">
            <a:off x="5656704" y="1505343"/>
            <a:ext cx="9387053" cy="181174"/>
            <a:chOff x="0" y="0"/>
            <a:chExt cx="12516070" cy="241565"/>
          </a:xfrm>
        </p:grpSpPr>
        <p:sp>
          <p:nvSpPr>
            <p:cNvPr name="Freeform 21" id="21"/>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TextBox 22" id="22"/>
          <p:cNvSpPr txBox="true"/>
          <p:nvPr/>
        </p:nvSpPr>
        <p:spPr>
          <a:xfrm rot="0">
            <a:off x="693952" y="2046644"/>
            <a:ext cx="17769300" cy="1249301"/>
          </a:xfrm>
          <a:prstGeom prst="rect">
            <a:avLst/>
          </a:prstGeom>
        </p:spPr>
        <p:txBody>
          <a:bodyPr anchor="t" rtlCol="false" tIns="0" lIns="0" bIns="0" rIns="0">
            <a:spAutoFit/>
          </a:bodyPr>
          <a:lstStyle/>
          <a:p>
            <a:pPr algn="ctr">
              <a:lnSpc>
                <a:spcPts val="9767"/>
              </a:lnSpc>
              <a:spcBef>
                <a:spcPct val="0"/>
              </a:spcBef>
            </a:pPr>
            <a:r>
              <a:rPr lang="en-US" b="true" sz="7399">
                <a:solidFill>
                  <a:srgbClr val="000000"/>
                </a:solidFill>
                <a:latin typeface="Times New Roman Bold"/>
                <a:ea typeface="Times New Roman Bold"/>
                <a:cs typeface="Times New Roman Bold"/>
                <a:sym typeface="Times New Roman Bold"/>
              </a:rPr>
              <a:t>CÁCH HOẠT ĐỘNG HỆ THỐNG LÁI </a:t>
            </a:r>
          </a:p>
        </p:txBody>
      </p:sp>
      <p:grpSp>
        <p:nvGrpSpPr>
          <p:cNvPr name="Group 23" id="23"/>
          <p:cNvGrpSpPr/>
          <p:nvPr/>
        </p:nvGrpSpPr>
        <p:grpSpPr>
          <a:xfrm rot="0">
            <a:off x="5754902" y="3112475"/>
            <a:ext cx="8356119" cy="754970"/>
            <a:chOff x="0" y="0"/>
            <a:chExt cx="11141492" cy="1006626"/>
          </a:xfrm>
        </p:grpSpPr>
        <p:sp>
          <p:nvSpPr>
            <p:cNvPr name="Freeform 24" id="24"/>
            <p:cNvSpPr/>
            <p:nvPr/>
          </p:nvSpPr>
          <p:spPr>
            <a:xfrm flipH="false" flipV="false" rot="0">
              <a:off x="0" y="0"/>
              <a:ext cx="11141491" cy="1006625"/>
            </a:xfrm>
            <a:custGeom>
              <a:avLst/>
              <a:gdLst/>
              <a:ahLst/>
              <a:cxnLst/>
              <a:rect r="r" b="b" t="t" l="l"/>
              <a:pathLst>
                <a:path h="1006625" w="11141491">
                  <a:moveTo>
                    <a:pt x="0" y="0"/>
                  </a:moveTo>
                  <a:lnTo>
                    <a:pt x="11141491" y="0"/>
                  </a:lnTo>
                  <a:lnTo>
                    <a:pt x="11141491" y="1006625"/>
                  </a:lnTo>
                  <a:lnTo>
                    <a:pt x="0" y="1006625"/>
                  </a:lnTo>
                  <a:close/>
                </a:path>
              </a:pathLst>
            </a:custGeom>
            <a:blipFill>
              <a:blip r:embed="rId4">
                <a:alphaModFix amt="0"/>
              </a:blip>
              <a:stretch>
                <a:fillRect l="0" t="-304273" r="-64271" b="-304273"/>
              </a:stretch>
            </a:blipFill>
          </p:spPr>
        </p:sp>
        <p:sp>
          <p:nvSpPr>
            <p:cNvPr name="TextBox 25" id="25"/>
            <p:cNvSpPr txBox="true"/>
            <p:nvPr/>
          </p:nvSpPr>
          <p:spPr>
            <a:xfrm>
              <a:off x="0" y="-19050"/>
              <a:ext cx="11141492" cy="1025676"/>
            </a:xfrm>
            <a:prstGeom prst="rect">
              <a:avLst/>
            </a:prstGeom>
          </p:spPr>
          <p:txBody>
            <a:bodyPr anchor="ctr" rtlCol="false" tIns="0" lIns="0" bIns="0" rIns="0"/>
            <a:lstStyle/>
            <a:p>
              <a:pPr algn="l">
                <a:lnSpc>
                  <a:spcPts val="3422"/>
                </a:lnSpc>
              </a:pPr>
              <a:r>
                <a:rPr lang="en-US" b="true" sz="2852" i="true">
                  <a:gradFill>
                    <a:gsLst>
                      <a:gs pos="0">
                        <a:srgbClr val="000000">
                          <a:alpha val="100000"/>
                        </a:srgbClr>
                      </a:gs>
                      <a:gs pos="50000">
                        <a:srgbClr val="C89116">
                          <a:alpha val="100000"/>
                        </a:srgbClr>
                      </a:gs>
                      <a:gs pos="100000">
                        <a:srgbClr val="8416C8">
                          <a:alpha val="100000"/>
                        </a:srgbClr>
                      </a:gs>
                    </a:gsLst>
                    <a:lin ang="0"/>
                  </a:gradFill>
                  <a:latin typeface="Times New Roman Bold Italics"/>
                  <a:ea typeface="Times New Roman Bold Italics"/>
                  <a:cs typeface="Times New Roman Bold Italics"/>
                  <a:sym typeface="Times New Roman Bold Italics"/>
                </a:rPr>
                <a:t>Hệ thống lái cơ khí  –  Trợ lực thủy lực  –  Trợ lực điện</a:t>
              </a:r>
            </a:p>
          </p:txBody>
        </p:sp>
      </p:grpSp>
      <p:sp>
        <p:nvSpPr>
          <p:cNvPr name="Freeform 26" id="26"/>
          <p:cNvSpPr/>
          <p:nvPr/>
        </p:nvSpPr>
        <p:spPr>
          <a:xfrm flipH="false" flipV="false" rot="0">
            <a:off x="10864507" y="4296021"/>
            <a:ext cx="7288937" cy="5246723"/>
          </a:xfrm>
          <a:custGeom>
            <a:avLst/>
            <a:gdLst/>
            <a:ahLst/>
            <a:cxnLst/>
            <a:rect r="r" b="b" t="t" l="l"/>
            <a:pathLst>
              <a:path h="5246723" w="7288937">
                <a:moveTo>
                  <a:pt x="0" y="0"/>
                </a:moveTo>
                <a:lnTo>
                  <a:pt x="7288937" y="0"/>
                </a:lnTo>
                <a:lnTo>
                  <a:pt x="7288937" y="5246723"/>
                </a:lnTo>
                <a:lnTo>
                  <a:pt x="0" y="5246723"/>
                </a:lnTo>
                <a:lnTo>
                  <a:pt x="0" y="0"/>
                </a:lnTo>
                <a:close/>
              </a:path>
            </a:pathLst>
          </a:custGeom>
          <a:blipFill>
            <a:blip r:embed="rId7"/>
            <a:stretch>
              <a:fillRect l="-38704" t="-20009" r="-25119" b="-7121"/>
            </a:stretch>
          </a:blipFill>
          <a:ln w="57150" cap="rnd">
            <a:solidFill>
              <a:srgbClr val="000000"/>
            </a:solidFill>
            <a:prstDash val="solid"/>
            <a:round/>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1721389" y="3660474"/>
            <a:ext cx="4845849" cy="4634548"/>
          </a:xfrm>
          <a:custGeom>
            <a:avLst/>
            <a:gdLst/>
            <a:ahLst/>
            <a:cxnLst/>
            <a:rect r="r" b="b" t="t" l="l"/>
            <a:pathLst>
              <a:path h="4634548" w="4845849">
                <a:moveTo>
                  <a:pt x="0" y="0"/>
                </a:moveTo>
                <a:lnTo>
                  <a:pt x="4845849" y="0"/>
                </a:lnTo>
                <a:lnTo>
                  <a:pt x="4845849" y="4634548"/>
                </a:lnTo>
                <a:lnTo>
                  <a:pt x="0" y="4634548"/>
                </a:lnTo>
                <a:lnTo>
                  <a:pt x="0" y="0"/>
                </a:lnTo>
                <a:close/>
              </a:path>
            </a:pathLst>
          </a:custGeom>
          <a:blipFill>
            <a:blip r:embed="rId4"/>
            <a:stretch>
              <a:fillRect l="0" t="0" r="0" b="0"/>
            </a:stretch>
          </a:blipFill>
        </p:spPr>
      </p:sp>
      <p:sp>
        <p:nvSpPr>
          <p:cNvPr name="TextBox 8" id="8"/>
          <p:cNvSpPr txBox="true"/>
          <p:nvPr/>
        </p:nvSpPr>
        <p:spPr>
          <a:xfrm rot="0">
            <a:off x="1028700" y="8631603"/>
            <a:ext cx="6231227" cy="1317624"/>
          </a:xfrm>
          <a:prstGeom prst="rect">
            <a:avLst/>
          </a:prstGeom>
        </p:spPr>
        <p:txBody>
          <a:bodyPr anchor="t" rtlCol="false" tIns="0" lIns="0" bIns="0" rIns="0">
            <a:spAutoFit/>
          </a:bodyPr>
          <a:lstStyle/>
          <a:p>
            <a:pPr algn="ctr">
              <a:lnSpc>
                <a:spcPts val="3500"/>
              </a:lnSpc>
            </a:pPr>
            <a:r>
              <a:rPr lang="en-US" sz="2500">
                <a:solidFill>
                  <a:srgbClr val="000000"/>
                </a:solidFill>
                <a:latin typeface="Times New Roman"/>
                <a:ea typeface="Times New Roman"/>
                <a:cs typeface="Times New Roman"/>
                <a:sym typeface="Times New Roman"/>
              </a:rPr>
              <a:t>Cấu tạo than</a:t>
            </a:r>
            <a:r>
              <a:rPr lang="en-US" sz="2500">
                <a:solidFill>
                  <a:srgbClr val="000000"/>
                </a:solidFill>
                <a:latin typeface="Times New Roman"/>
                <a:ea typeface="Times New Roman"/>
                <a:cs typeface="Times New Roman"/>
                <a:sym typeface="Times New Roman"/>
              </a:rPr>
              <a:t>h dẫn động lái, loại trục vít – thanh răng (trên) và loại bi tuần hoàn kiểu độc lập, kiểu phụ thuộc (dưới).</a:t>
            </a:r>
          </a:p>
        </p:txBody>
      </p:sp>
      <p:grpSp>
        <p:nvGrpSpPr>
          <p:cNvPr name="Group 9" id="9"/>
          <p:cNvGrpSpPr/>
          <p:nvPr/>
        </p:nvGrpSpPr>
        <p:grpSpPr>
          <a:xfrm rot="0">
            <a:off x="8877404" y="2366020"/>
            <a:ext cx="8159697" cy="7463780"/>
            <a:chOff x="0" y="0"/>
            <a:chExt cx="7100048" cy="6494505"/>
          </a:xfrm>
        </p:grpSpPr>
        <p:sp>
          <p:nvSpPr>
            <p:cNvPr name="Freeform 10" id="10"/>
            <p:cNvSpPr/>
            <p:nvPr/>
          </p:nvSpPr>
          <p:spPr>
            <a:xfrm flipH="false" flipV="false" rot="0">
              <a:off x="0" y="0"/>
              <a:ext cx="7100047" cy="6494499"/>
            </a:xfrm>
            <a:custGeom>
              <a:avLst/>
              <a:gdLst/>
              <a:ahLst/>
              <a:cxnLst/>
              <a:rect r="r" b="b" t="t" l="l"/>
              <a:pathLst>
                <a:path h="6494499" w="7100047">
                  <a:moveTo>
                    <a:pt x="0" y="0"/>
                  </a:moveTo>
                  <a:lnTo>
                    <a:pt x="7100047" y="0"/>
                  </a:lnTo>
                  <a:lnTo>
                    <a:pt x="7100047" y="6494499"/>
                  </a:lnTo>
                  <a:lnTo>
                    <a:pt x="0" y="6494499"/>
                  </a:lnTo>
                  <a:close/>
                </a:path>
              </a:pathLst>
            </a:custGeom>
            <a:blipFill>
              <a:blip r:embed="rId5">
                <a:alphaModFix amt="0"/>
              </a:blip>
              <a:stretch>
                <a:fillRect l="0" t="-47161" r="-157777" b="37338"/>
              </a:stretch>
            </a:blipFill>
          </p:spPr>
        </p:sp>
        <p:sp>
          <p:nvSpPr>
            <p:cNvPr name="TextBox 11" id="11"/>
            <p:cNvSpPr txBox="true"/>
            <p:nvPr/>
          </p:nvSpPr>
          <p:spPr>
            <a:xfrm>
              <a:off x="0" y="-19050"/>
              <a:ext cx="7100048" cy="6513555"/>
            </a:xfrm>
            <a:prstGeom prst="rect">
              <a:avLst/>
            </a:prstGeom>
          </p:spPr>
          <p:txBody>
            <a:bodyPr anchor="ctr" rtlCol="false" tIns="0" lIns="0" bIns="0" rIns="0"/>
            <a:lstStyle/>
            <a:p>
              <a:pPr algn="just">
                <a:lnSpc>
                  <a:spcPts val="3662"/>
                </a:lnSpc>
              </a:pPr>
              <a:r>
                <a:rPr lang="en-US" sz="3052" b="true">
                  <a:solidFill>
                    <a:srgbClr val="000000"/>
                  </a:solidFill>
                  <a:latin typeface="Times New Roman Bold"/>
                  <a:ea typeface="Times New Roman Bold"/>
                  <a:cs typeface="Times New Roman Bold"/>
                  <a:sym typeface="Times New Roman Bold"/>
                </a:rPr>
                <a:t>Cách hoạt động của hệ thống lái cơ khí:</a:t>
              </a:r>
            </a:p>
            <a:p>
              <a:pPr algn="just">
                <a:lnSpc>
                  <a:spcPts val="3662"/>
                </a:lnSpc>
              </a:pPr>
              <a:r>
                <a:rPr lang="en-US" sz="3052" b="true">
                  <a:solidFill>
                    <a:srgbClr val="000000"/>
                  </a:solidFill>
                  <a:latin typeface="Times New Roman Bold"/>
                  <a:ea typeface="Times New Roman Bold"/>
                  <a:cs typeface="Times New Roman Bold"/>
                  <a:sym typeface="Times New Roman Bold"/>
                </a:rPr>
                <a:t>Khi đánh lái sang trái.</a:t>
              </a:r>
            </a:p>
            <a:p>
              <a:pPr algn="just">
                <a:lnSpc>
                  <a:spcPts val="3662"/>
                </a:lnSpc>
              </a:pPr>
              <a:r>
                <a:rPr lang="en-US" sz="3052" b="true">
                  <a:solidFill>
                    <a:srgbClr val="000000"/>
                  </a:solidFill>
                  <a:latin typeface="Times New Roman Bold"/>
                  <a:ea typeface="Times New Roman Bold"/>
                  <a:cs typeface="Times New Roman Bold"/>
                  <a:sym typeface="Times New Roman Bold"/>
                </a:rPr>
                <a:t>-</a:t>
              </a:r>
              <a:r>
                <a:rPr lang="en-US" sz="3052">
                  <a:solidFill>
                    <a:srgbClr val="000000"/>
                  </a:solidFill>
                  <a:latin typeface="Times New Roman"/>
                  <a:ea typeface="Times New Roman"/>
                  <a:cs typeface="Times New Roman"/>
                  <a:sym typeface="Times New Roman"/>
                </a:rPr>
                <a:t>Người lái xoay vô lăng sang trái</a:t>
              </a:r>
            </a:p>
            <a:p>
              <a:pPr algn="just">
                <a:lnSpc>
                  <a:spcPts val="3662"/>
                </a:lnSpc>
              </a:pPr>
              <a:r>
                <a:rPr lang="en-US" sz="3052">
                  <a:solidFill>
                    <a:srgbClr val="000000"/>
                  </a:solidFill>
                  <a:latin typeface="Times New Roman"/>
                  <a:ea typeface="Times New Roman"/>
                  <a:cs typeface="Times New Roman"/>
                  <a:sym typeface="Times New Roman"/>
                </a:rPr>
                <a:t>-</a:t>
              </a:r>
              <a:r>
                <a:rPr lang="en-US" sz="3052">
                  <a:solidFill>
                    <a:srgbClr val="000000"/>
                  </a:solidFill>
                  <a:latin typeface="Times New Roman"/>
                  <a:ea typeface="Times New Roman"/>
                  <a:cs typeface="Times New Roman"/>
                  <a:sym typeface="Times New Roman"/>
                </a:rPr>
                <a:t>Trục lái quay theo</a:t>
              </a:r>
            </a:p>
            <a:p>
              <a:pPr algn="just">
                <a:lnSpc>
                  <a:spcPts val="3662"/>
                </a:lnSpc>
              </a:pPr>
              <a:r>
                <a:rPr lang="en-US" sz="3052">
                  <a:solidFill>
                    <a:srgbClr val="000000"/>
                  </a:solidFill>
                  <a:latin typeface="Times New Roman"/>
                  <a:ea typeface="Times New Roman"/>
                  <a:cs typeface="Times New Roman"/>
                  <a:sym typeface="Times New Roman"/>
                </a:rPr>
                <a:t>-</a:t>
              </a:r>
              <a:r>
                <a:rPr lang="en-US" sz="3052">
                  <a:solidFill>
                    <a:srgbClr val="000000"/>
                  </a:solidFill>
                  <a:latin typeface="Times New Roman"/>
                  <a:ea typeface="Times New Roman"/>
                  <a:cs typeface="Times New Roman"/>
                  <a:sym typeface="Times New Roman"/>
                </a:rPr>
                <a:t>Cơ cấu lái biến chuyển động quay thành chuyển động đầu ra </a:t>
              </a:r>
            </a:p>
            <a:p>
              <a:pPr algn="just">
                <a:lnSpc>
                  <a:spcPts val="3662"/>
                </a:lnSpc>
              </a:pPr>
              <a:r>
                <a:rPr lang="en-US" sz="3052">
                  <a:solidFill>
                    <a:srgbClr val="000000"/>
                  </a:solidFill>
                  <a:latin typeface="Times New Roman"/>
                  <a:ea typeface="Times New Roman"/>
                  <a:cs typeface="Times New Roman"/>
                  <a:sym typeface="Times New Roman"/>
                </a:rPr>
                <a:t>-</a:t>
              </a:r>
              <a:r>
                <a:rPr lang="en-US" sz="3052">
                  <a:solidFill>
                    <a:srgbClr val="000000"/>
                  </a:solidFill>
                  <a:latin typeface="Times New Roman"/>
                  <a:ea typeface="Times New Roman"/>
                  <a:cs typeface="Times New Roman"/>
                  <a:sym typeface="Times New Roman"/>
                </a:rPr>
                <a:t>Thanh dẫn động lái truyền chuyển động đó đến hai bánh trước </a:t>
              </a:r>
            </a:p>
            <a:p>
              <a:pPr algn="just">
                <a:lnSpc>
                  <a:spcPts val="3662"/>
                </a:lnSpc>
              </a:pPr>
              <a:r>
                <a:rPr lang="en-US" sz="3052">
                  <a:solidFill>
                    <a:srgbClr val="000000"/>
                  </a:solidFill>
                  <a:latin typeface="Times New Roman"/>
                  <a:ea typeface="Times New Roman"/>
                  <a:cs typeface="Times New Roman"/>
                  <a:sym typeface="Times New Roman"/>
                </a:rPr>
                <a:t>-</a:t>
              </a:r>
              <a:r>
                <a:rPr lang="en-US" sz="3052">
                  <a:solidFill>
                    <a:srgbClr val="000000"/>
                  </a:solidFill>
                  <a:latin typeface="Times New Roman"/>
                  <a:ea typeface="Times New Roman"/>
                  <a:cs typeface="Times New Roman"/>
                  <a:sym typeface="Times New Roman"/>
                </a:rPr>
                <a:t>Bánh trước xoay sang trái, làm xe đổi hướng</a:t>
              </a:r>
            </a:p>
            <a:p>
              <a:pPr algn="just">
                <a:lnSpc>
                  <a:spcPts val="3662"/>
                </a:lnSpc>
              </a:pPr>
              <a:r>
                <a:rPr lang="en-US" sz="3052" b="true">
                  <a:solidFill>
                    <a:srgbClr val="000000"/>
                  </a:solidFill>
                  <a:latin typeface="Times New Roman Bold"/>
                  <a:ea typeface="Times New Roman Bold"/>
                  <a:cs typeface="Times New Roman Bold"/>
                  <a:sym typeface="Times New Roman Bold"/>
                </a:rPr>
                <a:t>Khi đánh lái sang phải.</a:t>
              </a:r>
            </a:p>
            <a:p>
              <a:pPr algn="just">
                <a:lnSpc>
                  <a:spcPts val="3662"/>
                </a:lnSpc>
              </a:pPr>
              <a:r>
                <a:rPr lang="en-US" sz="3052" b="true">
                  <a:solidFill>
                    <a:srgbClr val="000000"/>
                  </a:solidFill>
                  <a:latin typeface="Times New Roman Bold"/>
                  <a:ea typeface="Times New Roman Bold"/>
                  <a:cs typeface="Times New Roman Bold"/>
                  <a:sym typeface="Times New Roman Bold"/>
                </a:rPr>
                <a:t>-</a:t>
              </a:r>
              <a:r>
                <a:rPr lang="en-US" sz="3052">
                  <a:solidFill>
                    <a:srgbClr val="000000"/>
                  </a:solidFill>
                  <a:latin typeface="Times New Roman"/>
                  <a:ea typeface="Times New Roman"/>
                  <a:cs typeface="Times New Roman"/>
                  <a:sym typeface="Times New Roman"/>
                </a:rPr>
                <a:t>Toàn bộ quá trình giống đánh lái trái nhưng ngược chiều</a:t>
              </a:r>
            </a:p>
            <a:p>
              <a:pPr algn="just">
                <a:lnSpc>
                  <a:spcPts val="3662"/>
                </a:lnSpc>
              </a:pPr>
              <a:r>
                <a:rPr lang="en-US" sz="3052" b="true">
                  <a:solidFill>
                    <a:srgbClr val="000000"/>
                  </a:solidFill>
                  <a:latin typeface="Times New Roman Bold"/>
                  <a:ea typeface="Times New Roman Bold"/>
                  <a:cs typeface="Times New Roman Bold"/>
                  <a:sym typeface="Times New Roman Bold"/>
                </a:rPr>
                <a:t>Khi trả lái.</a:t>
              </a:r>
            </a:p>
            <a:p>
              <a:pPr algn="just">
                <a:lnSpc>
                  <a:spcPts val="3662"/>
                </a:lnSpc>
              </a:pPr>
              <a:r>
                <a:rPr lang="en-US" sz="3052" b="true">
                  <a:solidFill>
                    <a:srgbClr val="000000"/>
                  </a:solidFill>
                  <a:latin typeface="Times New Roman Bold"/>
                  <a:ea typeface="Times New Roman Bold"/>
                  <a:cs typeface="Times New Roman Bold"/>
                  <a:sym typeface="Times New Roman Bold"/>
                </a:rPr>
                <a:t>-</a:t>
              </a:r>
              <a:r>
                <a:rPr lang="en-US" sz="3052">
                  <a:solidFill>
                    <a:srgbClr val="000000"/>
                  </a:solidFill>
                  <a:latin typeface="Times New Roman"/>
                  <a:ea typeface="Times New Roman"/>
                  <a:cs typeface="Times New Roman"/>
                  <a:sym typeface="Times New Roman"/>
                </a:rPr>
                <a:t>Khi bỏ lực trên vô lăng thì bánh xe có xu hướng trở về vị trí chạy thẳng nhờ hình học góc đặt bánh xe</a:t>
              </a:r>
            </a:p>
            <a:p>
              <a:pPr algn="just">
                <a:lnSpc>
                  <a:spcPts val="3662"/>
                </a:lnSpc>
              </a:pPr>
            </a:p>
          </p:txBody>
        </p:sp>
      </p:grpSp>
      <p:grpSp>
        <p:nvGrpSpPr>
          <p:cNvPr name="Group 12" id="12"/>
          <p:cNvGrpSpPr/>
          <p:nvPr/>
        </p:nvGrpSpPr>
        <p:grpSpPr>
          <a:xfrm rot="0">
            <a:off x="892588" y="2098910"/>
            <a:ext cx="5152204" cy="1158308"/>
            <a:chOff x="0" y="0"/>
            <a:chExt cx="4904161" cy="1102543"/>
          </a:xfrm>
        </p:grpSpPr>
        <p:sp>
          <p:nvSpPr>
            <p:cNvPr name="Freeform 13" id="13"/>
            <p:cNvSpPr/>
            <p:nvPr/>
          </p:nvSpPr>
          <p:spPr>
            <a:xfrm flipH="false" flipV="false" rot="0">
              <a:off x="0" y="0"/>
              <a:ext cx="4904160" cy="1102542"/>
            </a:xfrm>
            <a:custGeom>
              <a:avLst/>
              <a:gdLst/>
              <a:ahLst/>
              <a:cxnLst/>
              <a:rect r="r" b="b" t="t" l="l"/>
              <a:pathLst>
                <a:path h="1102542" w="4904160">
                  <a:moveTo>
                    <a:pt x="0" y="0"/>
                  </a:moveTo>
                  <a:lnTo>
                    <a:pt x="4904160" y="0"/>
                  </a:lnTo>
                  <a:lnTo>
                    <a:pt x="4904160" y="1102542"/>
                  </a:lnTo>
                  <a:lnTo>
                    <a:pt x="0" y="1102542"/>
                  </a:lnTo>
                  <a:close/>
                </a:path>
              </a:pathLst>
            </a:custGeom>
            <a:blipFill>
              <a:blip r:embed="rId5">
                <a:alphaModFix amt="0"/>
              </a:blip>
              <a:stretch>
                <a:fillRect l="0" t="-277803" r="-273199" b="-269103"/>
              </a:stretch>
            </a:blipFill>
          </p:spPr>
        </p:sp>
        <p:sp>
          <p:nvSpPr>
            <p:cNvPr name="TextBox 14" id="14"/>
            <p:cNvSpPr txBox="true"/>
            <p:nvPr/>
          </p:nvSpPr>
          <p:spPr>
            <a:xfrm>
              <a:off x="0" y="-19050"/>
              <a:ext cx="4904161" cy="1121593"/>
            </a:xfrm>
            <a:prstGeom prst="rect">
              <a:avLst/>
            </a:prstGeom>
          </p:spPr>
          <p:txBody>
            <a:bodyPr anchor="ctr" rtlCol="false" tIns="0" lIns="0" bIns="0" rIns="0"/>
            <a:lstStyle/>
            <a:p>
              <a:pPr algn="ctr">
                <a:lnSpc>
                  <a:spcPts val="3662"/>
                </a:lnSpc>
              </a:pPr>
              <a:r>
                <a:rPr lang="en-US" b="true" sz="3052">
                  <a:solidFill>
                    <a:srgbClr val="000000"/>
                  </a:solidFill>
                  <a:latin typeface="Times New Roman Bold"/>
                  <a:ea typeface="Times New Roman Bold"/>
                  <a:cs typeface="Times New Roman Bold"/>
                  <a:sym typeface="Times New Roman Bold"/>
                </a:rPr>
                <a:t>1.1 HỆ THỐNG LÁI CƠ KHÍ</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AutoShape 7" id="7"/>
          <p:cNvSpPr/>
          <p:nvPr/>
        </p:nvSpPr>
        <p:spPr>
          <a:xfrm>
            <a:off x="8529732" y="2914704"/>
            <a:ext cx="0" cy="5521260"/>
          </a:xfrm>
          <a:prstGeom prst="line">
            <a:avLst/>
          </a:prstGeom>
          <a:ln cap="flat" w="38100">
            <a:solidFill>
              <a:srgbClr val="000000"/>
            </a:solidFill>
            <a:prstDash val="solid"/>
            <a:headEnd type="none" len="sm" w="sm"/>
            <a:tailEnd type="triangle" len="med" w="lg"/>
          </a:ln>
        </p:spPr>
      </p:sp>
      <p:sp>
        <p:nvSpPr>
          <p:cNvPr name="Freeform 8" id="8"/>
          <p:cNvSpPr/>
          <p:nvPr/>
        </p:nvSpPr>
        <p:spPr>
          <a:xfrm flipH="false" flipV="false" rot="0">
            <a:off x="1777865" y="2331873"/>
            <a:ext cx="4483315" cy="1165662"/>
          </a:xfrm>
          <a:custGeom>
            <a:avLst/>
            <a:gdLst/>
            <a:ahLst/>
            <a:cxnLst/>
            <a:rect r="r" b="b" t="t" l="l"/>
            <a:pathLst>
              <a:path h="1165662" w="4483315">
                <a:moveTo>
                  <a:pt x="0" y="0"/>
                </a:moveTo>
                <a:lnTo>
                  <a:pt x="4483315" y="0"/>
                </a:lnTo>
                <a:lnTo>
                  <a:pt x="4483315" y="1165662"/>
                </a:lnTo>
                <a:lnTo>
                  <a:pt x="0" y="1165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619395" y="4011885"/>
            <a:ext cx="4468529" cy="938391"/>
          </a:xfrm>
          <a:custGeom>
            <a:avLst/>
            <a:gdLst/>
            <a:ahLst/>
            <a:cxnLst/>
            <a:rect r="r" b="b" t="t" l="l"/>
            <a:pathLst>
              <a:path h="938391" w="4468529">
                <a:moveTo>
                  <a:pt x="0" y="0"/>
                </a:moveTo>
                <a:lnTo>
                  <a:pt x="4468529" y="0"/>
                </a:lnTo>
                <a:lnTo>
                  <a:pt x="4468529" y="938391"/>
                </a:lnTo>
                <a:lnTo>
                  <a:pt x="0" y="938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917136" y="5143500"/>
            <a:ext cx="7259818" cy="1524562"/>
          </a:xfrm>
          <a:custGeom>
            <a:avLst/>
            <a:gdLst/>
            <a:ahLst/>
            <a:cxnLst/>
            <a:rect r="r" b="b" t="t" l="l"/>
            <a:pathLst>
              <a:path h="1524562" w="7259818">
                <a:moveTo>
                  <a:pt x="0" y="0"/>
                </a:moveTo>
                <a:lnTo>
                  <a:pt x="7259818" y="0"/>
                </a:lnTo>
                <a:lnTo>
                  <a:pt x="7259818" y="1524562"/>
                </a:lnTo>
                <a:lnTo>
                  <a:pt x="0" y="15245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785866" y="6858562"/>
            <a:ext cx="6944328" cy="1458309"/>
          </a:xfrm>
          <a:custGeom>
            <a:avLst/>
            <a:gdLst/>
            <a:ahLst/>
            <a:cxnLst/>
            <a:rect r="r" b="b" t="t" l="l"/>
            <a:pathLst>
              <a:path h="1458309" w="6944328">
                <a:moveTo>
                  <a:pt x="0" y="0"/>
                </a:moveTo>
                <a:lnTo>
                  <a:pt x="6944328" y="0"/>
                </a:lnTo>
                <a:lnTo>
                  <a:pt x="6944328" y="1458309"/>
                </a:lnTo>
                <a:lnTo>
                  <a:pt x="0" y="1458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13472" y="2504822"/>
            <a:ext cx="7212100" cy="708024"/>
          </a:xfrm>
          <a:prstGeom prst="rect">
            <a:avLst/>
          </a:prstGeom>
        </p:spPr>
        <p:txBody>
          <a:bodyPr anchor="t" rtlCol="false" tIns="0" lIns="0" bIns="0" rIns="0">
            <a:spAutoFit/>
          </a:bodyPr>
          <a:lstStyle/>
          <a:p>
            <a:pPr algn="ctr">
              <a:lnSpc>
                <a:spcPts val="5600"/>
              </a:lnSpc>
            </a:pPr>
            <a:r>
              <a:rPr lang="en-US" sz="4000">
                <a:gradFill>
                  <a:gsLst>
                    <a:gs pos="0">
                      <a:srgbClr val="FF5757">
                        <a:alpha val="100000"/>
                      </a:srgbClr>
                    </a:gs>
                    <a:gs pos="100000">
                      <a:srgbClr val="8C52FF">
                        <a:alpha val="100000"/>
                      </a:srgbClr>
                    </a:gs>
                  </a:gsLst>
                  <a:lin ang="0"/>
                </a:gradFill>
                <a:latin typeface="Times New Roman"/>
                <a:ea typeface="Times New Roman"/>
                <a:cs typeface="Times New Roman"/>
                <a:sym typeface="Times New Roman"/>
              </a:rPr>
              <a:t>Ư</a:t>
            </a:r>
            <a:r>
              <a:rPr lang="en-US" sz="4000">
                <a:gradFill>
                  <a:gsLst>
                    <a:gs pos="0">
                      <a:srgbClr val="FF5757">
                        <a:alpha val="100000"/>
                      </a:srgbClr>
                    </a:gs>
                    <a:gs pos="100000">
                      <a:srgbClr val="8C52FF">
                        <a:alpha val="100000"/>
                      </a:srgbClr>
                    </a:gs>
                  </a:gsLst>
                  <a:lin ang="0"/>
                </a:gradFill>
                <a:latin typeface="Times New Roman"/>
                <a:ea typeface="Times New Roman"/>
                <a:cs typeface="Times New Roman"/>
                <a:sym typeface="Times New Roman"/>
              </a:rPr>
              <a:t>u điểm</a:t>
            </a:r>
          </a:p>
        </p:txBody>
      </p:sp>
      <p:sp>
        <p:nvSpPr>
          <p:cNvPr name="TextBox 13" id="13"/>
          <p:cNvSpPr txBox="true"/>
          <p:nvPr/>
        </p:nvSpPr>
        <p:spPr>
          <a:xfrm rot="0">
            <a:off x="1777865" y="4221435"/>
            <a:ext cx="4677051" cy="5429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Kết cấu khá đơn giản</a:t>
            </a:r>
          </a:p>
        </p:txBody>
      </p:sp>
      <p:sp>
        <p:nvSpPr>
          <p:cNvPr name="TextBox 14" id="14"/>
          <p:cNvSpPr txBox="true"/>
          <p:nvPr/>
        </p:nvSpPr>
        <p:spPr>
          <a:xfrm rot="0">
            <a:off x="1619395" y="5591456"/>
            <a:ext cx="6366299" cy="5429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Không cần bơm dầu hoặc mô tơ trợ lực</a:t>
            </a:r>
          </a:p>
        </p:txBody>
      </p:sp>
      <p:sp>
        <p:nvSpPr>
          <p:cNvPr name="TextBox 15" id="15"/>
          <p:cNvSpPr txBox="true"/>
          <p:nvPr/>
        </p:nvSpPr>
        <p:spPr>
          <a:xfrm rot="0">
            <a:off x="1363895" y="7273391"/>
            <a:ext cx="6366299" cy="5429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Dễ kiểm tra, bảo dưỡng và sửa chữa</a:t>
            </a:r>
          </a:p>
        </p:txBody>
      </p:sp>
      <p:sp>
        <p:nvSpPr>
          <p:cNvPr name="Freeform 16" id="16"/>
          <p:cNvSpPr/>
          <p:nvPr/>
        </p:nvSpPr>
        <p:spPr>
          <a:xfrm flipH="false" flipV="false" rot="0">
            <a:off x="1200816" y="8507371"/>
            <a:ext cx="5305687" cy="1114194"/>
          </a:xfrm>
          <a:custGeom>
            <a:avLst/>
            <a:gdLst/>
            <a:ahLst/>
            <a:cxnLst/>
            <a:rect r="r" b="b" t="t" l="l"/>
            <a:pathLst>
              <a:path h="1114194" w="5305687">
                <a:moveTo>
                  <a:pt x="0" y="0"/>
                </a:moveTo>
                <a:lnTo>
                  <a:pt x="5305687" y="0"/>
                </a:lnTo>
                <a:lnTo>
                  <a:pt x="5305687" y="1114194"/>
                </a:lnTo>
                <a:lnTo>
                  <a:pt x="0" y="11141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777865" y="8750143"/>
            <a:ext cx="4677051" cy="5429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Truyền chuyển động trực tiếp</a:t>
            </a:r>
          </a:p>
        </p:txBody>
      </p:sp>
      <p:sp>
        <p:nvSpPr>
          <p:cNvPr name="Freeform 18" id="18"/>
          <p:cNvSpPr/>
          <p:nvPr/>
        </p:nvSpPr>
        <p:spPr>
          <a:xfrm flipH="false" flipV="false" rot="0">
            <a:off x="11264440" y="2331873"/>
            <a:ext cx="4483315" cy="1165662"/>
          </a:xfrm>
          <a:custGeom>
            <a:avLst/>
            <a:gdLst/>
            <a:ahLst/>
            <a:cxnLst/>
            <a:rect r="r" b="b" t="t" l="l"/>
            <a:pathLst>
              <a:path h="1165662" w="4483315">
                <a:moveTo>
                  <a:pt x="0" y="0"/>
                </a:moveTo>
                <a:lnTo>
                  <a:pt x="4483316" y="0"/>
                </a:lnTo>
                <a:lnTo>
                  <a:pt x="4483316" y="1165662"/>
                </a:lnTo>
                <a:lnTo>
                  <a:pt x="0" y="1165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9900048" y="2504822"/>
            <a:ext cx="7212100" cy="708024"/>
          </a:xfrm>
          <a:prstGeom prst="rect">
            <a:avLst/>
          </a:prstGeom>
        </p:spPr>
        <p:txBody>
          <a:bodyPr anchor="t" rtlCol="false" tIns="0" lIns="0" bIns="0" rIns="0">
            <a:spAutoFit/>
          </a:bodyPr>
          <a:lstStyle/>
          <a:p>
            <a:pPr algn="ctr">
              <a:lnSpc>
                <a:spcPts val="5600"/>
              </a:lnSpc>
            </a:pPr>
            <a:r>
              <a:rPr lang="en-US" sz="4000">
                <a:gradFill>
                  <a:gsLst>
                    <a:gs pos="0">
                      <a:srgbClr val="7B2D9F">
                        <a:alpha val="100000"/>
                      </a:srgbClr>
                    </a:gs>
                    <a:gs pos="100000">
                      <a:srgbClr val="FDD82E">
                        <a:alpha val="100000"/>
                      </a:srgbClr>
                    </a:gs>
                  </a:gsLst>
                  <a:lin ang="5400000"/>
                </a:gradFill>
                <a:latin typeface="Times New Roman"/>
                <a:ea typeface="Times New Roman"/>
                <a:cs typeface="Times New Roman"/>
                <a:sym typeface="Times New Roman"/>
              </a:rPr>
              <a:t>Nhược điểm</a:t>
            </a:r>
          </a:p>
        </p:txBody>
      </p:sp>
      <p:sp>
        <p:nvSpPr>
          <p:cNvPr name="Freeform 20" id="20"/>
          <p:cNvSpPr/>
          <p:nvPr/>
        </p:nvSpPr>
        <p:spPr>
          <a:xfrm flipH="false" flipV="false" rot="0">
            <a:off x="10968132" y="4535760"/>
            <a:ext cx="4468529" cy="938391"/>
          </a:xfrm>
          <a:custGeom>
            <a:avLst/>
            <a:gdLst/>
            <a:ahLst/>
            <a:cxnLst/>
            <a:rect r="r" b="b" t="t" l="l"/>
            <a:pathLst>
              <a:path h="938391" w="4468529">
                <a:moveTo>
                  <a:pt x="0" y="0"/>
                </a:moveTo>
                <a:lnTo>
                  <a:pt x="4468529" y="0"/>
                </a:lnTo>
                <a:lnTo>
                  <a:pt x="4468529" y="938391"/>
                </a:lnTo>
                <a:lnTo>
                  <a:pt x="0" y="938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1" id="21"/>
          <p:cNvSpPr txBox="true"/>
          <p:nvPr/>
        </p:nvSpPr>
        <p:spPr>
          <a:xfrm rot="0">
            <a:off x="11119731" y="4697889"/>
            <a:ext cx="4677051" cy="5429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Lực đánh lái lớn</a:t>
            </a:r>
          </a:p>
        </p:txBody>
      </p:sp>
      <p:sp>
        <p:nvSpPr>
          <p:cNvPr name="Freeform 22" id="22"/>
          <p:cNvSpPr/>
          <p:nvPr/>
        </p:nvSpPr>
        <p:spPr>
          <a:xfrm flipH="false" flipV="false" rot="0">
            <a:off x="11249812" y="6045651"/>
            <a:ext cx="3905168" cy="820085"/>
          </a:xfrm>
          <a:custGeom>
            <a:avLst/>
            <a:gdLst/>
            <a:ahLst/>
            <a:cxnLst/>
            <a:rect r="r" b="b" t="t" l="l"/>
            <a:pathLst>
              <a:path h="820085" w="3905168">
                <a:moveTo>
                  <a:pt x="0" y="0"/>
                </a:moveTo>
                <a:lnTo>
                  <a:pt x="3905169" y="0"/>
                </a:lnTo>
                <a:lnTo>
                  <a:pt x="3905169" y="820085"/>
                </a:lnTo>
                <a:lnTo>
                  <a:pt x="0" y="8200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11102098" y="6162532"/>
            <a:ext cx="4677051" cy="5429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Đ</a:t>
            </a:r>
            <a:r>
              <a:rPr lang="en-US" sz="3000">
                <a:solidFill>
                  <a:srgbClr val="000000"/>
                </a:solidFill>
                <a:latin typeface="Times New Roman"/>
                <a:ea typeface="Times New Roman"/>
                <a:cs typeface="Times New Roman"/>
                <a:sym typeface="Times New Roman"/>
              </a:rPr>
              <a:t>ánh lái nặng hơn</a:t>
            </a:r>
          </a:p>
        </p:txBody>
      </p:sp>
      <p:sp>
        <p:nvSpPr>
          <p:cNvPr name="Freeform 24" id="24"/>
          <p:cNvSpPr/>
          <p:nvPr/>
        </p:nvSpPr>
        <p:spPr>
          <a:xfrm flipH="false" flipV="false" rot="0">
            <a:off x="9491178" y="7505756"/>
            <a:ext cx="7422438" cy="1558712"/>
          </a:xfrm>
          <a:custGeom>
            <a:avLst/>
            <a:gdLst/>
            <a:ahLst/>
            <a:cxnLst/>
            <a:rect r="r" b="b" t="t" l="l"/>
            <a:pathLst>
              <a:path h="1558712" w="7422438">
                <a:moveTo>
                  <a:pt x="0" y="0"/>
                </a:moveTo>
                <a:lnTo>
                  <a:pt x="7422437" y="0"/>
                </a:lnTo>
                <a:lnTo>
                  <a:pt x="7422437" y="1558712"/>
                </a:lnTo>
                <a:lnTo>
                  <a:pt x="0" y="155871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5" id="25"/>
          <p:cNvSpPr txBox="true"/>
          <p:nvPr/>
        </p:nvSpPr>
        <p:spPr>
          <a:xfrm rot="0">
            <a:off x="10123508" y="7759543"/>
            <a:ext cx="6366299" cy="10763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Chấn động từ mặt đường có thể truyền ngược lên vô lăng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grpSp>
        <p:nvGrpSpPr>
          <p:cNvPr name="Group 7" id="7"/>
          <p:cNvGrpSpPr/>
          <p:nvPr/>
        </p:nvGrpSpPr>
        <p:grpSpPr>
          <a:xfrm rot="0">
            <a:off x="408708" y="2098910"/>
            <a:ext cx="7693501" cy="1267092"/>
            <a:chOff x="0" y="0"/>
            <a:chExt cx="6694394" cy="1102543"/>
          </a:xfrm>
        </p:grpSpPr>
        <p:sp>
          <p:nvSpPr>
            <p:cNvPr name="Freeform 8" id="8"/>
            <p:cNvSpPr/>
            <p:nvPr/>
          </p:nvSpPr>
          <p:spPr>
            <a:xfrm flipH="false" flipV="false" rot="0">
              <a:off x="0" y="0"/>
              <a:ext cx="6694393" cy="1102542"/>
            </a:xfrm>
            <a:custGeom>
              <a:avLst/>
              <a:gdLst/>
              <a:ahLst/>
              <a:cxnLst/>
              <a:rect r="r" b="b" t="t" l="l"/>
              <a:pathLst>
                <a:path h="1102542" w="6694393">
                  <a:moveTo>
                    <a:pt x="0" y="0"/>
                  </a:moveTo>
                  <a:lnTo>
                    <a:pt x="6694393" y="0"/>
                  </a:lnTo>
                  <a:lnTo>
                    <a:pt x="6694393" y="1102542"/>
                  </a:lnTo>
                  <a:lnTo>
                    <a:pt x="0" y="1102542"/>
                  </a:lnTo>
                  <a:close/>
                </a:path>
              </a:pathLst>
            </a:custGeom>
            <a:blipFill>
              <a:blip r:embed="rId4">
                <a:alphaModFix amt="0"/>
              </a:blip>
              <a:stretch>
                <a:fillRect l="0" t="-277803" r="-173397" b="-269103"/>
              </a:stretch>
            </a:blipFill>
          </p:spPr>
        </p:sp>
        <p:sp>
          <p:nvSpPr>
            <p:cNvPr name="TextBox 9" id="9"/>
            <p:cNvSpPr txBox="true"/>
            <p:nvPr/>
          </p:nvSpPr>
          <p:spPr>
            <a:xfrm>
              <a:off x="0" y="-19050"/>
              <a:ext cx="6694394" cy="1121593"/>
            </a:xfrm>
            <a:prstGeom prst="rect">
              <a:avLst/>
            </a:prstGeom>
          </p:spPr>
          <p:txBody>
            <a:bodyPr anchor="ctr" rtlCol="false" tIns="0" lIns="0" bIns="0" rIns="0"/>
            <a:lstStyle/>
            <a:p>
              <a:pPr algn="ctr">
                <a:lnSpc>
                  <a:spcPts val="3662"/>
                </a:lnSpc>
              </a:pPr>
              <a:r>
                <a:rPr lang="en-US" b="true" sz="3052">
                  <a:solidFill>
                    <a:srgbClr val="000000"/>
                  </a:solidFill>
                  <a:latin typeface="Times New Roman Bold"/>
                  <a:ea typeface="Times New Roman Bold"/>
                  <a:cs typeface="Times New Roman Bold"/>
                  <a:sym typeface="Times New Roman Bold"/>
                </a:rPr>
                <a:t>1.2 HỆ THỐNG LÁI TRỢ LỰC ĐIỆN (EPS)</a:t>
              </a:r>
            </a:p>
          </p:txBody>
        </p:sp>
      </p:grpSp>
      <p:sp>
        <p:nvSpPr>
          <p:cNvPr name="Freeform 10" id="10"/>
          <p:cNvSpPr/>
          <p:nvPr/>
        </p:nvSpPr>
        <p:spPr>
          <a:xfrm flipH="false" flipV="false" rot="0">
            <a:off x="1028700" y="3937502"/>
            <a:ext cx="6301879" cy="4634812"/>
          </a:xfrm>
          <a:custGeom>
            <a:avLst/>
            <a:gdLst/>
            <a:ahLst/>
            <a:cxnLst/>
            <a:rect r="r" b="b" t="t" l="l"/>
            <a:pathLst>
              <a:path h="4634812" w="6301879">
                <a:moveTo>
                  <a:pt x="0" y="0"/>
                </a:moveTo>
                <a:lnTo>
                  <a:pt x="6301879" y="0"/>
                </a:lnTo>
                <a:lnTo>
                  <a:pt x="6301879" y="4634813"/>
                </a:lnTo>
                <a:lnTo>
                  <a:pt x="0" y="4634813"/>
                </a:lnTo>
                <a:lnTo>
                  <a:pt x="0" y="0"/>
                </a:lnTo>
                <a:close/>
              </a:path>
            </a:pathLst>
          </a:custGeom>
          <a:blipFill>
            <a:blip r:embed="rId5"/>
            <a:stretch>
              <a:fillRect l="0" t="0" r="0" b="0"/>
            </a:stretch>
          </a:blipFill>
        </p:spPr>
      </p:sp>
      <p:sp>
        <p:nvSpPr>
          <p:cNvPr name="Freeform 11" id="11"/>
          <p:cNvSpPr/>
          <p:nvPr/>
        </p:nvSpPr>
        <p:spPr>
          <a:xfrm flipH="false" flipV="false" rot="0">
            <a:off x="9690404" y="4103142"/>
            <a:ext cx="6588701" cy="4501002"/>
          </a:xfrm>
          <a:custGeom>
            <a:avLst/>
            <a:gdLst/>
            <a:ahLst/>
            <a:cxnLst/>
            <a:rect r="r" b="b" t="t" l="l"/>
            <a:pathLst>
              <a:path h="4501002" w="6588701">
                <a:moveTo>
                  <a:pt x="0" y="0"/>
                </a:moveTo>
                <a:lnTo>
                  <a:pt x="6588701" y="0"/>
                </a:lnTo>
                <a:lnTo>
                  <a:pt x="6588701" y="4501002"/>
                </a:lnTo>
                <a:lnTo>
                  <a:pt x="0" y="4501002"/>
                </a:lnTo>
                <a:lnTo>
                  <a:pt x="0" y="0"/>
                </a:lnTo>
                <a:close/>
              </a:path>
            </a:pathLst>
          </a:custGeom>
          <a:blipFill>
            <a:blip r:embed="rId6"/>
            <a:stretch>
              <a:fillRect l="0" t="0" r="0" b="0"/>
            </a:stretch>
          </a:blipFill>
        </p:spPr>
      </p:sp>
      <p:sp>
        <p:nvSpPr>
          <p:cNvPr name="TextBox 12" id="12"/>
          <p:cNvSpPr txBox="true"/>
          <p:nvPr/>
        </p:nvSpPr>
        <p:spPr>
          <a:xfrm rot="0">
            <a:off x="1098440" y="8749665"/>
            <a:ext cx="6162399" cy="950595"/>
          </a:xfrm>
          <a:prstGeom prst="rect">
            <a:avLst/>
          </a:prstGeom>
        </p:spPr>
        <p:txBody>
          <a:bodyPr anchor="t" rtlCol="false" tIns="0" lIns="0" bIns="0" rIns="0">
            <a:spAutoFit/>
          </a:bodyPr>
          <a:lstStyle/>
          <a:p>
            <a:pPr algn="ctr">
              <a:lnSpc>
                <a:spcPts val="3780"/>
              </a:lnSpc>
            </a:pPr>
            <a:r>
              <a:rPr lang="en-US" sz="2700">
                <a:solidFill>
                  <a:srgbClr val="000000"/>
                </a:solidFill>
                <a:latin typeface="Times New Roman"/>
                <a:ea typeface="Times New Roman"/>
                <a:cs typeface="Times New Roman"/>
                <a:sym typeface="Times New Roman"/>
              </a:rPr>
              <a:t>Sơ đồ bố trí</a:t>
            </a:r>
            <a:r>
              <a:rPr lang="en-US" sz="2700">
                <a:solidFill>
                  <a:srgbClr val="000000"/>
                </a:solidFill>
                <a:latin typeface="Times New Roman"/>
                <a:ea typeface="Times New Roman"/>
                <a:cs typeface="Times New Roman"/>
                <a:sym typeface="Times New Roman"/>
              </a:rPr>
              <a:t> các bộ phận hệ thống lái trợ lực điện (EPS) trên xe.</a:t>
            </a:r>
          </a:p>
        </p:txBody>
      </p:sp>
      <p:sp>
        <p:nvSpPr>
          <p:cNvPr name="TextBox 13" id="13"/>
          <p:cNvSpPr txBox="true"/>
          <p:nvPr/>
        </p:nvSpPr>
        <p:spPr>
          <a:xfrm rot="0">
            <a:off x="9903555" y="8749665"/>
            <a:ext cx="6162399" cy="1426845"/>
          </a:xfrm>
          <a:prstGeom prst="rect">
            <a:avLst/>
          </a:prstGeom>
        </p:spPr>
        <p:txBody>
          <a:bodyPr anchor="t" rtlCol="false" tIns="0" lIns="0" bIns="0" rIns="0">
            <a:spAutoFit/>
          </a:bodyPr>
          <a:lstStyle/>
          <a:p>
            <a:pPr algn="ctr">
              <a:lnSpc>
                <a:spcPts val="3780"/>
              </a:lnSpc>
            </a:pPr>
            <a:r>
              <a:rPr lang="en-US" sz="2700">
                <a:solidFill>
                  <a:srgbClr val="000000"/>
                </a:solidFill>
                <a:latin typeface="Times New Roman"/>
                <a:ea typeface="Times New Roman"/>
                <a:cs typeface="Times New Roman"/>
                <a:sym typeface="Times New Roman"/>
              </a:rPr>
              <a:t>Cấu tạo</a:t>
            </a:r>
            <a:r>
              <a:rPr lang="en-US" sz="2700">
                <a:solidFill>
                  <a:srgbClr val="000000"/>
                </a:solidFill>
                <a:latin typeface="Times New Roman"/>
                <a:ea typeface="Times New Roman"/>
                <a:cs typeface="Times New Roman"/>
                <a:sym typeface="Times New Roman"/>
              </a:rPr>
              <a:t> cảm biến mô-men (vòng phát hiện 1, 2, 3 và thanh xoắn) và đặc tính điện áp ra theo mô-men lái.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AutoShape 7" id="7"/>
          <p:cNvSpPr/>
          <p:nvPr/>
        </p:nvSpPr>
        <p:spPr>
          <a:xfrm>
            <a:off x="8529732" y="2914704"/>
            <a:ext cx="0" cy="6972415"/>
          </a:xfrm>
          <a:prstGeom prst="line">
            <a:avLst/>
          </a:prstGeom>
          <a:ln cap="flat" w="38100">
            <a:solidFill>
              <a:srgbClr val="000000"/>
            </a:solidFill>
            <a:prstDash val="solid"/>
            <a:headEnd type="none" len="sm" w="sm"/>
            <a:tailEnd type="triangle" len="med" w="lg"/>
          </a:ln>
        </p:spPr>
      </p:sp>
      <p:sp>
        <p:nvSpPr>
          <p:cNvPr name="Freeform 8" id="8"/>
          <p:cNvSpPr/>
          <p:nvPr/>
        </p:nvSpPr>
        <p:spPr>
          <a:xfrm flipH="false" flipV="false" rot="0">
            <a:off x="1777865" y="2331873"/>
            <a:ext cx="4483315" cy="1165662"/>
          </a:xfrm>
          <a:custGeom>
            <a:avLst/>
            <a:gdLst/>
            <a:ahLst/>
            <a:cxnLst/>
            <a:rect r="r" b="b" t="t" l="l"/>
            <a:pathLst>
              <a:path h="1165662" w="4483315">
                <a:moveTo>
                  <a:pt x="0" y="0"/>
                </a:moveTo>
                <a:lnTo>
                  <a:pt x="4483315" y="0"/>
                </a:lnTo>
                <a:lnTo>
                  <a:pt x="4483315" y="1165662"/>
                </a:lnTo>
                <a:lnTo>
                  <a:pt x="0" y="1165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2013325" y="5532041"/>
            <a:ext cx="3434306" cy="721204"/>
          </a:xfrm>
          <a:custGeom>
            <a:avLst/>
            <a:gdLst/>
            <a:ahLst/>
            <a:cxnLst/>
            <a:rect r="r" b="b" t="t" l="l"/>
            <a:pathLst>
              <a:path h="721204" w="3434306">
                <a:moveTo>
                  <a:pt x="0" y="0"/>
                </a:moveTo>
                <a:lnTo>
                  <a:pt x="3434306" y="0"/>
                </a:lnTo>
                <a:lnTo>
                  <a:pt x="3434306" y="721204"/>
                </a:lnTo>
                <a:lnTo>
                  <a:pt x="0" y="721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413472" y="2504822"/>
            <a:ext cx="7212100" cy="708024"/>
          </a:xfrm>
          <a:prstGeom prst="rect">
            <a:avLst/>
          </a:prstGeom>
        </p:spPr>
        <p:txBody>
          <a:bodyPr anchor="t" rtlCol="false" tIns="0" lIns="0" bIns="0" rIns="0">
            <a:spAutoFit/>
          </a:bodyPr>
          <a:lstStyle/>
          <a:p>
            <a:pPr algn="ctr">
              <a:lnSpc>
                <a:spcPts val="5600"/>
              </a:lnSpc>
            </a:pPr>
            <a:r>
              <a:rPr lang="en-US" sz="4000">
                <a:gradFill>
                  <a:gsLst>
                    <a:gs pos="0">
                      <a:srgbClr val="FF5757">
                        <a:alpha val="100000"/>
                      </a:srgbClr>
                    </a:gs>
                    <a:gs pos="100000">
                      <a:srgbClr val="8C52FF">
                        <a:alpha val="100000"/>
                      </a:srgbClr>
                    </a:gs>
                  </a:gsLst>
                  <a:lin ang="0"/>
                </a:gradFill>
                <a:latin typeface="Times New Roman"/>
                <a:ea typeface="Times New Roman"/>
                <a:cs typeface="Times New Roman"/>
                <a:sym typeface="Times New Roman"/>
              </a:rPr>
              <a:t>Ư</a:t>
            </a:r>
            <a:r>
              <a:rPr lang="en-US" sz="4000">
                <a:gradFill>
                  <a:gsLst>
                    <a:gs pos="0">
                      <a:srgbClr val="FF5757">
                        <a:alpha val="100000"/>
                      </a:srgbClr>
                    </a:gs>
                    <a:gs pos="100000">
                      <a:srgbClr val="8C52FF">
                        <a:alpha val="100000"/>
                      </a:srgbClr>
                    </a:gs>
                  </a:gsLst>
                  <a:lin ang="0"/>
                </a:gradFill>
                <a:latin typeface="Times New Roman"/>
                <a:ea typeface="Times New Roman"/>
                <a:cs typeface="Times New Roman"/>
                <a:sym typeface="Times New Roman"/>
              </a:rPr>
              <a:t>u điểm</a:t>
            </a:r>
          </a:p>
        </p:txBody>
      </p:sp>
      <p:sp>
        <p:nvSpPr>
          <p:cNvPr name="TextBox 11" id="11"/>
          <p:cNvSpPr txBox="true"/>
          <p:nvPr/>
        </p:nvSpPr>
        <p:spPr>
          <a:xfrm rot="0">
            <a:off x="1584128" y="5578318"/>
            <a:ext cx="4677051" cy="5429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Đ</a:t>
            </a:r>
            <a:r>
              <a:rPr lang="en-US" sz="3000">
                <a:solidFill>
                  <a:srgbClr val="000000"/>
                </a:solidFill>
                <a:latin typeface="Times New Roman"/>
                <a:ea typeface="Times New Roman"/>
                <a:cs typeface="Times New Roman"/>
                <a:sym typeface="Times New Roman"/>
              </a:rPr>
              <a:t>ánh lái nhẹ </a:t>
            </a:r>
          </a:p>
        </p:txBody>
      </p:sp>
      <p:sp>
        <p:nvSpPr>
          <p:cNvPr name="Freeform 12" id="12"/>
          <p:cNvSpPr/>
          <p:nvPr/>
        </p:nvSpPr>
        <p:spPr>
          <a:xfrm flipH="false" flipV="false" rot="0">
            <a:off x="1202460" y="8797328"/>
            <a:ext cx="5305687" cy="1114194"/>
          </a:xfrm>
          <a:custGeom>
            <a:avLst/>
            <a:gdLst/>
            <a:ahLst/>
            <a:cxnLst/>
            <a:rect r="r" b="b" t="t" l="l"/>
            <a:pathLst>
              <a:path h="1114194" w="5305687">
                <a:moveTo>
                  <a:pt x="0" y="0"/>
                </a:moveTo>
                <a:lnTo>
                  <a:pt x="5305688" y="0"/>
                </a:lnTo>
                <a:lnTo>
                  <a:pt x="5305688" y="1114195"/>
                </a:lnTo>
                <a:lnTo>
                  <a:pt x="0" y="11141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777865" y="9035453"/>
            <a:ext cx="4677051" cy="5429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Đ</a:t>
            </a:r>
            <a:r>
              <a:rPr lang="en-US" sz="3000">
                <a:solidFill>
                  <a:srgbClr val="000000"/>
                </a:solidFill>
                <a:latin typeface="Times New Roman"/>
                <a:ea typeface="Times New Roman"/>
                <a:cs typeface="Times New Roman"/>
                <a:sym typeface="Times New Roman"/>
              </a:rPr>
              <a:t>iều khiển trợ lực linh hoạt</a:t>
            </a:r>
          </a:p>
        </p:txBody>
      </p:sp>
      <p:sp>
        <p:nvSpPr>
          <p:cNvPr name="Freeform 14" id="14"/>
          <p:cNvSpPr/>
          <p:nvPr/>
        </p:nvSpPr>
        <p:spPr>
          <a:xfrm flipH="false" flipV="false" rot="0">
            <a:off x="11264440" y="2331873"/>
            <a:ext cx="4483315" cy="1165662"/>
          </a:xfrm>
          <a:custGeom>
            <a:avLst/>
            <a:gdLst/>
            <a:ahLst/>
            <a:cxnLst/>
            <a:rect r="r" b="b" t="t" l="l"/>
            <a:pathLst>
              <a:path h="1165662" w="4483315">
                <a:moveTo>
                  <a:pt x="0" y="0"/>
                </a:moveTo>
                <a:lnTo>
                  <a:pt x="4483316" y="0"/>
                </a:lnTo>
                <a:lnTo>
                  <a:pt x="4483316" y="1165662"/>
                </a:lnTo>
                <a:lnTo>
                  <a:pt x="0" y="1165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9900048" y="2504822"/>
            <a:ext cx="7212100" cy="708024"/>
          </a:xfrm>
          <a:prstGeom prst="rect">
            <a:avLst/>
          </a:prstGeom>
        </p:spPr>
        <p:txBody>
          <a:bodyPr anchor="t" rtlCol="false" tIns="0" lIns="0" bIns="0" rIns="0">
            <a:spAutoFit/>
          </a:bodyPr>
          <a:lstStyle/>
          <a:p>
            <a:pPr algn="ctr">
              <a:lnSpc>
                <a:spcPts val="5600"/>
              </a:lnSpc>
            </a:pPr>
            <a:r>
              <a:rPr lang="en-US" sz="4000">
                <a:gradFill>
                  <a:gsLst>
                    <a:gs pos="0">
                      <a:srgbClr val="7B2D9F">
                        <a:alpha val="100000"/>
                      </a:srgbClr>
                    </a:gs>
                    <a:gs pos="100000">
                      <a:srgbClr val="FDD82E">
                        <a:alpha val="100000"/>
                      </a:srgbClr>
                    </a:gs>
                  </a:gsLst>
                  <a:lin ang="5400000"/>
                </a:gradFill>
                <a:latin typeface="Times New Roman"/>
                <a:ea typeface="Times New Roman"/>
                <a:cs typeface="Times New Roman"/>
                <a:sym typeface="Times New Roman"/>
              </a:rPr>
              <a:t>Nhược điểm</a:t>
            </a:r>
          </a:p>
        </p:txBody>
      </p:sp>
      <p:sp>
        <p:nvSpPr>
          <p:cNvPr name="Freeform 16" id="16"/>
          <p:cNvSpPr/>
          <p:nvPr/>
        </p:nvSpPr>
        <p:spPr>
          <a:xfrm flipH="false" flipV="false" rot="0">
            <a:off x="10234650" y="4057874"/>
            <a:ext cx="6144016" cy="1290243"/>
          </a:xfrm>
          <a:custGeom>
            <a:avLst/>
            <a:gdLst/>
            <a:ahLst/>
            <a:cxnLst/>
            <a:rect r="r" b="b" t="t" l="l"/>
            <a:pathLst>
              <a:path h="1290243" w="6144016">
                <a:moveTo>
                  <a:pt x="0" y="0"/>
                </a:moveTo>
                <a:lnTo>
                  <a:pt x="6144016" y="0"/>
                </a:lnTo>
                <a:lnTo>
                  <a:pt x="6144016" y="1290243"/>
                </a:lnTo>
                <a:lnTo>
                  <a:pt x="0" y="12902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0986933" y="4388671"/>
            <a:ext cx="5391733" cy="5429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Kết cấu điều khiển khá phức tạp</a:t>
            </a:r>
          </a:p>
        </p:txBody>
      </p:sp>
      <p:sp>
        <p:nvSpPr>
          <p:cNvPr name="Freeform 18" id="18"/>
          <p:cNvSpPr/>
          <p:nvPr/>
        </p:nvSpPr>
        <p:spPr>
          <a:xfrm flipH="false" flipV="false" rot="0">
            <a:off x="11354074" y="5566510"/>
            <a:ext cx="3905168" cy="820085"/>
          </a:xfrm>
          <a:custGeom>
            <a:avLst/>
            <a:gdLst/>
            <a:ahLst/>
            <a:cxnLst/>
            <a:rect r="r" b="b" t="t" l="l"/>
            <a:pathLst>
              <a:path h="820085" w="3905168">
                <a:moveTo>
                  <a:pt x="0" y="0"/>
                </a:moveTo>
                <a:lnTo>
                  <a:pt x="3905168" y="0"/>
                </a:lnTo>
                <a:lnTo>
                  <a:pt x="3905168" y="820085"/>
                </a:lnTo>
                <a:lnTo>
                  <a:pt x="0" y="8200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11070704" y="5710321"/>
            <a:ext cx="4677051" cy="5429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Chi phí sửa chữa cao</a:t>
            </a:r>
          </a:p>
        </p:txBody>
      </p:sp>
      <p:sp>
        <p:nvSpPr>
          <p:cNvPr name="Freeform 20" id="20"/>
          <p:cNvSpPr/>
          <p:nvPr/>
        </p:nvSpPr>
        <p:spPr>
          <a:xfrm flipH="false" flipV="false" rot="0">
            <a:off x="9784675" y="6690637"/>
            <a:ext cx="6593991" cy="1384738"/>
          </a:xfrm>
          <a:custGeom>
            <a:avLst/>
            <a:gdLst/>
            <a:ahLst/>
            <a:cxnLst/>
            <a:rect r="r" b="b" t="t" l="l"/>
            <a:pathLst>
              <a:path h="1384738" w="6593991">
                <a:moveTo>
                  <a:pt x="0" y="0"/>
                </a:moveTo>
                <a:lnTo>
                  <a:pt x="6593991" y="0"/>
                </a:lnTo>
                <a:lnTo>
                  <a:pt x="6593991" y="1384738"/>
                </a:lnTo>
                <a:lnTo>
                  <a:pt x="0" y="13847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1" id="21"/>
          <p:cNvSpPr txBox="true"/>
          <p:nvPr/>
        </p:nvSpPr>
        <p:spPr>
          <a:xfrm rot="0">
            <a:off x="10121165" y="7039537"/>
            <a:ext cx="6366299" cy="5429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Phụ thuộc vào hệ thống điện của xe</a:t>
            </a:r>
          </a:p>
        </p:txBody>
      </p:sp>
      <p:sp>
        <p:nvSpPr>
          <p:cNvPr name="Freeform 22" id="22"/>
          <p:cNvSpPr/>
          <p:nvPr/>
        </p:nvSpPr>
        <p:spPr>
          <a:xfrm flipH="false" flipV="false" rot="0">
            <a:off x="1383272" y="7582462"/>
            <a:ext cx="4694412" cy="985827"/>
          </a:xfrm>
          <a:custGeom>
            <a:avLst/>
            <a:gdLst/>
            <a:ahLst/>
            <a:cxnLst/>
            <a:rect r="r" b="b" t="t" l="l"/>
            <a:pathLst>
              <a:path h="985827" w="4694412">
                <a:moveTo>
                  <a:pt x="0" y="0"/>
                </a:moveTo>
                <a:lnTo>
                  <a:pt x="4694412" y="0"/>
                </a:lnTo>
                <a:lnTo>
                  <a:pt x="4694412" y="985826"/>
                </a:lnTo>
                <a:lnTo>
                  <a:pt x="0" y="9858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800452" y="7778278"/>
            <a:ext cx="6366299" cy="5429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Tiết kiệm nhiên liệu</a:t>
            </a:r>
          </a:p>
        </p:txBody>
      </p:sp>
      <p:sp>
        <p:nvSpPr>
          <p:cNvPr name="Freeform 24" id="24"/>
          <p:cNvSpPr/>
          <p:nvPr/>
        </p:nvSpPr>
        <p:spPr>
          <a:xfrm flipH="false" flipV="false" rot="0">
            <a:off x="1299844" y="6386595"/>
            <a:ext cx="5061405" cy="1062895"/>
          </a:xfrm>
          <a:custGeom>
            <a:avLst/>
            <a:gdLst/>
            <a:ahLst/>
            <a:cxnLst/>
            <a:rect r="r" b="b" t="t" l="l"/>
            <a:pathLst>
              <a:path h="1062895" w="5061405">
                <a:moveTo>
                  <a:pt x="0" y="0"/>
                </a:moveTo>
                <a:lnTo>
                  <a:pt x="5061404" y="0"/>
                </a:lnTo>
                <a:lnTo>
                  <a:pt x="5061404" y="1062895"/>
                </a:lnTo>
                <a:lnTo>
                  <a:pt x="0" y="10628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5" id="25"/>
          <p:cNvSpPr txBox="true"/>
          <p:nvPr/>
        </p:nvSpPr>
        <p:spPr>
          <a:xfrm rot="0">
            <a:off x="836373" y="6577095"/>
            <a:ext cx="6366299" cy="5429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Không sử dụng dầu trợ lực</a:t>
            </a:r>
          </a:p>
        </p:txBody>
      </p:sp>
      <p:sp>
        <p:nvSpPr>
          <p:cNvPr name="Freeform 26" id="26"/>
          <p:cNvSpPr/>
          <p:nvPr/>
        </p:nvSpPr>
        <p:spPr>
          <a:xfrm flipH="false" flipV="false" rot="0">
            <a:off x="673799" y="4011885"/>
            <a:ext cx="6363010" cy="1336232"/>
          </a:xfrm>
          <a:custGeom>
            <a:avLst/>
            <a:gdLst/>
            <a:ahLst/>
            <a:cxnLst/>
            <a:rect r="r" b="b" t="t" l="l"/>
            <a:pathLst>
              <a:path h="1336232" w="6363010">
                <a:moveTo>
                  <a:pt x="0" y="0"/>
                </a:moveTo>
                <a:lnTo>
                  <a:pt x="6363010" y="0"/>
                </a:lnTo>
                <a:lnTo>
                  <a:pt x="6363010" y="1336232"/>
                </a:lnTo>
                <a:lnTo>
                  <a:pt x="0" y="13362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299844" y="4335735"/>
            <a:ext cx="5608303" cy="5429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D</a:t>
            </a:r>
            <a:r>
              <a:rPr lang="en-US" sz="3000">
                <a:solidFill>
                  <a:srgbClr val="000000"/>
                </a:solidFill>
                <a:latin typeface="Times New Roman"/>
                <a:ea typeface="Times New Roman"/>
                <a:cs typeface="Times New Roman"/>
                <a:sym typeface="Times New Roman"/>
              </a:rPr>
              <a:t>ễ tích hợp với các hệ thống điện tử</a:t>
            </a:r>
          </a:p>
        </p:txBody>
      </p:sp>
      <p:sp>
        <p:nvSpPr>
          <p:cNvPr name="Freeform 28" id="28"/>
          <p:cNvSpPr/>
          <p:nvPr/>
        </p:nvSpPr>
        <p:spPr>
          <a:xfrm flipH="false" flipV="false" rot="0">
            <a:off x="10453340" y="8321203"/>
            <a:ext cx="5706636" cy="1198394"/>
          </a:xfrm>
          <a:custGeom>
            <a:avLst/>
            <a:gdLst/>
            <a:ahLst/>
            <a:cxnLst/>
            <a:rect r="r" b="b" t="t" l="l"/>
            <a:pathLst>
              <a:path h="1198394" w="5706636">
                <a:moveTo>
                  <a:pt x="0" y="0"/>
                </a:moveTo>
                <a:lnTo>
                  <a:pt x="5706636" y="0"/>
                </a:lnTo>
                <a:lnTo>
                  <a:pt x="5706636" y="1198393"/>
                </a:lnTo>
                <a:lnTo>
                  <a:pt x="0" y="11983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9" id="29"/>
          <p:cNvSpPr txBox="true"/>
          <p:nvPr/>
        </p:nvSpPr>
        <p:spPr>
          <a:xfrm rot="0">
            <a:off x="10322948" y="8672494"/>
            <a:ext cx="6366299" cy="5429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Yêu cầu chẩn đoán điện tử</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grpSp>
        <p:nvGrpSpPr>
          <p:cNvPr name="Group 7" id="7"/>
          <p:cNvGrpSpPr/>
          <p:nvPr/>
        </p:nvGrpSpPr>
        <p:grpSpPr>
          <a:xfrm rot="0">
            <a:off x="408708" y="2098910"/>
            <a:ext cx="7693501" cy="1267092"/>
            <a:chOff x="0" y="0"/>
            <a:chExt cx="6694394" cy="1102543"/>
          </a:xfrm>
        </p:grpSpPr>
        <p:sp>
          <p:nvSpPr>
            <p:cNvPr name="Freeform 8" id="8"/>
            <p:cNvSpPr/>
            <p:nvPr/>
          </p:nvSpPr>
          <p:spPr>
            <a:xfrm flipH="false" flipV="false" rot="0">
              <a:off x="0" y="0"/>
              <a:ext cx="6694393" cy="1102542"/>
            </a:xfrm>
            <a:custGeom>
              <a:avLst/>
              <a:gdLst/>
              <a:ahLst/>
              <a:cxnLst/>
              <a:rect r="r" b="b" t="t" l="l"/>
              <a:pathLst>
                <a:path h="1102542" w="6694393">
                  <a:moveTo>
                    <a:pt x="0" y="0"/>
                  </a:moveTo>
                  <a:lnTo>
                    <a:pt x="6694393" y="0"/>
                  </a:lnTo>
                  <a:lnTo>
                    <a:pt x="6694393" y="1102542"/>
                  </a:lnTo>
                  <a:lnTo>
                    <a:pt x="0" y="1102542"/>
                  </a:lnTo>
                  <a:close/>
                </a:path>
              </a:pathLst>
            </a:custGeom>
            <a:blipFill>
              <a:blip r:embed="rId4">
                <a:alphaModFix amt="0"/>
              </a:blip>
              <a:stretch>
                <a:fillRect l="0" t="-277803" r="-173397" b="-269103"/>
              </a:stretch>
            </a:blipFill>
          </p:spPr>
        </p:sp>
        <p:sp>
          <p:nvSpPr>
            <p:cNvPr name="TextBox 9" id="9"/>
            <p:cNvSpPr txBox="true"/>
            <p:nvPr/>
          </p:nvSpPr>
          <p:spPr>
            <a:xfrm>
              <a:off x="0" y="-19050"/>
              <a:ext cx="6694394" cy="1121593"/>
            </a:xfrm>
            <a:prstGeom prst="rect">
              <a:avLst/>
            </a:prstGeom>
          </p:spPr>
          <p:txBody>
            <a:bodyPr anchor="ctr" rtlCol="false" tIns="0" lIns="0" bIns="0" rIns="0"/>
            <a:lstStyle/>
            <a:p>
              <a:pPr algn="ctr">
                <a:lnSpc>
                  <a:spcPts val="3662"/>
                </a:lnSpc>
              </a:pPr>
              <a:r>
                <a:rPr lang="en-US" b="true" sz="3052">
                  <a:solidFill>
                    <a:srgbClr val="000000"/>
                  </a:solidFill>
                  <a:latin typeface="Times New Roman Bold"/>
                  <a:ea typeface="Times New Roman Bold"/>
                  <a:cs typeface="Times New Roman Bold"/>
                  <a:sym typeface="Times New Roman Bold"/>
                </a:rPr>
                <a:t>1.3 HỆ THỐNG LÁI TRỢ LỰC THỦY LỰC</a:t>
              </a:r>
            </a:p>
          </p:txBody>
        </p:sp>
      </p:grpSp>
      <p:sp>
        <p:nvSpPr>
          <p:cNvPr name="Freeform 10" id="10"/>
          <p:cNvSpPr/>
          <p:nvPr/>
        </p:nvSpPr>
        <p:spPr>
          <a:xfrm flipH="false" flipV="false" rot="0">
            <a:off x="1878972" y="4313303"/>
            <a:ext cx="5647986" cy="4132924"/>
          </a:xfrm>
          <a:custGeom>
            <a:avLst/>
            <a:gdLst/>
            <a:ahLst/>
            <a:cxnLst/>
            <a:rect r="r" b="b" t="t" l="l"/>
            <a:pathLst>
              <a:path h="4132924" w="5647986">
                <a:moveTo>
                  <a:pt x="0" y="0"/>
                </a:moveTo>
                <a:lnTo>
                  <a:pt x="5647986" y="0"/>
                </a:lnTo>
                <a:lnTo>
                  <a:pt x="5647986" y="4132924"/>
                </a:lnTo>
                <a:lnTo>
                  <a:pt x="0" y="4132924"/>
                </a:lnTo>
                <a:lnTo>
                  <a:pt x="0" y="0"/>
                </a:lnTo>
                <a:close/>
              </a:path>
            </a:pathLst>
          </a:custGeom>
          <a:blipFill>
            <a:blip r:embed="rId5"/>
            <a:stretch>
              <a:fillRect l="0" t="-2201" r="-9621" b="-280"/>
            </a:stretch>
          </a:blipFill>
        </p:spPr>
      </p:sp>
      <p:sp>
        <p:nvSpPr>
          <p:cNvPr name="Freeform 11" id="11"/>
          <p:cNvSpPr/>
          <p:nvPr/>
        </p:nvSpPr>
        <p:spPr>
          <a:xfrm flipH="false" flipV="false" rot="0">
            <a:off x="10326686" y="4313588"/>
            <a:ext cx="6171728" cy="4018987"/>
          </a:xfrm>
          <a:custGeom>
            <a:avLst/>
            <a:gdLst/>
            <a:ahLst/>
            <a:cxnLst/>
            <a:rect r="r" b="b" t="t" l="l"/>
            <a:pathLst>
              <a:path h="4018987" w="6171728">
                <a:moveTo>
                  <a:pt x="0" y="0"/>
                </a:moveTo>
                <a:lnTo>
                  <a:pt x="6171727" y="0"/>
                </a:lnTo>
                <a:lnTo>
                  <a:pt x="6171727" y="4018988"/>
                </a:lnTo>
                <a:lnTo>
                  <a:pt x="0" y="4018988"/>
                </a:lnTo>
                <a:lnTo>
                  <a:pt x="0" y="0"/>
                </a:lnTo>
                <a:close/>
              </a:path>
            </a:pathLst>
          </a:custGeom>
          <a:blipFill>
            <a:blip r:embed="rId6"/>
            <a:stretch>
              <a:fillRect l="0" t="-5216" r="-519" b="-380"/>
            </a:stretch>
          </a:blipFill>
        </p:spPr>
      </p:sp>
      <p:grpSp>
        <p:nvGrpSpPr>
          <p:cNvPr name="Group 12" id="12"/>
          <p:cNvGrpSpPr/>
          <p:nvPr/>
        </p:nvGrpSpPr>
        <p:grpSpPr>
          <a:xfrm rot="0">
            <a:off x="856214" y="2732456"/>
            <a:ext cx="15747746" cy="1267092"/>
            <a:chOff x="0" y="0"/>
            <a:chExt cx="13702684" cy="1102543"/>
          </a:xfrm>
        </p:grpSpPr>
        <p:sp>
          <p:nvSpPr>
            <p:cNvPr name="Freeform 13" id="13"/>
            <p:cNvSpPr/>
            <p:nvPr/>
          </p:nvSpPr>
          <p:spPr>
            <a:xfrm flipH="false" flipV="false" rot="0">
              <a:off x="0" y="0"/>
              <a:ext cx="13702683" cy="1102542"/>
            </a:xfrm>
            <a:custGeom>
              <a:avLst/>
              <a:gdLst/>
              <a:ahLst/>
              <a:cxnLst/>
              <a:rect r="r" b="b" t="t" l="l"/>
              <a:pathLst>
                <a:path h="1102542" w="13702683">
                  <a:moveTo>
                    <a:pt x="0" y="0"/>
                  </a:moveTo>
                  <a:lnTo>
                    <a:pt x="13702683" y="0"/>
                  </a:lnTo>
                  <a:lnTo>
                    <a:pt x="13702683" y="1102542"/>
                  </a:lnTo>
                  <a:lnTo>
                    <a:pt x="0" y="1102542"/>
                  </a:lnTo>
                  <a:close/>
                </a:path>
              </a:pathLst>
            </a:custGeom>
            <a:blipFill>
              <a:blip r:embed="rId4">
                <a:alphaModFix amt="0"/>
              </a:blip>
              <a:stretch>
                <a:fillRect l="0" t="-277803" r="-33567" b="-269103"/>
              </a:stretch>
            </a:blipFill>
          </p:spPr>
        </p:sp>
        <p:sp>
          <p:nvSpPr>
            <p:cNvPr name="TextBox 14" id="14"/>
            <p:cNvSpPr txBox="true"/>
            <p:nvPr/>
          </p:nvSpPr>
          <p:spPr>
            <a:xfrm>
              <a:off x="0" y="-19050"/>
              <a:ext cx="13702684" cy="1121593"/>
            </a:xfrm>
            <a:prstGeom prst="rect">
              <a:avLst/>
            </a:prstGeom>
          </p:spPr>
          <p:txBody>
            <a:bodyPr anchor="ctr" rtlCol="false" tIns="0" lIns="0" bIns="0" rIns="0"/>
            <a:lstStyle/>
            <a:p>
              <a:pPr algn="l">
                <a:lnSpc>
                  <a:spcPts val="3662"/>
                </a:lnSpc>
              </a:pPr>
              <a:r>
                <a:rPr lang="en-US" sz="3052" b="true">
                  <a:solidFill>
                    <a:srgbClr val="000000"/>
                  </a:solidFill>
                  <a:latin typeface="Times New Roman Bold"/>
                  <a:ea typeface="Times New Roman Bold"/>
                  <a:cs typeface="Times New Roman Bold"/>
                  <a:sym typeface="Times New Roman Bold"/>
                </a:rPr>
                <a:t>Cấu tạo gồm: Bơm trợ lực, Van điều khiển, Xi lanh trợ lực, Bình chứa, Đường ống thủy lực...</a:t>
              </a:r>
            </a:p>
          </p:txBody>
        </p:sp>
      </p:grpSp>
      <p:grpSp>
        <p:nvGrpSpPr>
          <p:cNvPr name="Group 15" id="15"/>
          <p:cNvGrpSpPr/>
          <p:nvPr/>
        </p:nvGrpSpPr>
        <p:grpSpPr>
          <a:xfrm rot="0">
            <a:off x="9565799" y="8646616"/>
            <a:ext cx="7693501" cy="1062980"/>
            <a:chOff x="0" y="0"/>
            <a:chExt cx="6694394" cy="924937"/>
          </a:xfrm>
        </p:grpSpPr>
        <p:sp>
          <p:nvSpPr>
            <p:cNvPr name="Freeform 16" id="16"/>
            <p:cNvSpPr/>
            <p:nvPr/>
          </p:nvSpPr>
          <p:spPr>
            <a:xfrm flipH="false" flipV="false" rot="0">
              <a:off x="0" y="0"/>
              <a:ext cx="6694393" cy="924936"/>
            </a:xfrm>
            <a:custGeom>
              <a:avLst/>
              <a:gdLst/>
              <a:ahLst/>
              <a:cxnLst/>
              <a:rect r="r" b="b" t="t" l="l"/>
              <a:pathLst>
                <a:path h="924936" w="6694393">
                  <a:moveTo>
                    <a:pt x="0" y="0"/>
                  </a:moveTo>
                  <a:lnTo>
                    <a:pt x="6694393" y="0"/>
                  </a:lnTo>
                  <a:lnTo>
                    <a:pt x="6694393" y="924936"/>
                  </a:lnTo>
                  <a:lnTo>
                    <a:pt x="0" y="924936"/>
                  </a:lnTo>
                  <a:close/>
                </a:path>
              </a:pathLst>
            </a:custGeom>
            <a:blipFill>
              <a:blip r:embed="rId4">
                <a:alphaModFix amt="0"/>
              </a:blip>
              <a:stretch>
                <a:fillRect l="0" t="-331146" r="-173397" b="-339978"/>
              </a:stretch>
            </a:blipFill>
          </p:spPr>
        </p:sp>
        <p:sp>
          <p:nvSpPr>
            <p:cNvPr name="TextBox 17" id="17"/>
            <p:cNvSpPr txBox="true"/>
            <p:nvPr/>
          </p:nvSpPr>
          <p:spPr>
            <a:xfrm>
              <a:off x="0" y="-19050"/>
              <a:ext cx="6694394" cy="943987"/>
            </a:xfrm>
            <a:prstGeom prst="rect">
              <a:avLst/>
            </a:prstGeom>
          </p:spPr>
          <p:txBody>
            <a:bodyPr anchor="ctr" rtlCol="false" tIns="0" lIns="0" bIns="0" rIns="0"/>
            <a:lstStyle/>
            <a:p>
              <a:pPr algn="ctr">
                <a:lnSpc>
                  <a:spcPts val="3240"/>
                </a:lnSpc>
              </a:pPr>
              <a:r>
                <a:rPr lang="en-US" sz="2700">
                  <a:solidFill>
                    <a:srgbClr val="000000"/>
                  </a:solidFill>
                  <a:latin typeface="Times New Roman"/>
                  <a:ea typeface="Times New Roman"/>
                  <a:cs typeface="Times New Roman"/>
                  <a:sym typeface="Times New Roman"/>
                </a:rPr>
                <a:t>Sơ đồ nguyên lý trợ lực thủy lực trên toàn xe khi quay vô lăng sang trái.</a:t>
              </a:r>
            </a:p>
          </p:txBody>
        </p:sp>
      </p:grpSp>
      <p:grpSp>
        <p:nvGrpSpPr>
          <p:cNvPr name="Group 18" id="18"/>
          <p:cNvGrpSpPr/>
          <p:nvPr/>
        </p:nvGrpSpPr>
        <p:grpSpPr>
          <a:xfrm rot="0">
            <a:off x="856214" y="8726810"/>
            <a:ext cx="7693501" cy="1062980"/>
            <a:chOff x="0" y="0"/>
            <a:chExt cx="6694394" cy="924937"/>
          </a:xfrm>
        </p:grpSpPr>
        <p:sp>
          <p:nvSpPr>
            <p:cNvPr name="Freeform 19" id="19"/>
            <p:cNvSpPr/>
            <p:nvPr/>
          </p:nvSpPr>
          <p:spPr>
            <a:xfrm flipH="false" flipV="false" rot="0">
              <a:off x="0" y="0"/>
              <a:ext cx="6694393" cy="924936"/>
            </a:xfrm>
            <a:custGeom>
              <a:avLst/>
              <a:gdLst/>
              <a:ahLst/>
              <a:cxnLst/>
              <a:rect r="r" b="b" t="t" l="l"/>
              <a:pathLst>
                <a:path h="924936" w="6694393">
                  <a:moveTo>
                    <a:pt x="0" y="0"/>
                  </a:moveTo>
                  <a:lnTo>
                    <a:pt x="6694393" y="0"/>
                  </a:lnTo>
                  <a:lnTo>
                    <a:pt x="6694393" y="924936"/>
                  </a:lnTo>
                  <a:lnTo>
                    <a:pt x="0" y="924936"/>
                  </a:lnTo>
                  <a:close/>
                </a:path>
              </a:pathLst>
            </a:custGeom>
            <a:blipFill>
              <a:blip r:embed="rId4">
                <a:alphaModFix amt="0"/>
              </a:blip>
              <a:stretch>
                <a:fillRect l="0" t="-331146" r="-173397" b="-339978"/>
              </a:stretch>
            </a:blipFill>
          </p:spPr>
        </p:sp>
        <p:sp>
          <p:nvSpPr>
            <p:cNvPr name="TextBox 20" id="20"/>
            <p:cNvSpPr txBox="true"/>
            <p:nvPr/>
          </p:nvSpPr>
          <p:spPr>
            <a:xfrm>
              <a:off x="0" y="-19050"/>
              <a:ext cx="6694394" cy="943987"/>
            </a:xfrm>
            <a:prstGeom prst="rect">
              <a:avLst/>
            </a:prstGeom>
          </p:spPr>
          <p:txBody>
            <a:bodyPr anchor="ctr" rtlCol="false" tIns="0" lIns="0" bIns="0" rIns="0"/>
            <a:lstStyle/>
            <a:p>
              <a:pPr algn="ctr">
                <a:lnSpc>
                  <a:spcPts val="3240"/>
                </a:lnSpc>
              </a:pPr>
              <a:r>
                <a:rPr lang="en-US" sz="2700">
                  <a:solidFill>
                    <a:srgbClr val="000000"/>
                  </a:solidFill>
                  <a:latin typeface="Times New Roman"/>
                  <a:ea typeface="Times New Roman"/>
                  <a:cs typeface="Times New Roman"/>
                  <a:sym typeface="Times New Roman"/>
                </a:rPr>
                <a:t>Sơ đồ nguyên lý trợ lực thủy lực trên toàn xe khi quay vô lăng sang phải.</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10066278" y="3028375"/>
            <a:ext cx="6123415" cy="5497157"/>
          </a:xfrm>
          <a:custGeom>
            <a:avLst/>
            <a:gdLst/>
            <a:ahLst/>
            <a:cxnLst/>
            <a:rect r="r" b="b" t="t" l="l"/>
            <a:pathLst>
              <a:path h="5497157" w="6123415">
                <a:moveTo>
                  <a:pt x="0" y="0"/>
                </a:moveTo>
                <a:lnTo>
                  <a:pt x="6123415" y="0"/>
                </a:lnTo>
                <a:lnTo>
                  <a:pt x="6123415" y="5497157"/>
                </a:lnTo>
                <a:lnTo>
                  <a:pt x="0" y="5497157"/>
                </a:lnTo>
                <a:lnTo>
                  <a:pt x="0" y="0"/>
                </a:lnTo>
                <a:close/>
              </a:path>
            </a:pathLst>
          </a:custGeom>
          <a:blipFill>
            <a:blip r:embed="rId4"/>
            <a:stretch>
              <a:fillRect l="0" t="0" r="0" b="0"/>
            </a:stretch>
          </a:blipFill>
        </p:spPr>
      </p:sp>
      <p:sp>
        <p:nvSpPr>
          <p:cNvPr name="TextBox 8" id="8"/>
          <p:cNvSpPr txBox="true"/>
          <p:nvPr/>
        </p:nvSpPr>
        <p:spPr>
          <a:xfrm rot="0">
            <a:off x="206870" y="2234625"/>
            <a:ext cx="9859408" cy="574675"/>
          </a:xfrm>
          <a:prstGeom prst="rect">
            <a:avLst/>
          </a:prstGeom>
        </p:spPr>
        <p:txBody>
          <a:bodyPr anchor="t" rtlCol="false" tIns="0" lIns="0" bIns="0" rIns="0">
            <a:spAutoFit/>
          </a:bodyPr>
          <a:lstStyle/>
          <a:p>
            <a:pPr algn="ctr">
              <a:lnSpc>
                <a:spcPts val="4549"/>
              </a:lnSpc>
              <a:spcBef>
                <a:spcPct val="0"/>
              </a:spcBef>
            </a:pPr>
            <a:r>
              <a:rPr lang="en-US" b="true" sz="3249">
                <a:solidFill>
                  <a:srgbClr val="000000"/>
                </a:solidFill>
                <a:latin typeface="Times New Roman Bold"/>
                <a:ea typeface="Times New Roman Bold"/>
                <a:cs typeface="Times New Roman Bold"/>
                <a:sym typeface="Times New Roman Bold"/>
              </a:rPr>
              <a:t>C</a:t>
            </a:r>
            <a:r>
              <a:rPr lang="en-US" b="true" sz="3249">
                <a:solidFill>
                  <a:srgbClr val="000000"/>
                </a:solidFill>
                <a:latin typeface="Times New Roman Bold"/>
                <a:ea typeface="Times New Roman Bold"/>
                <a:cs typeface="Times New Roman Bold"/>
                <a:sym typeface="Times New Roman Bold"/>
              </a:rPr>
              <a:t>ách hoạt động của hệ thống lái trợ lực thủy lực </a:t>
            </a:r>
          </a:p>
        </p:txBody>
      </p:sp>
      <p:sp>
        <p:nvSpPr>
          <p:cNvPr name="TextBox 9" id="9"/>
          <p:cNvSpPr txBox="true"/>
          <p:nvPr/>
        </p:nvSpPr>
        <p:spPr>
          <a:xfrm rot="0">
            <a:off x="1076662" y="2942650"/>
            <a:ext cx="4439245" cy="549910"/>
          </a:xfrm>
          <a:prstGeom prst="rect">
            <a:avLst/>
          </a:prstGeom>
        </p:spPr>
        <p:txBody>
          <a:bodyPr anchor="t" rtlCol="false" tIns="0" lIns="0" bIns="0" rIns="0">
            <a:spAutoFit/>
          </a:bodyPr>
          <a:lstStyle/>
          <a:p>
            <a:pPr algn="ctr">
              <a:lnSpc>
                <a:spcPts val="4340"/>
              </a:lnSpc>
              <a:spcBef>
                <a:spcPct val="0"/>
              </a:spcBef>
            </a:pPr>
            <a:r>
              <a:rPr lang="en-US" sz="3100">
                <a:solidFill>
                  <a:srgbClr val="000000"/>
                </a:solidFill>
                <a:latin typeface="Times New Roman"/>
                <a:ea typeface="Times New Roman"/>
                <a:cs typeface="Times New Roman"/>
                <a:sym typeface="Times New Roman"/>
              </a:rPr>
              <a:t>Van quay ở vị trí trung gian </a:t>
            </a:r>
          </a:p>
        </p:txBody>
      </p:sp>
      <p:sp>
        <p:nvSpPr>
          <p:cNvPr name="TextBox 10" id="10"/>
          <p:cNvSpPr txBox="true"/>
          <p:nvPr/>
        </p:nvSpPr>
        <p:spPr>
          <a:xfrm rot="0">
            <a:off x="1284366" y="3676548"/>
            <a:ext cx="7134635" cy="5970905"/>
          </a:xfrm>
          <a:prstGeom prst="rect">
            <a:avLst/>
          </a:prstGeom>
        </p:spPr>
        <p:txBody>
          <a:bodyPr anchor="t" rtlCol="false" tIns="0" lIns="0" bIns="0" rIns="0">
            <a:spAutoFit/>
          </a:bodyPr>
          <a:lstStyle/>
          <a:p>
            <a:pPr algn="l">
              <a:lnSpc>
                <a:spcPts val="4340"/>
              </a:lnSpc>
            </a:pPr>
            <a:r>
              <a:rPr lang="en-US" sz="3100">
                <a:solidFill>
                  <a:srgbClr val="000000"/>
                </a:solidFill>
                <a:latin typeface="Times New Roman"/>
                <a:ea typeface="Times New Roman"/>
                <a:cs typeface="Times New Roman"/>
                <a:sym typeface="Times New Roman"/>
              </a:rPr>
              <a:t>Vị trí trung gian (giữ vô lăng, xe chạy thẳng):</a:t>
            </a:r>
          </a:p>
          <a:p>
            <a:pPr algn="l">
              <a:lnSpc>
                <a:spcPts val="4340"/>
              </a:lnSpc>
            </a:pPr>
            <a:r>
              <a:rPr lang="en-US" sz="3100">
                <a:solidFill>
                  <a:srgbClr val="000000"/>
                </a:solidFill>
                <a:latin typeface="Times New Roman"/>
                <a:ea typeface="Times New Roman"/>
                <a:cs typeface="Times New Roman"/>
                <a:sym typeface="Times New Roman"/>
              </a:rPr>
              <a:t>-</a:t>
            </a:r>
            <a:r>
              <a:rPr lang="en-US" sz="3100">
                <a:solidFill>
                  <a:srgbClr val="000000"/>
                </a:solidFill>
                <a:latin typeface="Times New Roman"/>
                <a:ea typeface="Times New Roman"/>
                <a:cs typeface="Times New Roman"/>
                <a:sym typeface="Times New Roman"/>
              </a:rPr>
              <a:t>Khi trục van điều khiển không quay và đứng ở vị trí trung gian, dầu do bơm cung cấp sẽ chảy trực tiếp qua cổng và quay trở lại bình chứa. </a:t>
            </a:r>
          </a:p>
          <a:p>
            <a:pPr algn="l">
              <a:lnSpc>
                <a:spcPts val="4340"/>
              </a:lnSpc>
            </a:pPr>
            <a:r>
              <a:rPr lang="en-US" sz="3100">
                <a:solidFill>
                  <a:srgbClr val="000000"/>
                </a:solidFill>
                <a:latin typeface="Times New Roman"/>
                <a:ea typeface="Times New Roman"/>
                <a:cs typeface="Times New Roman"/>
                <a:sym typeface="Times New Roman"/>
              </a:rPr>
              <a:t>-</a:t>
            </a:r>
            <a:r>
              <a:rPr lang="en-US" sz="3100">
                <a:solidFill>
                  <a:srgbClr val="000000"/>
                </a:solidFill>
                <a:latin typeface="Times New Roman"/>
                <a:ea typeface="Times New Roman"/>
                <a:cs typeface="Times New Roman"/>
                <a:sym typeface="Times New Roman"/>
              </a:rPr>
              <a:t>Hai buồng trái và phải của xi lanh trợ lực chịu áp suất ngang bằng nhau và không có sự chênh lệch áp suất, do đó không sinh ra lực trợ lực.</a:t>
            </a:r>
          </a:p>
          <a:p>
            <a:pPr algn="l">
              <a:lnSpc>
                <a:spcPts val="4200"/>
              </a:lnSpc>
              <a:spcBef>
                <a:spcPct val="0"/>
              </a:spcBef>
            </a:pPr>
          </a:p>
        </p:txBody>
      </p:sp>
      <p:sp>
        <p:nvSpPr>
          <p:cNvPr name="TextBox 11" id="11"/>
          <p:cNvSpPr txBox="true"/>
          <p:nvPr/>
        </p:nvSpPr>
        <p:spPr>
          <a:xfrm rot="0">
            <a:off x="9843928" y="8677275"/>
            <a:ext cx="7089696" cy="1076325"/>
          </a:xfrm>
          <a:prstGeom prst="rect">
            <a:avLst/>
          </a:prstGeom>
        </p:spPr>
        <p:txBody>
          <a:bodyPr anchor="t" rtlCol="false" tIns="0" lIns="0" bIns="0" rIns="0">
            <a:spAutoFit/>
          </a:bodyPr>
          <a:lstStyle/>
          <a:p>
            <a:pPr algn="ctr">
              <a:lnSpc>
                <a:spcPts val="4200"/>
              </a:lnSpc>
            </a:pPr>
            <a:r>
              <a:rPr lang="en-US" sz="3000">
                <a:solidFill>
                  <a:srgbClr val="000000"/>
                </a:solidFill>
                <a:latin typeface="Times New Roman"/>
                <a:ea typeface="Times New Roman"/>
                <a:cs typeface="Times New Roman"/>
                <a:sym typeface="Times New Roman"/>
              </a:rPr>
              <a:t>Van quay ở vị trí trung gian khi xe chạy thẳng.</a:t>
            </a:r>
          </a:p>
          <a:p>
            <a:pPr algn="ctr">
              <a:lnSpc>
                <a:spcPts val="420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10121165" y="3028375"/>
            <a:ext cx="6110765" cy="5499688"/>
          </a:xfrm>
          <a:custGeom>
            <a:avLst/>
            <a:gdLst/>
            <a:ahLst/>
            <a:cxnLst/>
            <a:rect r="r" b="b" t="t" l="l"/>
            <a:pathLst>
              <a:path h="5499688" w="6110765">
                <a:moveTo>
                  <a:pt x="0" y="0"/>
                </a:moveTo>
                <a:lnTo>
                  <a:pt x="6110765" y="0"/>
                </a:lnTo>
                <a:lnTo>
                  <a:pt x="6110765" y="5499688"/>
                </a:lnTo>
                <a:lnTo>
                  <a:pt x="0" y="5499688"/>
                </a:lnTo>
                <a:lnTo>
                  <a:pt x="0" y="0"/>
                </a:lnTo>
                <a:close/>
              </a:path>
            </a:pathLst>
          </a:custGeom>
          <a:blipFill>
            <a:blip r:embed="rId4"/>
            <a:stretch>
              <a:fillRect l="0" t="0" r="0" b="0"/>
            </a:stretch>
          </a:blipFill>
        </p:spPr>
      </p:sp>
      <p:sp>
        <p:nvSpPr>
          <p:cNvPr name="TextBox 8" id="8"/>
          <p:cNvSpPr txBox="true"/>
          <p:nvPr/>
        </p:nvSpPr>
        <p:spPr>
          <a:xfrm rot="0">
            <a:off x="206870" y="2234625"/>
            <a:ext cx="9859408" cy="574675"/>
          </a:xfrm>
          <a:prstGeom prst="rect">
            <a:avLst/>
          </a:prstGeom>
        </p:spPr>
        <p:txBody>
          <a:bodyPr anchor="t" rtlCol="false" tIns="0" lIns="0" bIns="0" rIns="0">
            <a:spAutoFit/>
          </a:bodyPr>
          <a:lstStyle/>
          <a:p>
            <a:pPr algn="ctr">
              <a:lnSpc>
                <a:spcPts val="4549"/>
              </a:lnSpc>
              <a:spcBef>
                <a:spcPct val="0"/>
              </a:spcBef>
            </a:pPr>
            <a:r>
              <a:rPr lang="en-US" b="true" sz="3249">
                <a:solidFill>
                  <a:srgbClr val="000000"/>
                </a:solidFill>
                <a:latin typeface="Times New Roman Bold"/>
                <a:ea typeface="Times New Roman Bold"/>
                <a:cs typeface="Times New Roman Bold"/>
                <a:sym typeface="Times New Roman Bold"/>
              </a:rPr>
              <a:t>C</a:t>
            </a:r>
            <a:r>
              <a:rPr lang="en-US" b="true" sz="3249">
                <a:solidFill>
                  <a:srgbClr val="000000"/>
                </a:solidFill>
                <a:latin typeface="Times New Roman Bold"/>
                <a:ea typeface="Times New Roman Bold"/>
                <a:cs typeface="Times New Roman Bold"/>
                <a:sym typeface="Times New Roman Bold"/>
              </a:rPr>
              <a:t>ách hoạt động của hệ thống lái trợ lực thủy lực </a:t>
            </a:r>
          </a:p>
        </p:txBody>
      </p:sp>
      <p:sp>
        <p:nvSpPr>
          <p:cNvPr name="TextBox 9" id="9"/>
          <p:cNvSpPr txBox="true"/>
          <p:nvPr/>
        </p:nvSpPr>
        <p:spPr>
          <a:xfrm rot="0">
            <a:off x="759956" y="2942650"/>
            <a:ext cx="5072658" cy="549910"/>
          </a:xfrm>
          <a:prstGeom prst="rect">
            <a:avLst/>
          </a:prstGeom>
        </p:spPr>
        <p:txBody>
          <a:bodyPr anchor="t" rtlCol="false" tIns="0" lIns="0" bIns="0" rIns="0">
            <a:spAutoFit/>
          </a:bodyPr>
          <a:lstStyle/>
          <a:p>
            <a:pPr algn="ctr">
              <a:lnSpc>
                <a:spcPts val="4340"/>
              </a:lnSpc>
              <a:spcBef>
                <a:spcPct val="0"/>
              </a:spcBef>
            </a:pPr>
            <a:r>
              <a:rPr lang="en-US" sz="3100">
                <a:solidFill>
                  <a:srgbClr val="000000"/>
                </a:solidFill>
                <a:latin typeface="Times New Roman"/>
                <a:ea typeface="Times New Roman"/>
                <a:cs typeface="Times New Roman"/>
                <a:sym typeface="Times New Roman"/>
              </a:rPr>
              <a:t>Van quay khi đánh lái sang trái  </a:t>
            </a:r>
          </a:p>
        </p:txBody>
      </p:sp>
      <p:sp>
        <p:nvSpPr>
          <p:cNvPr name="TextBox 10" id="10"/>
          <p:cNvSpPr txBox="true"/>
          <p:nvPr/>
        </p:nvSpPr>
        <p:spPr>
          <a:xfrm rot="0">
            <a:off x="1284366" y="3676548"/>
            <a:ext cx="7134635" cy="5876925"/>
          </a:xfrm>
          <a:prstGeom prst="rect">
            <a:avLst/>
          </a:prstGeom>
        </p:spPr>
        <p:txBody>
          <a:bodyPr anchor="t" rtlCol="false" tIns="0" lIns="0" bIns="0" rIns="0">
            <a:spAutoFit/>
          </a:bodyPr>
          <a:lstStyle/>
          <a:p>
            <a:pPr algn="l">
              <a:lnSpc>
                <a:spcPts val="4200"/>
              </a:lnSpc>
            </a:pPr>
            <a:r>
              <a:rPr lang="en-US" sz="3000">
                <a:solidFill>
                  <a:srgbClr val="000000"/>
                </a:solidFill>
                <a:latin typeface="Times New Roman"/>
                <a:ea typeface="Times New Roman"/>
                <a:cs typeface="Times New Roman"/>
                <a:sym typeface="Times New Roman"/>
              </a:rPr>
              <a:t>Đánh lái trái:</a:t>
            </a:r>
          </a:p>
          <a:p>
            <a:pPr algn="l">
              <a:lnSpc>
                <a:spcPts val="4200"/>
              </a:lnSpc>
            </a:pPr>
            <a:r>
              <a:rPr lang="en-US" sz="3000">
                <a:solidFill>
                  <a:srgbClr val="000000"/>
                </a:solidFill>
                <a:latin typeface="Times New Roman"/>
                <a:ea typeface="Times New Roman"/>
                <a:cs typeface="Times New Roman"/>
                <a:sym typeface="Times New Roman"/>
              </a:rPr>
              <a:t>-</a:t>
            </a:r>
            <a:r>
              <a:rPr lang="en-US" sz="3000">
                <a:solidFill>
                  <a:srgbClr val="000000"/>
                </a:solidFill>
                <a:latin typeface="Times New Roman"/>
                <a:ea typeface="Times New Roman"/>
                <a:cs typeface="Times New Roman"/>
                <a:sym typeface="Times New Roman"/>
              </a:rPr>
              <a:t>Khi người lái quay vô lăng sang trái, thanh xoắn bị xoắn làm trục van điều khiển quay theo. </a:t>
            </a:r>
          </a:p>
          <a:p>
            <a:pPr algn="l">
              <a:lnSpc>
                <a:spcPts val="4200"/>
              </a:lnSpc>
            </a:pPr>
            <a:r>
              <a:rPr lang="en-US" sz="3000">
                <a:solidFill>
                  <a:srgbClr val="000000"/>
                </a:solidFill>
                <a:latin typeface="Times New Roman"/>
                <a:ea typeface="Times New Roman"/>
                <a:cs typeface="Times New Roman"/>
                <a:sym typeface="Times New Roman"/>
              </a:rPr>
              <a:t>-</a:t>
            </a:r>
            <a:r>
              <a:rPr lang="en-US" sz="3000">
                <a:solidFill>
                  <a:srgbClr val="000000"/>
                </a:solidFill>
                <a:latin typeface="Times New Roman"/>
                <a:ea typeface="Times New Roman"/>
                <a:cs typeface="Times New Roman"/>
                <a:sym typeface="Times New Roman"/>
              </a:rPr>
              <a:t>Dầu từ bơm được chuyển hướng chảy qua ống nối để đi vào buồng xi lanh trái, tạo áp suất đẩy pít-tông và thanh răng dịch chuyển sang phải (tạo lực trợ lực theo chiều quay). </a:t>
            </a:r>
          </a:p>
          <a:p>
            <a:pPr algn="l">
              <a:lnSpc>
                <a:spcPts val="4200"/>
              </a:lnSpc>
            </a:pPr>
            <a:r>
              <a:rPr lang="en-US" sz="3000">
                <a:solidFill>
                  <a:srgbClr val="000000"/>
                </a:solidFill>
                <a:latin typeface="Times New Roman"/>
                <a:ea typeface="Times New Roman"/>
                <a:cs typeface="Times New Roman"/>
                <a:sym typeface="Times New Roman"/>
              </a:rPr>
              <a:t>-</a:t>
            </a:r>
            <a:r>
              <a:rPr lang="en-US" sz="3000">
                <a:solidFill>
                  <a:srgbClr val="000000"/>
                </a:solidFill>
                <a:latin typeface="Times New Roman"/>
                <a:ea typeface="Times New Roman"/>
                <a:cs typeface="Times New Roman"/>
                <a:sym typeface="Times New Roman"/>
              </a:rPr>
              <a:t>Đồng thời, lượng dầu ở buồng xi lanh phải sẽ bị ép chảy ngược về bình chứa.</a:t>
            </a:r>
          </a:p>
          <a:p>
            <a:pPr algn="l">
              <a:lnSpc>
                <a:spcPts val="4200"/>
              </a:lnSpc>
              <a:spcBef>
                <a:spcPct val="0"/>
              </a:spcBef>
            </a:pPr>
          </a:p>
        </p:txBody>
      </p:sp>
      <p:sp>
        <p:nvSpPr>
          <p:cNvPr name="TextBox 11" id="11"/>
          <p:cNvSpPr txBox="true"/>
          <p:nvPr/>
        </p:nvSpPr>
        <p:spPr>
          <a:xfrm rot="0">
            <a:off x="8489552" y="8677275"/>
            <a:ext cx="9798448" cy="1076325"/>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Times New Roman"/>
                <a:ea typeface="Times New Roman"/>
                <a:cs typeface="Times New Roman"/>
                <a:sym typeface="Times New Roman"/>
              </a:rPr>
              <a:t>Van quay khi đánh lái sang trái: dầu chảy vào buồng xi lanh trái.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10073509" y="2765986"/>
            <a:ext cx="6110765" cy="5499688"/>
          </a:xfrm>
          <a:custGeom>
            <a:avLst/>
            <a:gdLst/>
            <a:ahLst/>
            <a:cxnLst/>
            <a:rect r="r" b="b" t="t" l="l"/>
            <a:pathLst>
              <a:path h="5499688" w="6110765">
                <a:moveTo>
                  <a:pt x="0" y="0"/>
                </a:moveTo>
                <a:lnTo>
                  <a:pt x="6110765" y="0"/>
                </a:lnTo>
                <a:lnTo>
                  <a:pt x="6110765" y="5499688"/>
                </a:lnTo>
                <a:lnTo>
                  <a:pt x="0" y="5499688"/>
                </a:lnTo>
                <a:lnTo>
                  <a:pt x="0" y="0"/>
                </a:lnTo>
                <a:close/>
              </a:path>
            </a:pathLst>
          </a:custGeom>
          <a:blipFill>
            <a:blip r:embed="rId4"/>
            <a:stretch>
              <a:fillRect l="0" t="0" r="0" b="0"/>
            </a:stretch>
          </a:blipFill>
        </p:spPr>
      </p:sp>
      <p:sp>
        <p:nvSpPr>
          <p:cNvPr name="TextBox 8" id="8"/>
          <p:cNvSpPr txBox="true"/>
          <p:nvPr/>
        </p:nvSpPr>
        <p:spPr>
          <a:xfrm rot="0">
            <a:off x="206870" y="2234625"/>
            <a:ext cx="9859408" cy="574675"/>
          </a:xfrm>
          <a:prstGeom prst="rect">
            <a:avLst/>
          </a:prstGeom>
        </p:spPr>
        <p:txBody>
          <a:bodyPr anchor="t" rtlCol="false" tIns="0" lIns="0" bIns="0" rIns="0">
            <a:spAutoFit/>
          </a:bodyPr>
          <a:lstStyle/>
          <a:p>
            <a:pPr algn="ctr">
              <a:lnSpc>
                <a:spcPts val="4549"/>
              </a:lnSpc>
              <a:spcBef>
                <a:spcPct val="0"/>
              </a:spcBef>
            </a:pPr>
            <a:r>
              <a:rPr lang="en-US" b="true" sz="3249">
                <a:solidFill>
                  <a:srgbClr val="000000"/>
                </a:solidFill>
                <a:latin typeface="Times New Roman Bold"/>
                <a:ea typeface="Times New Roman Bold"/>
                <a:cs typeface="Times New Roman Bold"/>
                <a:sym typeface="Times New Roman Bold"/>
              </a:rPr>
              <a:t>C</a:t>
            </a:r>
            <a:r>
              <a:rPr lang="en-US" b="true" sz="3249">
                <a:solidFill>
                  <a:srgbClr val="000000"/>
                </a:solidFill>
                <a:latin typeface="Times New Roman Bold"/>
                <a:ea typeface="Times New Roman Bold"/>
                <a:cs typeface="Times New Roman Bold"/>
                <a:sym typeface="Times New Roman Bold"/>
              </a:rPr>
              <a:t>ách hoạt động của hệ thống lái trợ lực thủy lực </a:t>
            </a:r>
          </a:p>
        </p:txBody>
      </p:sp>
      <p:sp>
        <p:nvSpPr>
          <p:cNvPr name="TextBox 9" id="9"/>
          <p:cNvSpPr txBox="true"/>
          <p:nvPr/>
        </p:nvSpPr>
        <p:spPr>
          <a:xfrm rot="0">
            <a:off x="976311" y="3124877"/>
            <a:ext cx="5324118" cy="549910"/>
          </a:xfrm>
          <a:prstGeom prst="rect">
            <a:avLst/>
          </a:prstGeom>
        </p:spPr>
        <p:txBody>
          <a:bodyPr anchor="t" rtlCol="false" tIns="0" lIns="0" bIns="0" rIns="0">
            <a:spAutoFit/>
          </a:bodyPr>
          <a:lstStyle/>
          <a:p>
            <a:pPr algn="ctr">
              <a:lnSpc>
                <a:spcPts val="4340"/>
              </a:lnSpc>
              <a:spcBef>
                <a:spcPct val="0"/>
              </a:spcBef>
            </a:pPr>
            <a:r>
              <a:rPr lang="en-US" sz="3100">
                <a:solidFill>
                  <a:srgbClr val="000000"/>
                </a:solidFill>
                <a:latin typeface="Times New Roman"/>
                <a:ea typeface="Times New Roman"/>
                <a:cs typeface="Times New Roman"/>
                <a:sym typeface="Times New Roman"/>
              </a:rPr>
              <a:t>Van quay khi đánh lái sang phải   </a:t>
            </a:r>
          </a:p>
        </p:txBody>
      </p:sp>
      <p:sp>
        <p:nvSpPr>
          <p:cNvPr name="TextBox 10" id="10"/>
          <p:cNvSpPr txBox="true"/>
          <p:nvPr/>
        </p:nvSpPr>
        <p:spPr>
          <a:xfrm rot="0">
            <a:off x="1197738" y="3990364"/>
            <a:ext cx="7134635" cy="4810125"/>
          </a:xfrm>
          <a:prstGeom prst="rect">
            <a:avLst/>
          </a:prstGeom>
        </p:spPr>
        <p:txBody>
          <a:bodyPr anchor="t" rtlCol="false" tIns="0" lIns="0" bIns="0" rIns="0">
            <a:spAutoFit/>
          </a:bodyPr>
          <a:lstStyle/>
          <a:p>
            <a:pPr algn="l">
              <a:lnSpc>
                <a:spcPts val="4200"/>
              </a:lnSpc>
            </a:pPr>
            <a:r>
              <a:rPr lang="en-US" sz="3000">
                <a:solidFill>
                  <a:srgbClr val="000000"/>
                </a:solidFill>
                <a:latin typeface="Times New Roman"/>
                <a:ea typeface="Times New Roman"/>
                <a:cs typeface="Times New Roman"/>
                <a:sym typeface="Times New Roman"/>
              </a:rPr>
              <a:t>Đánh lái phải:</a:t>
            </a:r>
          </a:p>
          <a:p>
            <a:pPr algn="l">
              <a:lnSpc>
                <a:spcPts val="4200"/>
              </a:lnSpc>
            </a:pPr>
            <a:r>
              <a:rPr lang="en-US" sz="3000">
                <a:solidFill>
                  <a:srgbClr val="000000"/>
                </a:solidFill>
                <a:latin typeface="Times New Roman"/>
                <a:ea typeface="Times New Roman"/>
                <a:cs typeface="Times New Roman"/>
                <a:sym typeface="Times New Roman"/>
              </a:rPr>
              <a:t>-</a:t>
            </a:r>
            <a:r>
              <a:rPr lang="en-US" sz="3000">
                <a:solidFill>
                  <a:srgbClr val="000000"/>
                </a:solidFill>
                <a:latin typeface="Times New Roman"/>
                <a:ea typeface="Times New Roman"/>
                <a:cs typeface="Times New Roman"/>
                <a:sym typeface="Times New Roman"/>
              </a:rPr>
              <a:t>Khi người lái quay vô lăng sang phải, thanh xoắn bị xoắn theo chiều ngược lại. </a:t>
            </a:r>
          </a:p>
          <a:p>
            <a:pPr algn="l">
              <a:lnSpc>
                <a:spcPts val="4200"/>
              </a:lnSpc>
            </a:pPr>
            <a:r>
              <a:rPr lang="en-US" sz="3000">
                <a:solidFill>
                  <a:srgbClr val="000000"/>
                </a:solidFill>
                <a:latin typeface="Times New Roman"/>
                <a:ea typeface="Times New Roman"/>
                <a:cs typeface="Times New Roman"/>
                <a:sym typeface="Times New Roman"/>
              </a:rPr>
              <a:t>-</a:t>
            </a:r>
            <a:r>
              <a:rPr lang="en-US" sz="3000">
                <a:solidFill>
                  <a:srgbClr val="000000"/>
                </a:solidFill>
                <a:latin typeface="Times New Roman"/>
                <a:ea typeface="Times New Roman"/>
                <a:cs typeface="Times New Roman"/>
                <a:sym typeface="Times New Roman"/>
              </a:rPr>
              <a:t>Dầu được điều hướng chảy vào buồng xi lanh phải, tạo áp suất đẩy pít-tông và thanh răng dịch chuyển sang trái. </a:t>
            </a:r>
          </a:p>
          <a:p>
            <a:pPr algn="l">
              <a:lnSpc>
                <a:spcPts val="4200"/>
              </a:lnSpc>
            </a:pPr>
            <a:r>
              <a:rPr lang="en-US" sz="3000">
                <a:solidFill>
                  <a:srgbClr val="000000"/>
                </a:solidFill>
                <a:latin typeface="Times New Roman"/>
                <a:ea typeface="Times New Roman"/>
                <a:cs typeface="Times New Roman"/>
                <a:sym typeface="Times New Roman"/>
              </a:rPr>
              <a:t>-</a:t>
            </a:r>
            <a:r>
              <a:rPr lang="en-US" sz="3000">
                <a:solidFill>
                  <a:srgbClr val="000000"/>
                </a:solidFill>
                <a:latin typeface="Times New Roman"/>
                <a:ea typeface="Times New Roman"/>
                <a:cs typeface="Times New Roman"/>
                <a:sym typeface="Times New Roman"/>
              </a:rPr>
              <a:t>Dầu ở buồng xi lanh trái lúc này được đẩy thoát về bình chứa. </a:t>
            </a:r>
          </a:p>
          <a:p>
            <a:pPr algn="l">
              <a:lnSpc>
                <a:spcPts val="4200"/>
              </a:lnSpc>
              <a:spcBef>
                <a:spcPct val="0"/>
              </a:spcBef>
            </a:pPr>
          </a:p>
        </p:txBody>
      </p:sp>
      <p:sp>
        <p:nvSpPr>
          <p:cNvPr name="TextBox 11" id="11"/>
          <p:cNvSpPr txBox="true"/>
          <p:nvPr/>
        </p:nvSpPr>
        <p:spPr>
          <a:xfrm rot="0">
            <a:off x="8229668" y="8399024"/>
            <a:ext cx="9798448" cy="1076325"/>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Times New Roman"/>
                <a:ea typeface="Times New Roman"/>
                <a:cs typeface="Times New Roman"/>
                <a:sym typeface="Times New Roman"/>
              </a:rPr>
              <a:t>Van quay khi đánh lái sang phải: dầu chảy vào buồng xi lanh phải</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649041" y="2098910"/>
            <a:ext cx="5274455" cy="1107636"/>
          </a:xfrm>
          <a:custGeom>
            <a:avLst/>
            <a:gdLst/>
            <a:ahLst/>
            <a:cxnLst/>
            <a:rect r="r" b="b" t="t" l="l"/>
            <a:pathLst>
              <a:path h="1107636" w="5274455">
                <a:moveTo>
                  <a:pt x="0" y="0"/>
                </a:moveTo>
                <a:lnTo>
                  <a:pt x="5274455" y="0"/>
                </a:lnTo>
                <a:lnTo>
                  <a:pt x="5274455" y="1107635"/>
                </a:lnTo>
                <a:lnTo>
                  <a:pt x="0" y="11076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2251130" y="2049426"/>
            <a:ext cx="5274455" cy="1107636"/>
          </a:xfrm>
          <a:custGeom>
            <a:avLst/>
            <a:gdLst/>
            <a:ahLst/>
            <a:cxnLst/>
            <a:rect r="r" b="b" t="t" l="l"/>
            <a:pathLst>
              <a:path h="1107636" w="5274455">
                <a:moveTo>
                  <a:pt x="0" y="0"/>
                </a:moveTo>
                <a:lnTo>
                  <a:pt x="5274455" y="0"/>
                </a:lnTo>
                <a:lnTo>
                  <a:pt x="5274455" y="1107636"/>
                </a:lnTo>
                <a:lnTo>
                  <a:pt x="0" y="11076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6199776" y="3404712"/>
            <a:ext cx="5888447" cy="4944176"/>
          </a:xfrm>
          <a:custGeom>
            <a:avLst/>
            <a:gdLst/>
            <a:ahLst/>
            <a:cxnLst/>
            <a:rect r="r" b="b" t="t" l="l"/>
            <a:pathLst>
              <a:path h="4944176" w="5888447">
                <a:moveTo>
                  <a:pt x="0" y="0"/>
                </a:moveTo>
                <a:lnTo>
                  <a:pt x="5888448" y="0"/>
                </a:lnTo>
                <a:lnTo>
                  <a:pt x="5888448" y="4944176"/>
                </a:lnTo>
                <a:lnTo>
                  <a:pt x="0" y="4944176"/>
                </a:lnTo>
                <a:lnTo>
                  <a:pt x="0" y="0"/>
                </a:lnTo>
                <a:close/>
              </a:path>
            </a:pathLst>
          </a:custGeom>
          <a:blipFill>
            <a:blip r:embed="rId6"/>
            <a:stretch>
              <a:fillRect l="0" t="-107636" r="0" b="-50309"/>
            </a:stretch>
          </a:blipFill>
        </p:spPr>
      </p:sp>
      <p:sp>
        <p:nvSpPr>
          <p:cNvPr name="TextBox 10" id="10"/>
          <p:cNvSpPr txBox="true"/>
          <p:nvPr/>
        </p:nvSpPr>
        <p:spPr>
          <a:xfrm rot="0">
            <a:off x="1136870" y="3338037"/>
            <a:ext cx="4298796" cy="5236568"/>
          </a:xfrm>
          <a:prstGeom prst="rect">
            <a:avLst/>
          </a:prstGeom>
        </p:spPr>
        <p:txBody>
          <a:bodyPr anchor="t" rtlCol="false" tIns="0" lIns="0" bIns="0" rIns="0">
            <a:spAutoFit/>
          </a:bodyPr>
          <a:lstStyle/>
          <a:p>
            <a:pPr algn="l">
              <a:lnSpc>
                <a:spcPts val="3795"/>
              </a:lnSpc>
            </a:pPr>
            <a:r>
              <a:rPr lang="en-US" sz="2710">
                <a:solidFill>
                  <a:srgbClr val="000000"/>
                </a:solidFill>
                <a:latin typeface="Times New Roman"/>
                <a:ea typeface="Times New Roman"/>
                <a:cs typeface="Times New Roman"/>
                <a:sym typeface="Times New Roman"/>
              </a:rPr>
              <a:t>- Mô-men trợ lực lớn: Khả năng chịu tải cao, phù hợp cho xe thương mại và xe tải trọng lớn.</a:t>
            </a:r>
          </a:p>
          <a:p>
            <a:pPr algn="l">
              <a:lnSpc>
                <a:spcPts val="3795"/>
              </a:lnSpc>
            </a:pPr>
            <a:r>
              <a:rPr lang="en-US" sz="2710">
                <a:solidFill>
                  <a:srgbClr val="000000"/>
                </a:solidFill>
                <a:latin typeface="Times New Roman"/>
                <a:ea typeface="Times New Roman"/>
                <a:cs typeface="Times New Roman"/>
                <a:sym typeface="Times New Roman"/>
              </a:rPr>
              <a:t>-</a:t>
            </a:r>
            <a:r>
              <a:rPr lang="en-US" sz="2710">
                <a:solidFill>
                  <a:srgbClr val="000000"/>
                </a:solidFill>
                <a:latin typeface="Times New Roman"/>
                <a:ea typeface="Times New Roman"/>
                <a:cs typeface="Times New Roman"/>
                <a:sym typeface="Times New Roman"/>
              </a:rPr>
              <a:t>Tối ưu tính tỷ lệ (Độ nhạy lái): Giảm lực vành tay lái mà không làm thay đổi tỷ số truyền cơ cấu lái.</a:t>
            </a:r>
          </a:p>
          <a:p>
            <a:pPr algn="l">
              <a:lnSpc>
                <a:spcPts val="3795"/>
              </a:lnSpc>
            </a:pPr>
            <a:r>
              <a:rPr lang="en-US" sz="2710">
                <a:solidFill>
                  <a:srgbClr val="000000"/>
                </a:solidFill>
                <a:latin typeface="Times New Roman"/>
                <a:ea typeface="Times New Roman"/>
                <a:cs typeface="Times New Roman"/>
                <a:sym typeface="Times New Roman"/>
              </a:rPr>
              <a:t>-</a:t>
            </a:r>
            <a:r>
              <a:rPr lang="en-US" sz="2710">
                <a:solidFill>
                  <a:srgbClr val="000000"/>
                </a:solidFill>
                <a:latin typeface="Times New Roman"/>
                <a:ea typeface="Times New Roman"/>
                <a:cs typeface="Times New Roman"/>
                <a:sym typeface="Times New Roman"/>
              </a:rPr>
              <a:t>Độ tin cậy cơ khí cao: Công nghệ cơ bản, kết cấu vững chắc và chịu va đập tốt.</a:t>
            </a:r>
          </a:p>
        </p:txBody>
      </p:sp>
      <p:sp>
        <p:nvSpPr>
          <p:cNvPr name="TextBox 11" id="11"/>
          <p:cNvSpPr txBox="true"/>
          <p:nvPr/>
        </p:nvSpPr>
        <p:spPr>
          <a:xfrm rot="0">
            <a:off x="12688320" y="3338037"/>
            <a:ext cx="4837265" cy="5236541"/>
          </a:xfrm>
          <a:prstGeom prst="rect">
            <a:avLst/>
          </a:prstGeom>
        </p:spPr>
        <p:txBody>
          <a:bodyPr anchor="t" rtlCol="false" tIns="0" lIns="0" bIns="0" rIns="0">
            <a:spAutoFit/>
          </a:bodyPr>
          <a:lstStyle/>
          <a:p>
            <a:pPr algn="l">
              <a:lnSpc>
                <a:spcPts val="3796"/>
              </a:lnSpc>
            </a:pPr>
            <a:r>
              <a:rPr lang="en-US" sz="2711">
                <a:solidFill>
                  <a:srgbClr val="000000"/>
                </a:solidFill>
                <a:latin typeface="Times New Roman"/>
                <a:ea typeface="Times New Roman"/>
                <a:cs typeface="Times New Roman"/>
                <a:sym typeface="Times New Roman"/>
              </a:rPr>
              <a:t>-Tổn thất công suất (Parasitic loss): Trích công suất liên tục từ động cơ để lai bơm thủy lực, làm giảm tính kinh tế nhiên liệu.</a:t>
            </a:r>
          </a:p>
          <a:p>
            <a:pPr algn="l">
              <a:lnSpc>
                <a:spcPts val="3796"/>
              </a:lnSpc>
            </a:pPr>
            <a:r>
              <a:rPr lang="en-US" sz="2711">
                <a:solidFill>
                  <a:srgbClr val="000000"/>
                </a:solidFill>
                <a:latin typeface="Times New Roman"/>
                <a:ea typeface="Times New Roman"/>
                <a:cs typeface="Times New Roman"/>
                <a:sym typeface="Times New Roman"/>
              </a:rPr>
              <a:t>-</a:t>
            </a:r>
            <a:r>
              <a:rPr lang="en-US" sz="2711">
                <a:solidFill>
                  <a:srgbClr val="000000"/>
                </a:solidFill>
                <a:latin typeface="Times New Roman"/>
                <a:ea typeface="Times New Roman"/>
                <a:cs typeface="Times New Roman"/>
                <a:sym typeface="Times New Roman"/>
              </a:rPr>
              <a:t>Kết cấu cồng kềnh: Khối lượng lớn và chiếm nhiều không gian bố trí hơn so với trợ lực điện.</a:t>
            </a:r>
          </a:p>
          <a:p>
            <a:pPr algn="l">
              <a:lnSpc>
                <a:spcPts val="3796"/>
              </a:lnSpc>
            </a:pPr>
            <a:r>
              <a:rPr lang="en-US" sz="2711">
                <a:solidFill>
                  <a:srgbClr val="000000"/>
                </a:solidFill>
                <a:latin typeface="Times New Roman"/>
                <a:ea typeface="Times New Roman"/>
                <a:cs typeface="Times New Roman"/>
                <a:sym typeface="Times New Roman"/>
              </a:rPr>
              <a:t>-</a:t>
            </a:r>
            <a:r>
              <a:rPr lang="en-US" sz="2711">
                <a:solidFill>
                  <a:srgbClr val="000000"/>
                </a:solidFill>
                <a:latin typeface="Times New Roman"/>
                <a:ea typeface="Times New Roman"/>
                <a:cs typeface="Times New Roman"/>
                <a:sym typeface="Times New Roman"/>
              </a:rPr>
              <a:t>Chi phí bảo dưỡng cao: Cần kiểm tra định kỳ dây đai, thay dầu trợ lực và dễ phát sinh lỗi rò rỉ môi chất (xì phớt, bục tuy-ô).</a:t>
            </a:r>
          </a:p>
        </p:txBody>
      </p:sp>
      <p:sp>
        <p:nvSpPr>
          <p:cNvPr name="TextBox 12" id="12"/>
          <p:cNvSpPr txBox="true"/>
          <p:nvPr/>
        </p:nvSpPr>
        <p:spPr>
          <a:xfrm rot="0">
            <a:off x="-468718" y="2246328"/>
            <a:ext cx="7212100" cy="708024"/>
          </a:xfrm>
          <a:prstGeom prst="rect">
            <a:avLst/>
          </a:prstGeom>
        </p:spPr>
        <p:txBody>
          <a:bodyPr anchor="t" rtlCol="false" tIns="0" lIns="0" bIns="0" rIns="0">
            <a:spAutoFit/>
          </a:bodyPr>
          <a:lstStyle/>
          <a:p>
            <a:pPr algn="ctr">
              <a:lnSpc>
                <a:spcPts val="5600"/>
              </a:lnSpc>
            </a:pPr>
            <a:r>
              <a:rPr lang="en-US" sz="4000">
                <a:gradFill>
                  <a:gsLst>
                    <a:gs pos="0">
                      <a:srgbClr val="FF5757">
                        <a:alpha val="100000"/>
                      </a:srgbClr>
                    </a:gs>
                    <a:gs pos="100000">
                      <a:srgbClr val="8C52FF">
                        <a:alpha val="100000"/>
                      </a:srgbClr>
                    </a:gs>
                  </a:gsLst>
                  <a:lin ang="0"/>
                </a:gradFill>
                <a:latin typeface="Times New Roman"/>
                <a:ea typeface="Times New Roman"/>
                <a:cs typeface="Times New Roman"/>
                <a:sym typeface="Times New Roman"/>
              </a:rPr>
              <a:t>Ư</a:t>
            </a:r>
            <a:r>
              <a:rPr lang="en-US" sz="4000">
                <a:gradFill>
                  <a:gsLst>
                    <a:gs pos="0">
                      <a:srgbClr val="FF5757">
                        <a:alpha val="100000"/>
                      </a:srgbClr>
                    </a:gs>
                    <a:gs pos="100000">
                      <a:srgbClr val="8C52FF">
                        <a:alpha val="100000"/>
                      </a:srgbClr>
                    </a:gs>
                  </a:gsLst>
                  <a:lin ang="0"/>
                </a:gradFill>
                <a:latin typeface="Times New Roman"/>
                <a:ea typeface="Times New Roman"/>
                <a:cs typeface="Times New Roman"/>
                <a:sym typeface="Times New Roman"/>
              </a:rPr>
              <a:t>u điểm</a:t>
            </a:r>
          </a:p>
        </p:txBody>
      </p:sp>
      <p:sp>
        <p:nvSpPr>
          <p:cNvPr name="TextBox 13" id="13"/>
          <p:cNvSpPr txBox="true"/>
          <p:nvPr/>
        </p:nvSpPr>
        <p:spPr>
          <a:xfrm rot="0">
            <a:off x="11282308" y="2246328"/>
            <a:ext cx="7212100" cy="708024"/>
          </a:xfrm>
          <a:prstGeom prst="rect">
            <a:avLst/>
          </a:prstGeom>
        </p:spPr>
        <p:txBody>
          <a:bodyPr anchor="t" rtlCol="false" tIns="0" lIns="0" bIns="0" rIns="0">
            <a:spAutoFit/>
          </a:bodyPr>
          <a:lstStyle/>
          <a:p>
            <a:pPr algn="ctr">
              <a:lnSpc>
                <a:spcPts val="5600"/>
              </a:lnSpc>
            </a:pPr>
            <a:r>
              <a:rPr lang="en-US" b="true" sz="4000">
                <a:gradFill>
                  <a:gsLst>
                    <a:gs pos="0">
                      <a:srgbClr val="FF5757">
                        <a:alpha val="100000"/>
                      </a:srgbClr>
                    </a:gs>
                    <a:gs pos="100000">
                      <a:srgbClr val="8C52FF">
                        <a:alpha val="100000"/>
                      </a:srgbClr>
                    </a:gs>
                  </a:gsLst>
                  <a:lin ang="0"/>
                </a:gradFill>
                <a:latin typeface="Times New Roman Bold"/>
                <a:ea typeface="Times New Roman Bold"/>
                <a:cs typeface="Times New Roman Bold"/>
                <a:sym typeface="Times New Roman Bold"/>
              </a:rPr>
              <a:t>Nhược điểm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pic>
        <p:nvPicPr>
          <p:cNvPr name="Picture 7" id="7"/>
          <p:cNvPicPr>
            <a:picLocks noChangeAspect="true"/>
          </p:cNvPicPr>
          <p:nvPr/>
        </p:nvPicPr>
        <p:blipFill>
          <a:blip r:embed="rId4"/>
          <a:srcRect l="0" t="0" r="0" b="0"/>
          <a:stretch>
            <a:fillRect/>
          </a:stretch>
        </p:blipFill>
        <p:spPr>
          <a:xfrm flipH="false" flipV="false" rot="0">
            <a:off x="3638370" y="2057400"/>
            <a:ext cx="12130644" cy="82296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1359937" y="2075512"/>
            <a:ext cx="15205359" cy="8211488"/>
          </a:xfrm>
          <a:custGeom>
            <a:avLst/>
            <a:gdLst/>
            <a:ahLst/>
            <a:cxnLst/>
            <a:rect r="r" b="b" t="t" l="l"/>
            <a:pathLst>
              <a:path h="8211488" w="15205359">
                <a:moveTo>
                  <a:pt x="0" y="0"/>
                </a:moveTo>
                <a:lnTo>
                  <a:pt x="15205358" y="0"/>
                </a:lnTo>
                <a:lnTo>
                  <a:pt x="15205358" y="8211488"/>
                </a:lnTo>
                <a:lnTo>
                  <a:pt x="0" y="8211488"/>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2728553" y="1788949"/>
            <a:ext cx="13463463" cy="9098356"/>
          </a:xfrm>
          <a:custGeom>
            <a:avLst/>
            <a:gdLst/>
            <a:ahLst/>
            <a:cxnLst/>
            <a:rect r="r" b="b" t="t" l="l"/>
            <a:pathLst>
              <a:path h="9098356" w="13463463">
                <a:moveTo>
                  <a:pt x="0" y="0"/>
                </a:moveTo>
                <a:lnTo>
                  <a:pt x="13463463" y="0"/>
                </a:lnTo>
                <a:lnTo>
                  <a:pt x="13463463" y="9098356"/>
                </a:lnTo>
                <a:lnTo>
                  <a:pt x="0" y="9098356"/>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2578550" y="1794837"/>
            <a:ext cx="13718277" cy="9029413"/>
          </a:xfrm>
          <a:custGeom>
            <a:avLst/>
            <a:gdLst/>
            <a:ahLst/>
            <a:cxnLst/>
            <a:rect r="r" b="b" t="t" l="l"/>
            <a:pathLst>
              <a:path h="9029413" w="13718277">
                <a:moveTo>
                  <a:pt x="0" y="0"/>
                </a:moveTo>
                <a:lnTo>
                  <a:pt x="13718277" y="0"/>
                </a:lnTo>
                <a:lnTo>
                  <a:pt x="13718277" y="9029412"/>
                </a:lnTo>
                <a:lnTo>
                  <a:pt x="0" y="9029412"/>
                </a:lnTo>
                <a:lnTo>
                  <a:pt x="0" y="0"/>
                </a:lnTo>
                <a:close/>
              </a:path>
            </a:pathLst>
          </a:custGeom>
          <a:blipFill>
            <a:blip r:embed="rId4"/>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2795401" y="1686517"/>
            <a:ext cx="14071053" cy="8780667"/>
          </a:xfrm>
          <a:custGeom>
            <a:avLst/>
            <a:gdLst/>
            <a:ahLst/>
            <a:cxnLst/>
            <a:rect r="r" b="b" t="t" l="l"/>
            <a:pathLst>
              <a:path h="8780667" w="14071053">
                <a:moveTo>
                  <a:pt x="0" y="0"/>
                </a:moveTo>
                <a:lnTo>
                  <a:pt x="14071054" y="0"/>
                </a:lnTo>
                <a:lnTo>
                  <a:pt x="14071054" y="8780667"/>
                </a:lnTo>
                <a:lnTo>
                  <a:pt x="0" y="8780667"/>
                </a:lnTo>
                <a:lnTo>
                  <a:pt x="0" y="0"/>
                </a:lnTo>
                <a:close/>
              </a:path>
            </a:pathLst>
          </a:custGeom>
          <a:blipFill>
            <a:blip r:embed="rId4"/>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756641" y="1505343"/>
            <a:ext cx="14139020" cy="8781657"/>
          </a:xfrm>
          <a:custGeom>
            <a:avLst/>
            <a:gdLst/>
            <a:ahLst/>
            <a:cxnLst/>
            <a:rect r="r" b="b" t="t" l="l"/>
            <a:pathLst>
              <a:path h="8781657" w="14139020">
                <a:moveTo>
                  <a:pt x="0" y="0"/>
                </a:moveTo>
                <a:lnTo>
                  <a:pt x="14139020" y="0"/>
                </a:lnTo>
                <a:lnTo>
                  <a:pt x="14139020" y="8781657"/>
                </a:lnTo>
                <a:lnTo>
                  <a:pt x="0" y="8781657"/>
                </a:lnTo>
                <a:lnTo>
                  <a:pt x="0" y="0"/>
                </a:lnTo>
                <a:close/>
              </a:path>
            </a:pathLst>
          </a:custGeom>
          <a:blipFill>
            <a:blip r:embed="rId3"/>
            <a:stretch>
              <a:fillRect l="0" t="0" r="0" b="0"/>
            </a:stretch>
          </a:blipFill>
        </p:spPr>
      </p:sp>
      <p:sp>
        <p:nvSpPr>
          <p:cNvPr name="Freeform 4" id="4"/>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4"/>
            <a:stretch>
              <a:fillRect l="-2068" t="0" r="-1573" b="-7769"/>
            </a:stretch>
          </a:blipFill>
        </p:spPr>
      </p:sp>
      <p:sp>
        <p:nvSpPr>
          <p:cNvPr name="TextBox 5" id="5"/>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6" id="6"/>
          <p:cNvGrpSpPr/>
          <p:nvPr/>
        </p:nvGrpSpPr>
        <p:grpSpPr>
          <a:xfrm rot="0">
            <a:off x="5656704" y="1505343"/>
            <a:ext cx="9387053" cy="181174"/>
            <a:chOff x="0" y="0"/>
            <a:chExt cx="12516070" cy="241565"/>
          </a:xfrm>
        </p:grpSpPr>
        <p:sp>
          <p:nvSpPr>
            <p:cNvPr name="Freeform 7" id="7"/>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570383" y="1956917"/>
            <a:ext cx="8268424" cy="1608584"/>
          </a:xfrm>
          <a:custGeom>
            <a:avLst/>
            <a:gdLst/>
            <a:ahLst/>
            <a:cxnLst/>
            <a:rect r="r" b="b" t="t" l="l"/>
            <a:pathLst>
              <a:path h="1608584" w="8268424">
                <a:moveTo>
                  <a:pt x="0" y="0"/>
                </a:moveTo>
                <a:lnTo>
                  <a:pt x="8268424" y="0"/>
                </a:lnTo>
                <a:lnTo>
                  <a:pt x="8268424" y="1608584"/>
                </a:lnTo>
                <a:lnTo>
                  <a:pt x="0" y="16085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077801" y="5297859"/>
            <a:ext cx="5405135" cy="5158779"/>
          </a:xfrm>
          <a:custGeom>
            <a:avLst/>
            <a:gdLst/>
            <a:ahLst/>
            <a:cxnLst/>
            <a:rect r="r" b="b" t="t" l="l"/>
            <a:pathLst>
              <a:path h="5158779" w="5405135">
                <a:moveTo>
                  <a:pt x="0" y="0"/>
                </a:moveTo>
                <a:lnTo>
                  <a:pt x="5405135" y="0"/>
                </a:lnTo>
                <a:lnTo>
                  <a:pt x="5405135" y="5158779"/>
                </a:lnTo>
                <a:lnTo>
                  <a:pt x="0" y="5158779"/>
                </a:lnTo>
                <a:lnTo>
                  <a:pt x="0" y="0"/>
                </a:lnTo>
                <a:close/>
              </a:path>
            </a:pathLst>
          </a:custGeom>
          <a:blipFill>
            <a:blip r:embed="rId6"/>
            <a:stretch>
              <a:fillRect l="0" t="0" r="0" b="-12059"/>
            </a:stretch>
          </a:blipFill>
        </p:spPr>
      </p:sp>
      <p:sp>
        <p:nvSpPr>
          <p:cNvPr name="Freeform 9" id="9"/>
          <p:cNvSpPr/>
          <p:nvPr/>
        </p:nvSpPr>
        <p:spPr>
          <a:xfrm flipH="false" flipV="false" rot="0">
            <a:off x="15333170" y="5618034"/>
            <a:ext cx="3162831" cy="2435380"/>
          </a:xfrm>
          <a:custGeom>
            <a:avLst/>
            <a:gdLst/>
            <a:ahLst/>
            <a:cxnLst/>
            <a:rect r="r" b="b" t="t" l="l"/>
            <a:pathLst>
              <a:path h="2435380" w="3162831">
                <a:moveTo>
                  <a:pt x="0" y="0"/>
                </a:moveTo>
                <a:lnTo>
                  <a:pt x="3162831" y="0"/>
                </a:lnTo>
                <a:lnTo>
                  <a:pt x="3162831" y="2435380"/>
                </a:lnTo>
                <a:lnTo>
                  <a:pt x="0" y="24353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4375765" y="7502900"/>
            <a:ext cx="3912235" cy="2953738"/>
          </a:xfrm>
          <a:custGeom>
            <a:avLst/>
            <a:gdLst/>
            <a:ahLst/>
            <a:cxnLst/>
            <a:rect r="r" b="b" t="t" l="l"/>
            <a:pathLst>
              <a:path h="2953738" w="3912235">
                <a:moveTo>
                  <a:pt x="0" y="0"/>
                </a:moveTo>
                <a:lnTo>
                  <a:pt x="3912235" y="0"/>
                </a:lnTo>
                <a:lnTo>
                  <a:pt x="3912235" y="2953738"/>
                </a:lnTo>
                <a:lnTo>
                  <a:pt x="0" y="29537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9330813" y="2957980"/>
            <a:ext cx="6197747" cy="7498658"/>
          </a:xfrm>
          <a:custGeom>
            <a:avLst/>
            <a:gdLst/>
            <a:ahLst/>
            <a:cxnLst/>
            <a:rect r="r" b="b" t="t" l="l"/>
            <a:pathLst>
              <a:path h="7498658" w="6197747">
                <a:moveTo>
                  <a:pt x="0" y="0"/>
                </a:moveTo>
                <a:lnTo>
                  <a:pt x="6197747" y="0"/>
                </a:lnTo>
                <a:lnTo>
                  <a:pt x="6197747" y="7498658"/>
                </a:lnTo>
                <a:lnTo>
                  <a:pt x="0" y="7498658"/>
                </a:lnTo>
                <a:lnTo>
                  <a:pt x="0" y="0"/>
                </a:lnTo>
                <a:close/>
              </a:path>
            </a:pathLst>
          </a:custGeom>
          <a:blipFill>
            <a:blip r:embed="rId11"/>
            <a:stretch>
              <a:fillRect l="0" t="-11493" r="0" b="0"/>
            </a:stretch>
          </a:blipFill>
        </p:spPr>
      </p:sp>
      <p:sp>
        <p:nvSpPr>
          <p:cNvPr name="Freeform 12" id="12"/>
          <p:cNvSpPr/>
          <p:nvPr/>
        </p:nvSpPr>
        <p:spPr>
          <a:xfrm flipH="false" flipV="false" rot="0">
            <a:off x="370454" y="8077211"/>
            <a:ext cx="1841956" cy="1805117"/>
          </a:xfrm>
          <a:custGeom>
            <a:avLst/>
            <a:gdLst/>
            <a:ahLst/>
            <a:cxnLst/>
            <a:rect r="r" b="b" t="t" l="l"/>
            <a:pathLst>
              <a:path h="1805117" w="1841956">
                <a:moveTo>
                  <a:pt x="0" y="0"/>
                </a:moveTo>
                <a:lnTo>
                  <a:pt x="1841956" y="0"/>
                </a:lnTo>
                <a:lnTo>
                  <a:pt x="1841956" y="1805117"/>
                </a:lnTo>
                <a:lnTo>
                  <a:pt x="0" y="18051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1200473" y="2292990"/>
            <a:ext cx="6719877" cy="708024"/>
          </a:xfrm>
          <a:prstGeom prst="rect">
            <a:avLst/>
          </a:prstGeom>
        </p:spPr>
        <p:txBody>
          <a:bodyPr anchor="t" rtlCol="false" tIns="0" lIns="0" bIns="0" rIns="0">
            <a:spAutoFit/>
          </a:bodyPr>
          <a:lstStyle/>
          <a:p>
            <a:pPr algn="ctr">
              <a:lnSpc>
                <a:spcPts val="5600"/>
              </a:lnSpc>
            </a:pPr>
            <a:r>
              <a:rPr lang="en-US" sz="4000" b="true">
                <a:solidFill>
                  <a:srgbClr val="000000"/>
                </a:solidFill>
                <a:latin typeface="Times New Roman Bold"/>
                <a:ea typeface="Times New Roman Bold"/>
                <a:cs typeface="Times New Roman Bold"/>
                <a:sym typeface="Times New Roman Bold"/>
              </a:rPr>
              <a:t>1.4 Cách tháo lắp hệ thống lái</a:t>
            </a:r>
          </a:p>
        </p:txBody>
      </p:sp>
      <p:sp>
        <p:nvSpPr>
          <p:cNvPr name="TextBox 14" id="14"/>
          <p:cNvSpPr txBox="true"/>
          <p:nvPr/>
        </p:nvSpPr>
        <p:spPr>
          <a:xfrm rot="0">
            <a:off x="3300105" y="5532309"/>
            <a:ext cx="2808981" cy="599440"/>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a:ea typeface="Times New Roman"/>
                <a:cs typeface="Times New Roman"/>
                <a:sym typeface="Times New Roman"/>
              </a:rPr>
              <a:t>Bước 1</a:t>
            </a:r>
          </a:p>
        </p:txBody>
      </p:sp>
      <p:sp>
        <p:nvSpPr>
          <p:cNvPr name="TextBox 15" id="15"/>
          <p:cNvSpPr txBox="true"/>
          <p:nvPr/>
        </p:nvSpPr>
        <p:spPr>
          <a:xfrm rot="0">
            <a:off x="2292106" y="6145239"/>
            <a:ext cx="4976525" cy="3721100"/>
          </a:xfrm>
          <a:prstGeom prst="rect">
            <a:avLst/>
          </a:prstGeom>
        </p:spPr>
        <p:txBody>
          <a:bodyPr anchor="t" rtlCol="false" tIns="0" lIns="0" bIns="0" rIns="0">
            <a:spAutoFit/>
          </a:bodyPr>
          <a:lstStyle/>
          <a:p>
            <a:pPr algn="ctr">
              <a:lnSpc>
                <a:spcPts val="4900"/>
              </a:lnSpc>
            </a:pPr>
            <a:r>
              <a:rPr lang="en-US" sz="3500" b="true">
                <a:solidFill>
                  <a:srgbClr val="000000"/>
                </a:solidFill>
                <a:latin typeface="Times New Roman Bold"/>
                <a:ea typeface="Times New Roman Bold"/>
                <a:cs typeface="Times New Roman Bold"/>
                <a:sym typeface="Times New Roman Bold"/>
              </a:rPr>
              <a:t>Tháo rotuyn lái ngoài.</a:t>
            </a:r>
          </a:p>
          <a:p>
            <a:pPr algn="just">
              <a:lnSpc>
                <a:spcPts val="4900"/>
              </a:lnSpc>
            </a:pPr>
            <a:r>
              <a:rPr lang="en-US" sz="3500">
                <a:solidFill>
                  <a:srgbClr val="000000"/>
                </a:solidFill>
                <a:latin typeface="Times New Roman"/>
                <a:ea typeface="Times New Roman"/>
                <a:cs typeface="Times New Roman"/>
                <a:sym typeface="Times New Roman"/>
              </a:rPr>
              <a:t>a. dùng cần </a:t>
            </a:r>
            <a:r>
              <a:rPr lang="en-US" b="true" sz="3500">
                <a:solidFill>
                  <a:srgbClr val="000000"/>
                </a:solidFill>
                <a:latin typeface="Times New Roman Bold"/>
                <a:ea typeface="Times New Roman Bold"/>
                <a:cs typeface="Times New Roman Bold"/>
                <a:sym typeface="Times New Roman Bold"/>
              </a:rPr>
              <a:t>T</a:t>
            </a:r>
            <a:r>
              <a:rPr lang="en-US" sz="3500">
                <a:solidFill>
                  <a:srgbClr val="000000"/>
                </a:solidFill>
                <a:latin typeface="Times New Roman"/>
                <a:ea typeface="Times New Roman"/>
                <a:cs typeface="Times New Roman"/>
                <a:sym typeface="Times New Roman"/>
              </a:rPr>
              <a:t> và </a:t>
            </a:r>
            <a:r>
              <a:rPr lang="en-US" b="true" sz="3500">
                <a:solidFill>
                  <a:srgbClr val="000000"/>
                </a:solidFill>
                <a:latin typeface="Times New Roman Bold"/>
                <a:ea typeface="Times New Roman Bold"/>
                <a:cs typeface="Times New Roman Bold"/>
                <a:sym typeface="Times New Roman Bold"/>
              </a:rPr>
              <a:t>khẩu</a:t>
            </a:r>
            <a:r>
              <a:rPr lang="en-US" sz="3500">
                <a:solidFill>
                  <a:srgbClr val="000000"/>
                </a:solidFill>
                <a:latin typeface="Times New Roman"/>
                <a:ea typeface="Times New Roman"/>
                <a:cs typeface="Times New Roman"/>
                <a:sym typeface="Times New Roman"/>
              </a:rPr>
              <a:t> để tháo ốc.</a:t>
            </a:r>
          </a:p>
          <a:p>
            <a:pPr algn="just">
              <a:lnSpc>
                <a:spcPts val="4900"/>
              </a:lnSpc>
            </a:pPr>
            <a:r>
              <a:rPr lang="en-US" sz="3500">
                <a:solidFill>
                  <a:srgbClr val="000000"/>
                </a:solidFill>
                <a:latin typeface="Times New Roman"/>
                <a:ea typeface="Times New Roman"/>
                <a:cs typeface="Times New Roman"/>
                <a:sym typeface="Times New Roman"/>
              </a:rPr>
              <a:t>b. Sau đó dẩy rotuyn lái khỏi khớp sao cho tách khỏi.</a:t>
            </a:r>
          </a:p>
        </p:txBody>
      </p:sp>
      <p:sp>
        <p:nvSpPr>
          <p:cNvPr name="TextBox 16" id="16"/>
          <p:cNvSpPr txBox="true"/>
          <p:nvPr/>
        </p:nvSpPr>
        <p:spPr>
          <a:xfrm rot="0">
            <a:off x="2077801" y="3890525"/>
            <a:ext cx="5366882"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1.4.1 C</a:t>
            </a:r>
            <a:r>
              <a:rPr lang="en-US" sz="3399">
                <a:solidFill>
                  <a:srgbClr val="000000"/>
                </a:solidFill>
                <a:latin typeface="Times New Roman"/>
                <a:ea typeface="Times New Roman"/>
                <a:cs typeface="Times New Roman"/>
                <a:sym typeface="Times New Roman"/>
              </a:rPr>
              <a:t>ách tháo hệ thống lái </a:t>
            </a:r>
          </a:p>
        </p:txBody>
      </p:sp>
      <p:sp>
        <p:nvSpPr>
          <p:cNvPr name="Freeform 17" id="17"/>
          <p:cNvSpPr/>
          <p:nvPr/>
        </p:nvSpPr>
        <p:spPr>
          <a:xfrm flipH="false" flipV="false" rot="0">
            <a:off x="1944490" y="3354773"/>
            <a:ext cx="5405135" cy="1756669"/>
          </a:xfrm>
          <a:custGeom>
            <a:avLst/>
            <a:gdLst/>
            <a:ahLst/>
            <a:cxnLst/>
            <a:rect r="r" b="b" t="t" l="l"/>
            <a:pathLst>
              <a:path h="1756669" w="5405135">
                <a:moveTo>
                  <a:pt x="0" y="0"/>
                </a:moveTo>
                <a:lnTo>
                  <a:pt x="5405136" y="0"/>
                </a:lnTo>
                <a:lnTo>
                  <a:pt x="5405136" y="1756669"/>
                </a:lnTo>
                <a:lnTo>
                  <a:pt x="0" y="17566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2912765" y="2263150"/>
            <a:ext cx="3409836" cy="1108197"/>
          </a:xfrm>
          <a:custGeom>
            <a:avLst/>
            <a:gdLst/>
            <a:ahLst/>
            <a:cxnLst/>
            <a:rect r="r" b="b" t="t" l="l"/>
            <a:pathLst>
              <a:path h="1108197" w="3409836">
                <a:moveTo>
                  <a:pt x="0" y="0"/>
                </a:moveTo>
                <a:lnTo>
                  <a:pt x="3409836" y="0"/>
                </a:lnTo>
                <a:lnTo>
                  <a:pt x="3409836" y="1108197"/>
                </a:lnTo>
                <a:lnTo>
                  <a:pt x="0" y="11081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933374" y="3693513"/>
            <a:ext cx="5963549" cy="6132067"/>
          </a:xfrm>
          <a:custGeom>
            <a:avLst/>
            <a:gdLst/>
            <a:ahLst/>
            <a:cxnLst/>
            <a:rect r="r" b="b" t="t" l="l"/>
            <a:pathLst>
              <a:path h="6132067" w="5963549">
                <a:moveTo>
                  <a:pt x="0" y="0"/>
                </a:moveTo>
                <a:lnTo>
                  <a:pt x="5963549" y="0"/>
                </a:lnTo>
                <a:lnTo>
                  <a:pt x="5963549" y="6132067"/>
                </a:lnTo>
                <a:lnTo>
                  <a:pt x="0" y="6132067"/>
                </a:lnTo>
                <a:lnTo>
                  <a:pt x="0" y="0"/>
                </a:lnTo>
                <a:close/>
              </a:path>
            </a:pathLst>
          </a:custGeom>
          <a:blipFill>
            <a:blip r:embed="rId6"/>
            <a:stretch>
              <a:fillRect l="-1412" t="0" r="-1412" b="0"/>
            </a:stretch>
          </a:blipFill>
        </p:spPr>
      </p:sp>
      <p:sp>
        <p:nvSpPr>
          <p:cNvPr name="Freeform 9" id="9"/>
          <p:cNvSpPr/>
          <p:nvPr/>
        </p:nvSpPr>
        <p:spPr>
          <a:xfrm flipH="false" flipV="false" rot="0">
            <a:off x="13943022" y="2263150"/>
            <a:ext cx="5843016" cy="8229600"/>
          </a:xfrm>
          <a:custGeom>
            <a:avLst/>
            <a:gdLst/>
            <a:ahLst/>
            <a:cxnLst/>
            <a:rect r="r" b="b" t="t" l="l"/>
            <a:pathLst>
              <a:path h="8229600" w="5843016">
                <a:moveTo>
                  <a:pt x="0" y="0"/>
                </a:moveTo>
                <a:lnTo>
                  <a:pt x="5843016" y="0"/>
                </a:lnTo>
                <a:lnTo>
                  <a:pt x="5843016" y="8229600"/>
                </a:lnTo>
                <a:lnTo>
                  <a:pt x="0" y="8229600"/>
                </a:lnTo>
                <a:lnTo>
                  <a:pt x="0" y="0"/>
                </a:lnTo>
                <a:close/>
              </a:path>
            </a:pathLst>
          </a:custGeom>
          <a:blipFill>
            <a:blip r:embed="rId7"/>
            <a:stretch>
              <a:fillRect l="0" t="0" r="0" b="0"/>
            </a:stretch>
          </a:blipFill>
        </p:spPr>
      </p:sp>
      <p:sp>
        <p:nvSpPr>
          <p:cNvPr name="Freeform 10" id="10"/>
          <p:cNvSpPr/>
          <p:nvPr/>
        </p:nvSpPr>
        <p:spPr>
          <a:xfrm flipH="false" flipV="false" rot="0">
            <a:off x="9098464" y="2676316"/>
            <a:ext cx="6725721" cy="7610684"/>
          </a:xfrm>
          <a:custGeom>
            <a:avLst/>
            <a:gdLst/>
            <a:ahLst/>
            <a:cxnLst/>
            <a:rect r="r" b="b" t="t" l="l"/>
            <a:pathLst>
              <a:path h="7610684" w="6725721">
                <a:moveTo>
                  <a:pt x="0" y="0"/>
                </a:moveTo>
                <a:lnTo>
                  <a:pt x="6725721" y="0"/>
                </a:lnTo>
                <a:lnTo>
                  <a:pt x="6725721" y="7610684"/>
                </a:lnTo>
                <a:lnTo>
                  <a:pt x="0" y="7610684"/>
                </a:lnTo>
                <a:lnTo>
                  <a:pt x="0" y="0"/>
                </a:lnTo>
                <a:close/>
              </a:path>
            </a:pathLst>
          </a:custGeom>
          <a:blipFill>
            <a:blip r:embed="rId8"/>
            <a:stretch>
              <a:fillRect l="0" t="0" r="0" b="0"/>
            </a:stretch>
          </a:blipFill>
        </p:spPr>
      </p:sp>
      <p:sp>
        <p:nvSpPr>
          <p:cNvPr name="Freeform 11" id="11"/>
          <p:cNvSpPr/>
          <p:nvPr/>
        </p:nvSpPr>
        <p:spPr>
          <a:xfrm flipH="false" flipV="false" rot="0">
            <a:off x="45325" y="8422431"/>
            <a:ext cx="1966750" cy="1671737"/>
          </a:xfrm>
          <a:custGeom>
            <a:avLst/>
            <a:gdLst/>
            <a:ahLst/>
            <a:cxnLst/>
            <a:rect r="r" b="b" t="t" l="l"/>
            <a:pathLst>
              <a:path h="1671737" w="1966750">
                <a:moveTo>
                  <a:pt x="0" y="0"/>
                </a:moveTo>
                <a:lnTo>
                  <a:pt x="1966750" y="0"/>
                </a:lnTo>
                <a:lnTo>
                  <a:pt x="1966750" y="1671738"/>
                </a:lnTo>
                <a:lnTo>
                  <a:pt x="0" y="16717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2912765" y="2474666"/>
            <a:ext cx="3409836" cy="599440"/>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a:ea typeface="Times New Roman"/>
                <a:cs typeface="Times New Roman"/>
                <a:sym typeface="Times New Roman"/>
              </a:rPr>
              <a:t>Bước 2</a:t>
            </a:r>
          </a:p>
        </p:txBody>
      </p:sp>
      <p:sp>
        <p:nvSpPr>
          <p:cNvPr name="TextBox 13" id="13"/>
          <p:cNvSpPr txBox="true"/>
          <p:nvPr/>
        </p:nvSpPr>
        <p:spPr>
          <a:xfrm rot="0">
            <a:off x="2555695" y="4161922"/>
            <a:ext cx="4718907" cy="4799451"/>
          </a:xfrm>
          <a:prstGeom prst="rect">
            <a:avLst/>
          </a:prstGeom>
        </p:spPr>
        <p:txBody>
          <a:bodyPr anchor="t" rtlCol="false" tIns="0" lIns="0" bIns="0" rIns="0">
            <a:spAutoFit/>
          </a:bodyPr>
          <a:lstStyle/>
          <a:p>
            <a:pPr algn="just">
              <a:lnSpc>
                <a:spcPts val="4788"/>
              </a:lnSpc>
            </a:pPr>
            <a:r>
              <a:rPr lang="en-US" sz="3420" b="true">
                <a:solidFill>
                  <a:srgbClr val="000000"/>
                </a:solidFill>
                <a:latin typeface="Times New Roman Bold"/>
                <a:ea typeface="Times New Roman Bold"/>
                <a:cs typeface="Times New Roman Bold"/>
                <a:sym typeface="Times New Roman Bold"/>
              </a:rPr>
              <a:t>Tháo ống dẫn cao áp và ống hồi của ống thủy lực, sau đó xả dầu trợ lực lái.</a:t>
            </a:r>
          </a:p>
          <a:p>
            <a:pPr algn="just">
              <a:lnSpc>
                <a:spcPts val="4788"/>
              </a:lnSpc>
            </a:pPr>
            <a:r>
              <a:rPr lang="en-US" sz="3420">
                <a:solidFill>
                  <a:srgbClr val="000000"/>
                </a:solidFill>
                <a:latin typeface="Times New Roman"/>
                <a:ea typeface="Times New Roman"/>
                <a:cs typeface="Times New Roman"/>
                <a:sym typeface="Times New Roman"/>
              </a:rPr>
              <a:t>a. Dùng </a:t>
            </a:r>
            <a:r>
              <a:rPr lang="en-US" sz="3420" b="true">
                <a:solidFill>
                  <a:srgbClr val="000000"/>
                </a:solidFill>
                <a:latin typeface="Times New Roman Bold"/>
                <a:ea typeface="Times New Roman Bold"/>
                <a:cs typeface="Times New Roman Bold"/>
                <a:sym typeface="Times New Roman Bold"/>
              </a:rPr>
              <a:t>cờ lê</a:t>
            </a:r>
            <a:r>
              <a:rPr lang="en-US" sz="3420">
                <a:solidFill>
                  <a:srgbClr val="000000"/>
                </a:solidFill>
                <a:latin typeface="Times New Roman"/>
                <a:ea typeface="Times New Roman"/>
                <a:cs typeface="Times New Roman"/>
                <a:sym typeface="Times New Roman"/>
              </a:rPr>
              <a:t> </a:t>
            </a:r>
            <a:r>
              <a:rPr lang="en-US" sz="3420" b="true">
                <a:solidFill>
                  <a:srgbClr val="000000"/>
                </a:solidFill>
                <a:latin typeface="Times New Roman Bold"/>
                <a:ea typeface="Times New Roman Bold"/>
                <a:cs typeface="Times New Roman Bold"/>
                <a:sym typeface="Times New Roman Bold"/>
              </a:rPr>
              <a:t>tròng </a:t>
            </a:r>
            <a:r>
              <a:rPr lang="en-US" b="true" sz="3420">
                <a:solidFill>
                  <a:srgbClr val="000000"/>
                </a:solidFill>
                <a:latin typeface="Times New Roman Bold"/>
                <a:ea typeface="Times New Roman Bold"/>
                <a:cs typeface="Times New Roman Bold"/>
                <a:sym typeface="Times New Roman Bold"/>
              </a:rPr>
              <a:t>hở</a:t>
            </a:r>
            <a:r>
              <a:rPr lang="en-US" sz="3420">
                <a:solidFill>
                  <a:srgbClr val="000000"/>
                </a:solidFill>
                <a:latin typeface="Times New Roman"/>
                <a:ea typeface="Times New Roman"/>
                <a:cs typeface="Times New Roman"/>
                <a:sym typeface="Times New Roman"/>
              </a:rPr>
              <a:t> để mở ống dầu.</a:t>
            </a:r>
          </a:p>
          <a:p>
            <a:pPr algn="just">
              <a:lnSpc>
                <a:spcPts val="4788"/>
              </a:lnSpc>
            </a:pPr>
            <a:r>
              <a:rPr lang="en-US" sz="3420">
                <a:solidFill>
                  <a:srgbClr val="000000"/>
                </a:solidFill>
                <a:latin typeface="Times New Roman"/>
                <a:ea typeface="Times New Roman"/>
                <a:cs typeface="Times New Roman"/>
                <a:sym typeface="Times New Roman"/>
              </a:rPr>
              <a:t>b. Xả hết dầu cũ bên trong ( lưu ý không dùng lại dầu cũ).</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2160423" y="3227093"/>
            <a:ext cx="5582935" cy="5971054"/>
          </a:xfrm>
          <a:custGeom>
            <a:avLst/>
            <a:gdLst/>
            <a:ahLst/>
            <a:cxnLst/>
            <a:rect r="r" b="b" t="t" l="l"/>
            <a:pathLst>
              <a:path h="5971054" w="5582935">
                <a:moveTo>
                  <a:pt x="0" y="0"/>
                </a:moveTo>
                <a:lnTo>
                  <a:pt x="5582935" y="0"/>
                </a:lnTo>
                <a:lnTo>
                  <a:pt x="5582935" y="5971053"/>
                </a:lnTo>
                <a:lnTo>
                  <a:pt x="0" y="5971053"/>
                </a:lnTo>
                <a:lnTo>
                  <a:pt x="0" y="0"/>
                </a:lnTo>
                <a:close/>
              </a:path>
            </a:pathLst>
          </a:custGeom>
          <a:blipFill>
            <a:blip r:embed="rId4"/>
            <a:stretch>
              <a:fillRect l="0" t="0" r="0" b="0"/>
            </a:stretch>
          </a:blipFill>
        </p:spPr>
      </p:sp>
      <p:sp>
        <p:nvSpPr>
          <p:cNvPr name="Freeform 8" id="8"/>
          <p:cNvSpPr/>
          <p:nvPr/>
        </p:nvSpPr>
        <p:spPr>
          <a:xfrm flipH="false" flipV="false" rot="0">
            <a:off x="10150318" y="2350476"/>
            <a:ext cx="4557862" cy="7596436"/>
          </a:xfrm>
          <a:custGeom>
            <a:avLst/>
            <a:gdLst/>
            <a:ahLst/>
            <a:cxnLst/>
            <a:rect r="r" b="b" t="t" l="l"/>
            <a:pathLst>
              <a:path h="7596436" w="4557862">
                <a:moveTo>
                  <a:pt x="0" y="0"/>
                </a:moveTo>
                <a:lnTo>
                  <a:pt x="4557862" y="0"/>
                </a:lnTo>
                <a:lnTo>
                  <a:pt x="4557862" y="7596436"/>
                </a:lnTo>
                <a:lnTo>
                  <a:pt x="0" y="7596436"/>
                </a:lnTo>
                <a:lnTo>
                  <a:pt x="0" y="0"/>
                </a:lnTo>
                <a:close/>
              </a:path>
            </a:pathLst>
          </a:custGeom>
          <a:blipFill>
            <a:blip r:embed="rId5"/>
            <a:stretch>
              <a:fillRect l="0" t="0" r="0" b="0"/>
            </a:stretch>
          </a:blipFill>
        </p:spPr>
      </p:sp>
      <p:sp>
        <p:nvSpPr>
          <p:cNvPr name="Freeform 9" id="9"/>
          <p:cNvSpPr/>
          <p:nvPr/>
        </p:nvSpPr>
        <p:spPr>
          <a:xfrm flipH="false" flipV="false" rot="0">
            <a:off x="0" y="8064464"/>
            <a:ext cx="2748321" cy="2267365"/>
          </a:xfrm>
          <a:custGeom>
            <a:avLst/>
            <a:gdLst/>
            <a:ahLst/>
            <a:cxnLst/>
            <a:rect r="r" b="b" t="t" l="l"/>
            <a:pathLst>
              <a:path h="2267365" w="2748321">
                <a:moveTo>
                  <a:pt x="0" y="0"/>
                </a:moveTo>
                <a:lnTo>
                  <a:pt x="2748321" y="0"/>
                </a:lnTo>
                <a:lnTo>
                  <a:pt x="2748321" y="2267365"/>
                </a:lnTo>
                <a:lnTo>
                  <a:pt x="0" y="226736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4703095" y="6903459"/>
            <a:ext cx="3801731" cy="3383541"/>
          </a:xfrm>
          <a:custGeom>
            <a:avLst/>
            <a:gdLst/>
            <a:ahLst/>
            <a:cxnLst/>
            <a:rect r="r" b="b" t="t" l="l"/>
            <a:pathLst>
              <a:path h="3383541" w="3801731">
                <a:moveTo>
                  <a:pt x="0" y="0"/>
                </a:moveTo>
                <a:lnTo>
                  <a:pt x="3801731" y="0"/>
                </a:lnTo>
                <a:lnTo>
                  <a:pt x="3801731" y="3383541"/>
                </a:lnTo>
                <a:lnTo>
                  <a:pt x="0" y="3383541"/>
                </a:lnTo>
                <a:lnTo>
                  <a:pt x="0" y="0"/>
                </a:lnTo>
                <a:close/>
              </a:path>
            </a:pathLst>
          </a:custGeom>
          <a:blipFill>
            <a:blip r:embed="rId8"/>
            <a:stretch>
              <a:fillRect l="0" t="0" r="0" b="0"/>
            </a:stretch>
          </a:blipFill>
        </p:spPr>
      </p:sp>
      <p:sp>
        <p:nvSpPr>
          <p:cNvPr name="TextBox 11" id="11"/>
          <p:cNvSpPr txBox="true"/>
          <p:nvPr/>
        </p:nvSpPr>
        <p:spPr>
          <a:xfrm rot="0">
            <a:off x="3547400" y="3385061"/>
            <a:ext cx="2808981" cy="599440"/>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a:ea typeface="Times New Roman"/>
                <a:cs typeface="Times New Roman"/>
                <a:sym typeface="Times New Roman"/>
              </a:rPr>
              <a:t>Bước 3</a:t>
            </a:r>
          </a:p>
        </p:txBody>
      </p:sp>
      <p:sp>
        <p:nvSpPr>
          <p:cNvPr name="TextBox 12" id="12"/>
          <p:cNvSpPr txBox="true"/>
          <p:nvPr/>
        </p:nvSpPr>
        <p:spPr>
          <a:xfrm rot="0">
            <a:off x="2485285" y="4499358"/>
            <a:ext cx="4976525" cy="3721100"/>
          </a:xfrm>
          <a:prstGeom prst="rect">
            <a:avLst/>
          </a:prstGeom>
        </p:spPr>
        <p:txBody>
          <a:bodyPr anchor="t" rtlCol="false" tIns="0" lIns="0" bIns="0" rIns="0">
            <a:spAutoFit/>
          </a:bodyPr>
          <a:lstStyle/>
          <a:p>
            <a:pPr algn="ctr">
              <a:lnSpc>
                <a:spcPts val="4900"/>
              </a:lnSpc>
            </a:pPr>
            <a:r>
              <a:rPr lang="en-US" sz="3500" b="true">
                <a:solidFill>
                  <a:srgbClr val="000000"/>
                </a:solidFill>
                <a:latin typeface="Times New Roman Bold"/>
                <a:ea typeface="Times New Roman Bold"/>
                <a:cs typeface="Times New Roman Bold"/>
                <a:sym typeface="Times New Roman Bold"/>
              </a:rPr>
              <a:t>Tách trục lái ra khỏi cụm hệ thống lái.</a:t>
            </a:r>
          </a:p>
          <a:p>
            <a:pPr algn="just">
              <a:lnSpc>
                <a:spcPts val="4900"/>
              </a:lnSpc>
            </a:pPr>
            <a:r>
              <a:rPr lang="en-US" sz="3500">
                <a:solidFill>
                  <a:srgbClr val="000000"/>
                </a:solidFill>
                <a:latin typeface="Times New Roman"/>
                <a:ea typeface="Times New Roman"/>
                <a:cs typeface="Times New Roman"/>
                <a:sym typeface="Times New Roman"/>
              </a:rPr>
              <a:t>a. Dùng cần </a:t>
            </a:r>
            <a:r>
              <a:rPr lang="en-US" b="true" sz="3500">
                <a:solidFill>
                  <a:srgbClr val="000000"/>
                </a:solidFill>
                <a:latin typeface="Times New Roman Bold"/>
                <a:ea typeface="Times New Roman Bold"/>
                <a:cs typeface="Times New Roman Bold"/>
                <a:sym typeface="Times New Roman Bold"/>
              </a:rPr>
              <a:t>T</a:t>
            </a:r>
            <a:r>
              <a:rPr lang="en-US" sz="3500">
                <a:solidFill>
                  <a:srgbClr val="000000"/>
                </a:solidFill>
                <a:latin typeface="Times New Roman"/>
                <a:ea typeface="Times New Roman"/>
                <a:cs typeface="Times New Roman"/>
                <a:sym typeface="Times New Roman"/>
              </a:rPr>
              <a:t> và </a:t>
            </a:r>
            <a:r>
              <a:rPr lang="en-US" b="true" sz="3500">
                <a:solidFill>
                  <a:srgbClr val="000000"/>
                </a:solidFill>
                <a:latin typeface="Times New Roman Bold"/>
                <a:ea typeface="Times New Roman Bold"/>
                <a:cs typeface="Times New Roman Bold"/>
                <a:sym typeface="Times New Roman Bold"/>
              </a:rPr>
              <a:t>khẩu</a:t>
            </a:r>
            <a:r>
              <a:rPr lang="en-US" sz="3500">
                <a:solidFill>
                  <a:srgbClr val="000000"/>
                </a:solidFill>
                <a:latin typeface="Times New Roman"/>
                <a:ea typeface="Times New Roman"/>
                <a:cs typeface="Times New Roman"/>
                <a:sym typeface="Times New Roman"/>
              </a:rPr>
              <a:t> </a:t>
            </a:r>
            <a:r>
              <a:rPr lang="en-US" b="true" sz="3500">
                <a:solidFill>
                  <a:srgbClr val="000000"/>
                </a:solidFill>
                <a:latin typeface="Times New Roman Bold"/>
                <a:ea typeface="Times New Roman Bold"/>
                <a:cs typeface="Times New Roman Bold"/>
                <a:sym typeface="Times New Roman Bold"/>
              </a:rPr>
              <a:t>14</a:t>
            </a:r>
            <a:r>
              <a:rPr lang="en-US" sz="3500">
                <a:solidFill>
                  <a:srgbClr val="000000"/>
                </a:solidFill>
                <a:latin typeface="Times New Roman"/>
                <a:ea typeface="Times New Roman"/>
                <a:cs typeface="Times New Roman"/>
                <a:sym typeface="Times New Roman"/>
              </a:rPr>
              <a:t> để tháo ốc kẹp khớp nối trục lái với trục bánh răng lái.</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2349682" y="2263150"/>
            <a:ext cx="3409836" cy="1108197"/>
          </a:xfrm>
          <a:custGeom>
            <a:avLst/>
            <a:gdLst/>
            <a:ahLst/>
            <a:cxnLst/>
            <a:rect r="r" b="b" t="t" l="l"/>
            <a:pathLst>
              <a:path h="1108197" w="3409836">
                <a:moveTo>
                  <a:pt x="0" y="0"/>
                </a:moveTo>
                <a:lnTo>
                  <a:pt x="3409836" y="0"/>
                </a:lnTo>
                <a:lnTo>
                  <a:pt x="3409836" y="1108197"/>
                </a:lnTo>
                <a:lnTo>
                  <a:pt x="0" y="11081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751131" y="3533272"/>
            <a:ext cx="5083393" cy="5227039"/>
          </a:xfrm>
          <a:custGeom>
            <a:avLst/>
            <a:gdLst/>
            <a:ahLst/>
            <a:cxnLst/>
            <a:rect r="r" b="b" t="t" l="l"/>
            <a:pathLst>
              <a:path h="5227039" w="5083393">
                <a:moveTo>
                  <a:pt x="0" y="0"/>
                </a:moveTo>
                <a:lnTo>
                  <a:pt x="5083393" y="0"/>
                </a:lnTo>
                <a:lnTo>
                  <a:pt x="5083393" y="5227039"/>
                </a:lnTo>
                <a:lnTo>
                  <a:pt x="0" y="5227039"/>
                </a:lnTo>
                <a:lnTo>
                  <a:pt x="0" y="0"/>
                </a:lnTo>
                <a:close/>
              </a:path>
            </a:pathLst>
          </a:custGeom>
          <a:blipFill>
            <a:blip r:embed="rId6"/>
            <a:stretch>
              <a:fillRect l="-1412" t="0" r="-1412" b="0"/>
            </a:stretch>
          </a:blipFill>
        </p:spPr>
      </p:sp>
      <p:sp>
        <p:nvSpPr>
          <p:cNvPr name="Freeform 9" id="9"/>
          <p:cNvSpPr/>
          <p:nvPr/>
        </p:nvSpPr>
        <p:spPr>
          <a:xfrm flipH="false" flipV="false" rot="0">
            <a:off x="13943022" y="2263150"/>
            <a:ext cx="5843016" cy="8229600"/>
          </a:xfrm>
          <a:custGeom>
            <a:avLst/>
            <a:gdLst/>
            <a:ahLst/>
            <a:cxnLst/>
            <a:rect r="r" b="b" t="t" l="l"/>
            <a:pathLst>
              <a:path h="8229600" w="5843016">
                <a:moveTo>
                  <a:pt x="0" y="0"/>
                </a:moveTo>
                <a:lnTo>
                  <a:pt x="5843016" y="0"/>
                </a:lnTo>
                <a:lnTo>
                  <a:pt x="5843016" y="8229600"/>
                </a:lnTo>
                <a:lnTo>
                  <a:pt x="0" y="8229600"/>
                </a:lnTo>
                <a:lnTo>
                  <a:pt x="0" y="0"/>
                </a:lnTo>
                <a:close/>
              </a:path>
            </a:pathLst>
          </a:custGeom>
          <a:blipFill>
            <a:blip r:embed="rId7"/>
            <a:stretch>
              <a:fillRect l="0" t="0" r="0" b="0"/>
            </a:stretch>
          </a:blipFill>
        </p:spPr>
      </p:sp>
      <p:sp>
        <p:nvSpPr>
          <p:cNvPr name="Freeform 10" id="10"/>
          <p:cNvSpPr/>
          <p:nvPr/>
        </p:nvSpPr>
        <p:spPr>
          <a:xfrm flipH="false" flipV="false" rot="0">
            <a:off x="0" y="7923147"/>
            <a:ext cx="9098464" cy="2363853"/>
          </a:xfrm>
          <a:custGeom>
            <a:avLst/>
            <a:gdLst/>
            <a:ahLst/>
            <a:cxnLst/>
            <a:rect r="r" b="b" t="t" l="l"/>
            <a:pathLst>
              <a:path h="2363853" w="9098464">
                <a:moveTo>
                  <a:pt x="0" y="0"/>
                </a:moveTo>
                <a:lnTo>
                  <a:pt x="9098464" y="0"/>
                </a:lnTo>
                <a:lnTo>
                  <a:pt x="9098464" y="2363853"/>
                </a:lnTo>
                <a:lnTo>
                  <a:pt x="0" y="2363853"/>
                </a:lnTo>
                <a:lnTo>
                  <a:pt x="0" y="0"/>
                </a:lnTo>
                <a:close/>
              </a:path>
            </a:pathLst>
          </a:custGeom>
          <a:blipFill>
            <a:blip r:embed="rId8"/>
            <a:stretch>
              <a:fillRect l="-1638" t="0" r="-1638" b="-23227"/>
            </a:stretch>
          </a:blipFill>
        </p:spPr>
      </p:sp>
      <p:sp>
        <p:nvSpPr>
          <p:cNvPr name="Freeform 11" id="11"/>
          <p:cNvSpPr/>
          <p:nvPr/>
        </p:nvSpPr>
        <p:spPr>
          <a:xfrm flipH="false" flipV="false" rot="0">
            <a:off x="9217016" y="1927251"/>
            <a:ext cx="4721583" cy="8305343"/>
          </a:xfrm>
          <a:custGeom>
            <a:avLst/>
            <a:gdLst/>
            <a:ahLst/>
            <a:cxnLst/>
            <a:rect r="r" b="b" t="t" l="l"/>
            <a:pathLst>
              <a:path h="8305343" w="4721583">
                <a:moveTo>
                  <a:pt x="0" y="0"/>
                </a:moveTo>
                <a:lnTo>
                  <a:pt x="4721584" y="0"/>
                </a:lnTo>
                <a:lnTo>
                  <a:pt x="4721584" y="8305342"/>
                </a:lnTo>
                <a:lnTo>
                  <a:pt x="0" y="8305342"/>
                </a:lnTo>
                <a:lnTo>
                  <a:pt x="0" y="0"/>
                </a:lnTo>
                <a:close/>
              </a:path>
            </a:pathLst>
          </a:custGeom>
          <a:blipFill>
            <a:blip r:embed="rId9"/>
            <a:stretch>
              <a:fillRect l="0" t="0" r="0" b="0"/>
            </a:stretch>
          </a:blipFill>
        </p:spPr>
      </p:sp>
      <p:sp>
        <p:nvSpPr>
          <p:cNvPr name="TextBox 12" id="12"/>
          <p:cNvSpPr txBox="true"/>
          <p:nvPr/>
        </p:nvSpPr>
        <p:spPr>
          <a:xfrm rot="0">
            <a:off x="2368876" y="2474666"/>
            <a:ext cx="3409836" cy="599440"/>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a:ea typeface="Times New Roman"/>
                <a:cs typeface="Times New Roman"/>
                <a:sym typeface="Times New Roman"/>
              </a:rPr>
              <a:t>Bước 4</a:t>
            </a:r>
          </a:p>
        </p:txBody>
      </p:sp>
      <p:sp>
        <p:nvSpPr>
          <p:cNvPr name="TextBox 13" id="13"/>
          <p:cNvSpPr txBox="true"/>
          <p:nvPr/>
        </p:nvSpPr>
        <p:spPr>
          <a:xfrm rot="0">
            <a:off x="1933374" y="4161922"/>
            <a:ext cx="4718907" cy="3599301"/>
          </a:xfrm>
          <a:prstGeom prst="rect">
            <a:avLst/>
          </a:prstGeom>
        </p:spPr>
        <p:txBody>
          <a:bodyPr anchor="t" rtlCol="false" tIns="0" lIns="0" bIns="0" rIns="0">
            <a:spAutoFit/>
          </a:bodyPr>
          <a:lstStyle/>
          <a:p>
            <a:pPr algn="just">
              <a:lnSpc>
                <a:spcPts val="4788"/>
              </a:lnSpc>
            </a:pPr>
            <a:r>
              <a:rPr lang="en-US" sz="3420" b="true">
                <a:solidFill>
                  <a:srgbClr val="000000"/>
                </a:solidFill>
                <a:latin typeface="Times New Roman Bold"/>
                <a:ea typeface="Times New Roman Bold"/>
                <a:cs typeface="Times New Roman Bold"/>
                <a:sym typeface="Times New Roman Bold"/>
              </a:rPr>
              <a:t>Tháo cụm thước lái. </a:t>
            </a:r>
          </a:p>
          <a:p>
            <a:pPr algn="just">
              <a:lnSpc>
                <a:spcPts val="4788"/>
              </a:lnSpc>
            </a:pPr>
            <a:r>
              <a:rPr lang="en-US" sz="3420">
                <a:solidFill>
                  <a:srgbClr val="000000"/>
                </a:solidFill>
                <a:latin typeface="Times New Roman"/>
                <a:ea typeface="Times New Roman"/>
                <a:cs typeface="Times New Roman"/>
                <a:sym typeface="Times New Roman"/>
              </a:rPr>
              <a:t>a. Dùng cần </a:t>
            </a:r>
            <a:r>
              <a:rPr lang="en-US" sz="3420" b="true">
                <a:solidFill>
                  <a:srgbClr val="000000"/>
                </a:solidFill>
                <a:latin typeface="Times New Roman Bold"/>
                <a:ea typeface="Times New Roman Bold"/>
                <a:cs typeface="Times New Roman Bold"/>
                <a:sym typeface="Times New Roman Bold"/>
              </a:rPr>
              <a:t>T</a:t>
            </a:r>
            <a:r>
              <a:rPr lang="en-US" sz="3420">
                <a:solidFill>
                  <a:srgbClr val="000000"/>
                </a:solidFill>
                <a:latin typeface="Times New Roman"/>
                <a:ea typeface="Times New Roman"/>
                <a:cs typeface="Times New Roman"/>
                <a:sym typeface="Times New Roman"/>
              </a:rPr>
              <a:t> và </a:t>
            </a:r>
            <a:r>
              <a:rPr lang="en-US" sz="3420" b="true">
                <a:solidFill>
                  <a:srgbClr val="000000"/>
                </a:solidFill>
                <a:latin typeface="Times New Roman Bold"/>
                <a:ea typeface="Times New Roman Bold"/>
                <a:cs typeface="Times New Roman Bold"/>
                <a:sym typeface="Times New Roman Bold"/>
              </a:rPr>
              <a:t>k</a:t>
            </a:r>
            <a:r>
              <a:rPr lang="en-US" b="true" sz="3420">
                <a:solidFill>
                  <a:srgbClr val="000000"/>
                </a:solidFill>
                <a:latin typeface="Times New Roman Bold"/>
                <a:ea typeface="Times New Roman Bold"/>
                <a:cs typeface="Times New Roman Bold"/>
                <a:sym typeface="Times New Roman Bold"/>
              </a:rPr>
              <a:t>hẩu 21</a:t>
            </a:r>
            <a:r>
              <a:rPr lang="en-US" sz="3420">
                <a:solidFill>
                  <a:srgbClr val="000000"/>
                </a:solidFill>
                <a:latin typeface="Times New Roman"/>
                <a:ea typeface="Times New Roman"/>
                <a:cs typeface="Times New Roman"/>
                <a:sym typeface="Times New Roman"/>
              </a:rPr>
              <a:t> để tháo hết 4 con ốc cố định.</a:t>
            </a:r>
          </a:p>
          <a:p>
            <a:pPr algn="just">
              <a:lnSpc>
                <a:spcPts val="4788"/>
              </a:lnSpc>
            </a:pPr>
            <a:r>
              <a:rPr lang="en-US" sz="3420">
                <a:solidFill>
                  <a:srgbClr val="000000"/>
                </a:solidFill>
                <a:latin typeface="Times New Roman"/>
                <a:ea typeface="Times New Roman"/>
                <a:cs typeface="Times New Roman"/>
                <a:sym typeface="Times New Roman"/>
              </a:rPr>
              <a:t>b. Nhất nhẹ thước lái lên để lên bàn.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2043617" y="3086100"/>
            <a:ext cx="6187669" cy="4114800"/>
          </a:xfrm>
          <a:custGeom>
            <a:avLst/>
            <a:gdLst/>
            <a:ahLst/>
            <a:cxnLst/>
            <a:rect r="r" b="b" t="t" l="l"/>
            <a:pathLst>
              <a:path h="4114800" w="6187669">
                <a:moveTo>
                  <a:pt x="0" y="0"/>
                </a:moveTo>
                <a:lnTo>
                  <a:pt x="6187669" y="0"/>
                </a:lnTo>
                <a:lnTo>
                  <a:pt x="618766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00768" y="6446520"/>
            <a:ext cx="7315200" cy="3840480"/>
          </a:xfrm>
          <a:custGeom>
            <a:avLst/>
            <a:gdLst/>
            <a:ahLst/>
            <a:cxnLst/>
            <a:rect r="r" b="b" t="t" l="l"/>
            <a:pathLst>
              <a:path h="3840480" w="7315200">
                <a:moveTo>
                  <a:pt x="0" y="0"/>
                </a:moveTo>
                <a:lnTo>
                  <a:pt x="7315200" y="0"/>
                </a:lnTo>
                <a:lnTo>
                  <a:pt x="7315200" y="3840480"/>
                </a:lnTo>
                <a:lnTo>
                  <a:pt x="0" y="38404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4955151" y="7121286"/>
            <a:ext cx="3297619" cy="3165714"/>
          </a:xfrm>
          <a:custGeom>
            <a:avLst/>
            <a:gdLst/>
            <a:ahLst/>
            <a:cxnLst/>
            <a:rect r="r" b="b" t="t" l="l"/>
            <a:pathLst>
              <a:path h="3165714" w="3297619">
                <a:moveTo>
                  <a:pt x="0" y="0"/>
                </a:moveTo>
                <a:lnTo>
                  <a:pt x="3297619" y="0"/>
                </a:lnTo>
                <a:lnTo>
                  <a:pt x="3297619" y="3165714"/>
                </a:lnTo>
                <a:lnTo>
                  <a:pt x="0" y="31657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8524907" y="2863623"/>
            <a:ext cx="7593552" cy="7133336"/>
          </a:xfrm>
          <a:custGeom>
            <a:avLst/>
            <a:gdLst/>
            <a:ahLst/>
            <a:cxnLst/>
            <a:rect r="r" b="b" t="t" l="l"/>
            <a:pathLst>
              <a:path h="7133336" w="7593552">
                <a:moveTo>
                  <a:pt x="0" y="0"/>
                </a:moveTo>
                <a:lnTo>
                  <a:pt x="7593551" y="0"/>
                </a:lnTo>
                <a:lnTo>
                  <a:pt x="7593551" y="7133336"/>
                </a:lnTo>
                <a:lnTo>
                  <a:pt x="0" y="7133336"/>
                </a:lnTo>
                <a:lnTo>
                  <a:pt x="0" y="0"/>
                </a:lnTo>
                <a:close/>
              </a:path>
            </a:pathLst>
          </a:custGeom>
          <a:blipFill>
            <a:blip r:embed="rId10"/>
            <a:stretch>
              <a:fillRect l="0" t="0" r="0" b="0"/>
            </a:stretch>
          </a:blipFill>
        </p:spPr>
      </p:sp>
      <p:sp>
        <p:nvSpPr>
          <p:cNvPr name="TextBox 11" id="11"/>
          <p:cNvSpPr txBox="true"/>
          <p:nvPr/>
        </p:nvSpPr>
        <p:spPr>
          <a:xfrm rot="0">
            <a:off x="3590714" y="3168490"/>
            <a:ext cx="2808981" cy="599440"/>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a:ea typeface="Times New Roman"/>
                <a:cs typeface="Times New Roman"/>
                <a:sym typeface="Times New Roman"/>
              </a:rPr>
              <a:t>Bước 5</a:t>
            </a:r>
          </a:p>
        </p:txBody>
      </p:sp>
      <p:sp>
        <p:nvSpPr>
          <p:cNvPr name="TextBox 12" id="12"/>
          <p:cNvSpPr txBox="true"/>
          <p:nvPr/>
        </p:nvSpPr>
        <p:spPr>
          <a:xfrm rot="0">
            <a:off x="2749150" y="4717335"/>
            <a:ext cx="4492109" cy="675005"/>
          </a:xfrm>
          <a:prstGeom prst="rect">
            <a:avLst/>
          </a:prstGeom>
        </p:spPr>
        <p:txBody>
          <a:bodyPr anchor="t" rtlCol="false" tIns="0" lIns="0" bIns="0" rIns="0">
            <a:spAutoFit/>
          </a:bodyPr>
          <a:lstStyle/>
          <a:p>
            <a:pPr algn="ctr">
              <a:lnSpc>
                <a:spcPts val="5320"/>
              </a:lnSpc>
            </a:pPr>
            <a:r>
              <a:rPr lang="en-US" b="true" sz="3800">
                <a:solidFill>
                  <a:srgbClr val="000000"/>
                </a:solidFill>
                <a:latin typeface="Times New Roman Bold"/>
                <a:ea typeface="Times New Roman Bold"/>
                <a:cs typeface="Times New Roman Bold"/>
                <a:sym typeface="Times New Roman Bold"/>
              </a:rPr>
              <a:t>Tháo cao su chắn bụi.</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1821491" y="3199970"/>
            <a:ext cx="5177949" cy="5537913"/>
          </a:xfrm>
          <a:custGeom>
            <a:avLst/>
            <a:gdLst/>
            <a:ahLst/>
            <a:cxnLst/>
            <a:rect r="r" b="b" t="t" l="l"/>
            <a:pathLst>
              <a:path h="5537913" w="5177949">
                <a:moveTo>
                  <a:pt x="0" y="0"/>
                </a:moveTo>
                <a:lnTo>
                  <a:pt x="5177949" y="0"/>
                </a:lnTo>
                <a:lnTo>
                  <a:pt x="5177949" y="5537913"/>
                </a:lnTo>
                <a:lnTo>
                  <a:pt x="0" y="5537913"/>
                </a:lnTo>
                <a:lnTo>
                  <a:pt x="0" y="0"/>
                </a:lnTo>
                <a:close/>
              </a:path>
            </a:pathLst>
          </a:custGeom>
          <a:blipFill>
            <a:blip r:embed="rId4"/>
            <a:stretch>
              <a:fillRect l="0" t="0" r="0" b="0"/>
            </a:stretch>
          </a:blipFill>
        </p:spPr>
      </p:sp>
      <p:sp>
        <p:nvSpPr>
          <p:cNvPr name="Freeform 8" id="8"/>
          <p:cNvSpPr/>
          <p:nvPr/>
        </p:nvSpPr>
        <p:spPr>
          <a:xfrm flipH="false" flipV="false" rot="0">
            <a:off x="8911557" y="2523770"/>
            <a:ext cx="6129101" cy="7415603"/>
          </a:xfrm>
          <a:custGeom>
            <a:avLst/>
            <a:gdLst/>
            <a:ahLst/>
            <a:cxnLst/>
            <a:rect r="r" b="b" t="t" l="l"/>
            <a:pathLst>
              <a:path h="7415603" w="6129101">
                <a:moveTo>
                  <a:pt x="0" y="0"/>
                </a:moveTo>
                <a:lnTo>
                  <a:pt x="6129100" y="0"/>
                </a:lnTo>
                <a:lnTo>
                  <a:pt x="6129100" y="7415603"/>
                </a:lnTo>
                <a:lnTo>
                  <a:pt x="0" y="7415603"/>
                </a:lnTo>
                <a:lnTo>
                  <a:pt x="0" y="0"/>
                </a:lnTo>
                <a:close/>
              </a:path>
            </a:pathLst>
          </a:custGeom>
          <a:blipFill>
            <a:blip r:embed="rId5"/>
            <a:stretch>
              <a:fillRect l="0" t="-11493" r="0" b="0"/>
            </a:stretch>
          </a:blipFill>
        </p:spPr>
      </p:sp>
      <p:sp>
        <p:nvSpPr>
          <p:cNvPr name="Freeform 9" id="9"/>
          <p:cNvSpPr/>
          <p:nvPr/>
        </p:nvSpPr>
        <p:spPr>
          <a:xfrm flipH="false" flipV="false" rot="0">
            <a:off x="15206792" y="6785628"/>
            <a:ext cx="3081208" cy="3501372"/>
          </a:xfrm>
          <a:custGeom>
            <a:avLst/>
            <a:gdLst/>
            <a:ahLst/>
            <a:cxnLst/>
            <a:rect r="r" b="b" t="t" l="l"/>
            <a:pathLst>
              <a:path h="3501372" w="3081208">
                <a:moveTo>
                  <a:pt x="0" y="0"/>
                </a:moveTo>
                <a:lnTo>
                  <a:pt x="3081208" y="0"/>
                </a:lnTo>
                <a:lnTo>
                  <a:pt x="3081208" y="3501372"/>
                </a:lnTo>
                <a:lnTo>
                  <a:pt x="0" y="35013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0" y="1976354"/>
            <a:ext cx="2695194" cy="4114800"/>
          </a:xfrm>
          <a:custGeom>
            <a:avLst/>
            <a:gdLst/>
            <a:ahLst/>
            <a:cxnLst/>
            <a:rect r="r" b="b" t="t" l="l"/>
            <a:pathLst>
              <a:path h="4114800" w="2695194">
                <a:moveTo>
                  <a:pt x="0" y="0"/>
                </a:moveTo>
                <a:lnTo>
                  <a:pt x="2695194" y="0"/>
                </a:lnTo>
                <a:lnTo>
                  <a:pt x="269519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3005975" y="3434314"/>
            <a:ext cx="2808981" cy="599440"/>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a:ea typeface="Times New Roman"/>
                <a:cs typeface="Times New Roman"/>
                <a:sym typeface="Times New Roman"/>
              </a:rPr>
              <a:t>Bước 6</a:t>
            </a:r>
          </a:p>
        </p:txBody>
      </p:sp>
      <p:sp>
        <p:nvSpPr>
          <p:cNvPr name="TextBox 12" id="12"/>
          <p:cNvSpPr txBox="true"/>
          <p:nvPr/>
        </p:nvSpPr>
        <p:spPr>
          <a:xfrm rot="0">
            <a:off x="2796248" y="4636767"/>
            <a:ext cx="3488318" cy="3055014"/>
          </a:xfrm>
          <a:prstGeom prst="rect">
            <a:avLst/>
          </a:prstGeom>
        </p:spPr>
        <p:txBody>
          <a:bodyPr anchor="t" rtlCol="false" tIns="0" lIns="0" bIns="0" rIns="0">
            <a:spAutoFit/>
          </a:bodyPr>
          <a:lstStyle/>
          <a:p>
            <a:pPr algn="l">
              <a:lnSpc>
                <a:spcPts val="4863"/>
              </a:lnSpc>
            </a:pPr>
            <a:r>
              <a:rPr lang="en-US" sz="3473" b="true">
                <a:solidFill>
                  <a:srgbClr val="000000"/>
                </a:solidFill>
                <a:latin typeface="Times New Roman Bold"/>
                <a:ea typeface="Times New Roman Bold"/>
                <a:cs typeface="Times New Roman Bold"/>
                <a:sym typeface="Times New Roman Bold"/>
              </a:rPr>
              <a:t>Tháo rotuyn lái trong.</a:t>
            </a:r>
          </a:p>
          <a:p>
            <a:pPr algn="l">
              <a:lnSpc>
                <a:spcPts val="4863"/>
              </a:lnSpc>
            </a:pPr>
            <a:r>
              <a:rPr lang="en-US" sz="3473">
                <a:solidFill>
                  <a:srgbClr val="000000"/>
                </a:solidFill>
                <a:latin typeface="Times New Roman"/>
                <a:ea typeface="Times New Roman"/>
                <a:cs typeface="Times New Roman"/>
                <a:sym typeface="Times New Roman"/>
              </a:rPr>
              <a:t>a. Dùng dụng</a:t>
            </a:r>
            <a:r>
              <a:rPr lang="en-US" sz="3473">
                <a:solidFill>
                  <a:srgbClr val="000000"/>
                </a:solidFill>
                <a:latin typeface="Times New Roman"/>
                <a:ea typeface="Times New Roman"/>
                <a:cs typeface="Times New Roman"/>
                <a:sym typeface="Times New Roman"/>
              </a:rPr>
              <a:t> cụ tháo rotuyn lái chuyên dụng.</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3107678" y="2926014"/>
            <a:ext cx="3409836" cy="1108197"/>
          </a:xfrm>
          <a:custGeom>
            <a:avLst/>
            <a:gdLst/>
            <a:ahLst/>
            <a:cxnLst/>
            <a:rect r="r" b="b" t="t" l="l"/>
            <a:pathLst>
              <a:path h="1108197" w="3409836">
                <a:moveTo>
                  <a:pt x="0" y="0"/>
                </a:moveTo>
                <a:lnTo>
                  <a:pt x="3409836" y="0"/>
                </a:lnTo>
                <a:lnTo>
                  <a:pt x="3409836" y="1108197"/>
                </a:lnTo>
                <a:lnTo>
                  <a:pt x="0" y="11081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44715" y="4625357"/>
            <a:ext cx="8486051" cy="1866931"/>
          </a:xfrm>
          <a:custGeom>
            <a:avLst/>
            <a:gdLst/>
            <a:ahLst/>
            <a:cxnLst/>
            <a:rect r="r" b="b" t="t" l="l"/>
            <a:pathLst>
              <a:path h="1866931" w="8486051">
                <a:moveTo>
                  <a:pt x="0" y="0"/>
                </a:moveTo>
                <a:lnTo>
                  <a:pt x="8486051" y="0"/>
                </a:lnTo>
                <a:lnTo>
                  <a:pt x="8486051" y="1866932"/>
                </a:lnTo>
                <a:lnTo>
                  <a:pt x="0" y="18669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9561832" y="2981724"/>
            <a:ext cx="7805657" cy="6881303"/>
          </a:xfrm>
          <a:custGeom>
            <a:avLst/>
            <a:gdLst/>
            <a:ahLst/>
            <a:cxnLst/>
            <a:rect r="r" b="b" t="t" l="l"/>
            <a:pathLst>
              <a:path h="6881303" w="7805657">
                <a:moveTo>
                  <a:pt x="0" y="0"/>
                </a:moveTo>
                <a:lnTo>
                  <a:pt x="7805657" y="0"/>
                </a:lnTo>
                <a:lnTo>
                  <a:pt x="7805657" y="6881303"/>
                </a:lnTo>
                <a:lnTo>
                  <a:pt x="0" y="6881303"/>
                </a:lnTo>
                <a:lnTo>
                  <a:pt x="0" y="0"/>
                </a:lnTo>
                <a:close/>
              </a:path>
            </a:pathLst>
          </a:custGeom>
          <a:blipFill>
            <a:blip r:embed="rId8"/>
            <a:stretch>
              <a:fillRect l="0" t="0" r="0" b="0"/>
            </a:stretch>
          </a:blipFill>
        </p:spPr>
      </p:sp>
      <p:sp>
        <p:nvSpPr>
          <p:cNvPr name="Freeform 10" id="10"/>
          <p:cNvSpPr/>
          <p:nvPr/>
        </p:nvSpPr>
        <p:spPr>
          <a:xfrm flipH="false" flipV="false" rot="0">
            <a:off x="0" y="6261965"/>
            <a:ext cx="9098464" cy="4230786"/>
          </a:xfrm>
          <a:custGeom>
            <a:avLst/>
            <a:gdLst/>
            <a:ahLst/>
            <a:cxnLst/>
            <a:rect r="r" b="b" t="t" l="l"/>
            <a:pathLst>
              <a:path h="4230786" w="9098464">
                <a:moveTo>
                  <a:pt x="0" y="0"/>
                </a:moveTo>
                <a:lnTo>
                  <a:pt x="9098464" y="0"/>
                </a:lnTo>
                <a:lnTo>
                  <a:pt x="9098464" y="4230785"/>
                </a:lnTo>
                <a:lnTo>
                  <a:pt x="0" y="4230785"/>
                </a:lnTo>
                <a:lnTo>
                  <a:pt x="0" y="0"/>
                </a:lnTo>
                <a:close/>
              </a:path>
            </a:pathLst>
          </a:custGeom>
          <a:blipFill>
            <a:blip r:embed="rId9"/>
            <a:stretch>
              <a:fillRect l="0" t="0" r="0" b="0"/>
            </a:stretch>
          </a:blipFill>
        </p:spPr>
      </p:sp>
      <p:sp>
        <p:nvSpPr>
          <p:cNvPr name="TextBox 11" id="11"/>
          <p:cNvSpPr txBox="true"/>
          <p:nvPr/>
        </p:nvSpPr>
        <p:spPr>
          <a:xfrm rot="0">
            <a:off x="3107678" y="3137530"/>
            <a:ext cx="3409836" cy="599440"/>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a:ea typeface="Times New Roman"/>
                <a:cs typeface="Times New Roman"/>
                <a:sym typeface="Times New Roman"/>
              </a:rPr>
              <a:t>Bước 7</a:t>
            </a:r>
          </a:p>
        </p:txBody>
      </p:sp>
      <p:sp>
        <p:nvSpPr>
          <p:cNvPr name="TextBox 12" id="12"/>
          <p:cNvSpPr txBox="true"/>
          <p:nvPr/>
        </p:nvSpPr>
        <p:spPr>
          <a:xfrm rot="0">
            <a:off x="1028700" y="5168933"/>
            <a:ext cx="7009631" cy="675005"/>
          </a:xfrm>
          <a:prstGeom prst="rect">
            <a:avLst/>
          </a:prstGeom>
        </p:spPr>
        <p:txBody>
          <a:bodyPr anchor="t" rtlCol="false" tIns="0" lIns="0" bIns="0" rIns="0">
            <a:spAutoFit/>
          </a:bodyPr>
          <a:lstStyle/>
          <a:p>
            <a:pPr algn="just">
              <a:lnSpc>
                <a:spcPts val="5319"/>
              </a:lnSpc>
            </a:pPr>
            <a:r>
              <a:rPr lang="en-US" sz="3799" b="true">
                <a:solidFill>
                  <a:srgbClr val="000000"/>
                </a:solidFill>
                <a:latin typeface="Times New Roman Bold"/>
                <a:ea typeface="Times New Roman Bold"/>
                <a:cs typeface="Times New Roman Bold"/>
                <a:sym typeface="Times New Roman Bold"/>
              </a:rPr>
              <a:t>Tháo cụm điề</a:t>
            </a:r>
            <a:r>
              <a:rPr lang="en-US" b="true" sz="3799">
                <a:solidFill>
                  <a:srgbClr val="000000"/>
                </a:solidFill>
                <a:latin typeface="Times New Roman Bold"/>
                <a:ea typeface="Times New Roman Bold"/>
                <a:cs typeface="Times New Roman Bold"/>
                <a:sym typeface="Times New Roman Bold"/>
              </a:rPr>
              <a:t>u chỉnh bánh răng.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2232974" y="3134999"/>
            <a:ext cx="5177949" cy="5537913"/>
          </a:xfrm>
          <a:custGeom>
            <a:avLst/>
            <a:gdLst/>
            <a:ahLst/>
            <a:cxnLst/>
            <a:rect r="r" b="b" t="t" l="l"/>
            <a:pathLst>
              <a:path h="5537913" w="5177949">
                <a:moveTo>
                  <a:pt x="0" y="0"/>
                </a:moveTo>
                <a:lnTo>
                  <a:pt x="5177949" y="0"/>
                </a:lnTo>
                <a:lnTo>
                  <a:pt x="5177949" y="5537913"/>
                </a:lnTo>
                <a:lnTo>
                  <a:pt x="0" y="5537913"/>
                </a:lnTo>
                <a:lnTo>
                  <a:pt x="0" y="0"/>
                </a:lnTo>
                <a:close/>
              </a:path>
            </a:pathLst>
          </a:custGeom>
          <a:blipFill>
            <a:blip r:embed="rId4"/>
            <a:stretch>
              <a:fillRect l="0" t="0" r="0" b="0"/>
            </a:stretch>
          </a:blipFill>
        </p:spPr>
      </p:sp>
      <p:sp>
        <p:nvSpPr>
          <p:cNvPr name="Freeform 8" id="8"/>
          <p:cNvSpPr/>
          <p:nvPr/>
        </p:nvSpPr>
        <p:spPr>
          <a:xfrm flipH="false" flipV="false" rot="0">
            <a:off x="9098464" y="2286480"/>
            <a:ext cx="6109959" cy="7771439"/>
          </a:xfrm>
          <a:custGeom>
            <a:avLst/>
            <a:gdLst/>
            <a:ahLst/>
            <a:cxnLst/>
            <a:rect r="r" b="b" t="t" l="l"/>
            <a:pathLst>
              <a:path h="7771439" w="6109959">
                <a:moveTo>
                  <a:pt x="0" y="0"/>
                </a:moveTo>
                <a:lnTo>
                  <a:pt x="6109959" y="0"/>
                </a:lnTo>
                <a:lnTo>
                  <a:pt x="6109959" y="7771440"/>
                </a:lnTo>
                <a:lnTo>
                  <a:pt x="0" y="7771440"/>
                </a:lnTo>
                <a:lnTo>
                  <a:pt x="0" y="0"/>
                </a:lnTo>
                <a:close/>
              </a:path>
            </a:pathLst>
          </a:custGeom>
          <a:blipFill>
            <a:blip r:embed="rId5"/>
            <a:stretch>
              <a:fillRect l="0" t="0" r="0" b="0"/>
            </a:stretch>
          </a:blipFill>
        </p:spPr>
      </p:sp>
      <p:sp>
        <p:nvSpPr>
          <p:cNvPr name="Freeform 9" id="9"/>
          <p:cNvSpPr/>
          <p:nvPr/>
        </p:nvSpPr>
        <p:spPr>
          <a:xfrm flipH="false" flipV="false" rot="0">
            <a:off x="14852142" y="5968927"/>
            <a:ext cx="3435858" cy="4114800"/>
          </a:xfrm>
          <a:custGeom>
            <a:avLst/>
            <a:gdLst/>
            <a:ahLst/>
            <a:cxnLst/>
            <a:rect r="r" b="b" t="t" l="l"/>
            <a:pathLst>
              <a:path h="4114800" w="3435858">
                <a:moveTo>
                  <a:pt x="0" y="0"/>
                </a:moveTo>
                <a:lnTo>
                  <a:pt x="3435858" y="0"/>
                </a:lnTo>
                <a:lnTo>
                  <a:pt x="343585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0" y="6172200"/>
            <a:ext cx="3044952" cy="4114800"/>
          </a:xfrm>
          <a:custGeom>
            <a:avLst/>
            <a:gdLst/>
            <a:ahLst/>
            <a:cxnLst/>
            <a:rect r="r" b="b" t="t" l="l"/>
            <a:pathLst>
              <a:path h="4114800" w="3044952">
                <a:moveTo>
                  <a:pt x="0" y="0"/>
                </a:moveTo>
                <a:lnTo>
                  <a:pt x="3044952" y="0"/>
                </a:lnTo>
                <a:lnTo>
                  <a:pt x="3044952"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3345643" y="3274459"/>
            <a:ext cx="2808981" cy="599440"/>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a:ea typeface="Times New Roman"/>
                <a:cs typeface="Times New Roman"/>
                <a:sym typeface="Times New Roman"/>
              </a:rPr>
              <a:t>Bước 8</a:t>
            </a:r>
          </a:p>
        </p:txBody>
      </p:sp>
      <p:sp>
        <p:nvSpPr>
          <p:cNvPr name="TextBox 12" id="12"/>
          <p:cNvSpPr txBox="true"/>
          <p:nvPr/>
        </p:nvSpPr>
        <p:spPr>
          <a:xfrm rot="0">
            <a:off x="3345643" y="4229706"/>
            <a:ext cx="3488318" cy="3999894"/>
          </a:xfrm>
          <a:prstGeom prst="rect">
            <a:avLst/>
          </a:prstGeom>
        </p:spPr>
        <p:txBody>
          <a:bodyPr anchor="t" rtlCol="false" tIns="0" lIns="0" bIns="0" rIns="0">
            <a:spAutoFit/>
          </a:bodyPr>
          <a:lstStyle/>
          <a:p>
            <a:pPr algn="l">
              <a:lnSpc>
                <a:spcPts val="5283"/>
              </a:lnSpc>
            </a:pPr>
            <a:r>
              <a:rPr lang="en-US" sz="3773" b="true">
                <a:solidFill>
                  <a:srgbClr val="000000"/>
                </a:solidFill>
                <a:latin typeface="Times New Roman Bold"/>
                <a:ea typeface="Times New Roman Bold"/>
                <a:cs typeface="Times New Roman Bold"/>
                <a:sym typeface="Times New Roman Bold"/>
              </a:rPr>
              <a:t>Tháo các chi tiết hãm và điều chỉnh của trục vít.</a:t>
            </a:r>
          </a:p>
          <a:p>
            <a:pPr algn="l">
              <a:lnSpc>
                <a:spcPts val="5283"/>
              </a:lnSpc>
            </a:pPr>
            <a:r>
              <a:rPr lang="en-US" sz="3773">
                <a:solidFill>
                  <a:srgbClr val="000000"/>
                </a:solidFill>
                <a:latin typeface="Times New Roman"/>
                <a:ea typeface="Times New Roman"/>
                <a:cs typeface="Times New Roman"/>
                <a:sym typeface="Times New Roman"/>
              </a:rPr>
              <a:t>a. Dùng </a:t>
            </a:r>
            <a:r>
              <a:rPr lang="en-US" sz="3773" b="true">
                <a:solidFill>
                  <a:srgbClr val="000000"/>
                </a:solidFill>
                <a:latin typeface="Times New Roman Bold"/>
                <a:ea typeface="Times New Roman Bold"/>
                <a:cs typeface="Times New Roman Bold"/>
                <a:sym typeface="Times New Roman Bold"/>
              </a:rPr>
              <a:t>kìm</a:t>
            </a:r>
            <a:r>
              <a:rPr lang="en-US" sz="3773">
                <a:solidFill>
                  <a:srgbClr val="000000"/>
                </a:solidFill>
                <a:latin typeface="Times New Roman"/>
                <a:ea typeface="Times New Roman"/>
                <a:cs typeface="Times New Roman"/>
                <a:sym typeface="Times New Roman"/>
              </a:rPr>
              <a:t> gắp các chi tiết.</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5212204" y="2371418"/>
            <a:ext cx="4350087" cy="7311071"/>
          </a:xfrm>
          <a:custGeom>
            <a:avLst/>
            <a:gdLst/>
            <a:ahLst/>
            <a:cxnLst/>
            <a:rect r="r" b="b" t="t" l="l"/>
            <a:pathLst>
              <a:path h="7311071" w="4350087">
                <a:moveTo>
                  <a:pt x="0" y="0"/>
                </a:moveTo>
                <a:lnTo>
                  <a:pt x="4350087" y="0"/>
                </a:lnTo>
                <a:lnTo>
                  <a:pt x="4350087" y="7311071"/>
                </a:lnTo>
                <a:lnTo>
                  <a:pt x="0" y="73110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0" y="2057400"/>
            <a:ext cx="5266944" cy="8229600"/>
          </a:xfrm>
          <a:custGeom>
            <a:avLst/>
            <a:gdLst/>
            <a:ahLst/>
            <a:cxnLst/>
            <a:rect r="r" b="b" t="t" l="l"/>
            <a:pathLst>
              <a:path h="8229600" w="5266944">
                <a:moveTo>
                  <a:pt x="0" y="0"/>
                </a:moveTo>
                <a:lnTo>
                  <a:pt x="5266944" y="0"/>
                </a:lnTo>
                <a:lnTo>
                  <a:pt x="5266944" y="8229600"/>
                </a:lnTo>
                <a:lnTo>
                  <a:pt x="0" y="8229600"/>
                </a:lnTo>
                <a:lnTo>
                  <a:pt x="0" y="0"/>
                </a:lnTo>
                <a:close/>
              </a:path>
            </a:pathLst>
          </a:custGeom>
          <a:blipFill>
            <a:blip r:embed="rId6"/>
            <a:stretch>
              <a:fillRect l="0" t="0" r="0" b="0"/>
            </a:stretch>
          </a:blipFill>
        </p:spPr>
      </p:sp>
      <p:sp>
        <p:nvSpPr>
          <p:cNvPr name="Freeform 9" id="9"/>
          <p:cNvSpPr/>
          <p:nvPr/>
        </p:nvSpPr>
        <p:spPr>
          <a:xfrm flipH="false" flipV="false" rot="0">
            <a:off x="13310035" y="8544712"/>
            <a:ext cx="4977965" cy="1742288"/>
          </a:xfrm>
          <a:custGeom>
            <a:avLst/>
            <a:gdLst/>
            <a:ahLst/>
            <a:cxnLst/>
            <a:rect r="r" b="b" t="t" l="l"/>
            <a:pathLst>
              <a:path h="1742288" w="4977965">
                <a:moveTo>
                  <a:pt x="0" y="0"/>
                </a:moveTo>
                <a:lnTo>
                  <a:pt x="4977965" y="0"/>
                </a:lnTo>
                <a:lnTo>
                  <a:pt x="4977965" y="1742288"/>
                </a:lnTo>
                <a:lnTo>
                  <a:pt x="0" y="1742288"/>
                </a:lnTo>
                <a:lnTo>
                  <a:pt x="0" y="0"/>
                </a:lnTo>
                <a:close/>
              </a:path>
            </a:pathLst>
          </a:custGeom>
          <a:blipFill>
            <a:blip r:embed="rId7"/>
            <a:stretch>
              <a:fillRect l="0" t="0" r="0" b="0"/>
            </a:stretch>
          </a:blipFill>
        </p:spPr>
      </p:sp>
      <p:sp>
        <p:nvSpPr>
          <p:cNvPr name="Freeform 10" id="10"/>
          <p:cNvSpPr/>
          <p:nvPr/>
        </p:nvSpPr>
        <p:spPr>
          <a:xfrm flipH="false" flipV="false" rot="0">
            <a:off x="10867762" y="2098910"/>
            <a:ext cx="4543371" cy="8387762"/>
          </a:xfrm>
          <a:custGeom>
            <a:avLst/>
            <a:gdLst/>
            <a:ahLst/>
            <a:cxnLst/>
            <a:rect r="r" b="b" t="t" l="l"/>
            <a:pathLst>
              <a:path h="8387762" w="4543371">
                <a:moveTo>
                  <a:pt x="0" y="0"/>
                </a:moveTo>
                <a:lnTo>
                  <a:pt x="4543371" y="0"/>
                </a:lnTo>
                <a:lnTo>
                  <a:pt x="4543371" y="8387762"/>
                </a:lnTo>
                <a:lnTo>
                  <a:pt x="0" y="8387762"/>
                </a:lnTo>
                <a:lnTo>
                  <a:pt x="0" y="0"/>
                </a:lnTo>
                <a:close/>
              </a:path>
            </a:pathLst>
          </a:custGeom>
          <a:blipFill>
            <a:blip r:embed="rId8"/>
            <a:stretch>
              <a:fillRect l="0" t="0" r="0" b="0"/>
            </a:stretch>
          </a:blipFill>
        </p:spPr>
      </p:sp>
      <p:sp>
        <p:nvSpPr>
          <p:cNvPr name="TextBox 11" id="11"/>
          <p:cNvSpPr txBox="true"/>
          <p:nvPr/>
        </p:nvSpPr>
        <p:spPr>
          <a:xfrm rot="0">
            <a:off x="5931949" y="3707600"/>
            <a:ext cx="2808981" cy="599440"/>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a:ea typeface="Times New Roman"/>
                <a:cs typeface="Times New Roman"/>
                <a:sym typeface="Times New Roman"/>
              </a:rPr>
              <a:t>Bước 9</a:t>
            </a:r>
          </a:p>
        </p:txBody>
      </p:sp>
      <p:sp>
        <p:nvSpPr>
          <p:cNvPr name="TextBox 12" id="12"/>
          <p:cNvSpPr txBox="true"/>
          <p:nvPr/>
        </p:nvSpPr>
        <p:spPr>
          <a:xfrm rot="0">
            <a:off x="6033566" y="4810195"/>
            <a:ext cx="2707364" cy="3342005"/>
          </a:xfrm>
          <a:prstGeom prst="rect">
            <a:avLst/>
          </a:prstGeom>
        </p:spPr>
        <p:txBody>
          <a:bodyPr anchor="t" rtlCol="false" tIns="0" lIns="0" bIns="0" rIns="0">
            <a:spAutoFit/>
          </a:bodyPr>
          <a:lstStyle/>
          <a:p>
            <a:pPr algn="ctr">
              <a:lnSpc>
                <a:spcPts val="5320"/>
              </a:lnSpc>
            </a:pPr>
            <a:r>
              <a:rPr lang="en-US" b="true" sz="3800">
                <a:solidFill>
                  <a:srgbClr val="000000"/>
                </a:solidFill>
                <a:latin typeface="Times New Roman Bold"/>
                <a:ea typeface="Times New Roman Bold"/>
                <a:cs typeface="Times New Roman Bold"/>
                <a:sym typeface="Times New Roman Bold"/>
              </a:rPr>
              <a:t>Tháo trục vít.</a:t>
            </a:r>
          </a:p>
          <a:p>
            <a:pPr algn="ctr">
              <a:lnSpc>
                <a:spcPts val="5320"/>
              </a:lnSpc>
            </a:pPr>
            <a:r>
              <a:rPr lang="en-US" sz="3800">
                <a:solidFill>
                  <a:srgbClr val="000000"/>
                </a:solidFill>
                <a:latin typeface="Times New Roman"/>
                <a:ea typeface="Times New Roman"/>
                <a:cs typeface="Times New Roman"/>
                <a:sym typeface="Times New Roman"/>
              </a:rPr>
              <a:t>a. Rút nhẹ lên và kiểm tra sơ bộ.</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466774" y="2300051"/>
            <a:ext cx="6719877" cy="1307321"/>
          </a:xfrm>
          <a:custGeom>
            <a:avLst/>
            <a:gdLst/>
            <a:ahLst/>
            <a:cxnLst/>
            <a:rect r="r" b="b" t="t" l="l"/>
            <a:pathLst>
              <a:path h="1307321" w="6719877">
                <a:moveTo>
                  <a:pt x="0" y="0"/>
                </a:moveTo>
                <a:lnTo>
                  <a:pt x="6719877" y="0"/>
                </a:lnTo>
                <a:lnTo>
                  <a:pt x="6719877" y="1307322"/>
                </a:lnTo>
                <a:lnTo>
                  <a:pt x="0" y="1307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095436" y="4207448"/>
            <a:ext cx="4782530" cy="5115006"/>
          </a:xfrm>
          <a:custGeom>
            <a:avLst/>
            <a:gdLst/>
            <a:ahLst/>
            <a:cxnLst/>
            <a:rect r="r" b="b" t="t" l="l"/>
            <a:pathLst>
              <a:path h="5115006" w="4782530">
                <a:moveTo>
                  <a:pt x="0" y="0"/>
                </a:moveTo>
                <a:lnTo>
                  <a:pt x="4782530" y="0"/>
                </a:lnTo>
                <a:lnTo>
                  <a:pt x="4782530" y="5115005"/>
                </a:lnTo>
                <a:lnTo>
                  <a:pt x="0" y="5115005"/>
                </a:lnTo>
                <a:lnTo>
                  <a:pt x="0" y="0"/>
                </a:lnTo>
                <a:close/>
              </a:path>
            </a:pathLst>
          </a:custGeom>
          <a:blipFill>
            <a:blip r:embed="rId6"/>
            <a:stretch>
              <a:fillRect l="0" t="0" r="0" b="0"/>
            </a:stretch>
          </a:blipFill>
        </p:spPr>
      </p:sp>
      <p:sp>
        <p:nvSpPr>
          <p:cNvPr name="Freeform 9" id="9"/>
          <p:cNvSpPr/>
          <p:nvPr/>
        </p:nvSpPr>
        <p:spPr>
          <a:xfrm flipH="false" flipV="false" rot="0">
            <a:off x="10649707" y="2300051"/>
            <a:ext cx="5775476" cy="7591476"/>
          </a:xfrm>
          <a:custGeom>
            <a:avLst/>
            <a:gdLst/>
            <a:ahLst/>
            <a:cxnLst/>
            <a:rect r="r" b="b" t="t" l="l"/>
            <a:pathLst>
              <a:path h="7591476" w="5775476">
                <a:moveTo>
                  <a:pt x="0" y="0"/>
                </a:moveTo>
                <a:lnTo>
                  <a:pt x="5775476" y="0"/>
                </a:lnTo>
                <a:lnTo>
                  <a:pt x="5775476" y="7591477"/>
                </a:lnTo>
                <a:lnTo>
                  <a:pt x="0" y="7591477"/>
                </a:lnTo>
                <a:lnTo>
                  <a:pt x="0" y="0"/>
                </a:lnTo>
                <a:close/>
              </a:path>
            </a:pathLst>
          </a:custGeom>
          <a:blipFill>
            <a:blip r:embed="rId7"/>
            <a:stretch>
              <a:fillRect l="0" t="0" r="0" b="0"/>
            </a:stretch>
          </a:blipFill>
        </p:spPr>
      </p:sp>
      <p:sp>
        <p:nvSpPr>
          <p:cNvPr name="TextBox 10" id="10"/>
          <p:cNvSpPr txBox="true"/>
          <p:nvPr/>
        </p:nvSpPr>
        <p:spPr>
          <a:xfrm rot="0">
            <a:off x="1131316" y="2611130"/>
            <a:ext cx="5390793"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1.4.2 Cách lắp hệ thống lái </a:t>
            </a:r>
          </a:p>
        </p:txBody>
      </p:sp>
      <p:sp>
        <p:nvSpPr>
          <p:cNvPr name="TextBox 11" id="11"/>
          <p:cNvSpPr txBox="true"/>
          <p:nvPr/>
        </p:nvSpPr>
        <p:spPr>
          <a:xfrm rot="0">
            <a:off x="3373978" y="5515032"/>
            <a:ext cx="4343999" cy="2999740"/>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a:ea typeface="Times New Roman"/>
                <a:cs typeface="Times New Roman"/>
                <a:sym typeface="Times New Roman"/>
              </a:rPr>
              <a:t>Lắp trục vít.</a:t>
            </a:r>
          </a:p>
          <a:p>
            <a:pPr algn="ctr">
              <a:lnSpc>
                <a:spcPts val="4759"/>
              </a:lnSpc>
            </a:pPr>
            <a:r>
              <a:rPr lang="en-US" sz="3399">
                <a:solidFill>
                  <a:srgbClr val="000000"/>
                </a:solidFill>
                <a:latin typeface="Times New Roman"/>
                <a:ea typeface="Times New Roman"/>
                <a:cs typeface="Times New Roman"/>
                <a:sym typeface="Times New Roman"/>
              </a:rPr>
              <a:t>a. Lắp trục vít và gắn phe cài để cố định ko để rơi</a:t>
            </a:r>
          </a:p>
          <a:p>
            <a:pPr algn="ctr">
              <a:lnSpc>
                <a:spcPts val="4759"/>
              </a:lnSpc>
              <a:spcBef>
                <a:spcPct val="0"/>
              </a:spcBef>
            </a:pPr>
          </a:p>
        </p:txBody>
      </p:sp>
      <p:sp>
        <p:nvSpPr>
          <p:cNvPr name="TextBox 12" id="12"/>
          <p:cNvSpPr txBox="true"/>
          <p:nvPr/>
        </p:nvSpPr>
        <p:spPr>
          <a:xfrm rot="0">
            <a:off x="4853824" y="4261483"/>
            <a:ext cx="1265753"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Bước 1</a:t>
            </a:r>
          </a:p>
        </p:txBody>
      </p:sp>
      <p:sp>
        <p:nvSpPr>
          <p:cNvPr name="Freeform 13" id="13"/>
          <p:cNvSpPr/>
          <p:nvPr/>
        </p:nvSpPr>
        <p:spPr>
          <a:xfrm flipH="false" flipV="false" rot="2092904">
            <a:off x="330937" y="6871573"/>
            <a:ext cx="1983449" cy="1943780"/>
          </a:xfrm>
          <a:custGeom>
            <a:avLst/>
            <a:gdLst/>
            <a:ahLst/>
            <a:cxnLst/>
            <a:rect r="r" b="b" t="t" l="l"/>
            <a:pathLst>
              <a:path h="1943780" w="1983449">
                <a:moveTo>
                  <a:pt x="0" y="0"/>
                </a:moveTo>
                <a:lnTo>
                  <a:pt x="1983449" y="0"/>
                </a:lnTo>
                <a:lnTo>
                  <a:pt x="1983449" y="1943780"/>
                </a:lnTo>
                <a:lnTo>
                  <a:pt x="0" y="19437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1864280">
            <a:off x="8640401" y="6881245"/>
            <a:ext cx="1966750" cy="1671737"/>
          </a:xfrm>
          <a:custGeom>
            <a:avLst/>
            <a:gdLst/>
            <a:ahLst/>
            <a:cxnLst/>
            <a:rect r="r" b="b" t="t" l="l"/>
            <a:pathLst>
              <a:path h="1671737" w="1966750">
                <a:moveTo>
                  <a:pt x="0" y="0"/>
                </a:moveTo>
                <a:lnTo>
                  <a:pt x="1966750" y="0"/>
                </a:lnTo>
                <a:lnTo>
                  <a:pt x="1966750" y="1671738"/>
                </a:lnTo>
                <a:lnTo>
                  <a:pt x="0" y="167173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466774" y="2300051"/>
            <a:ext cx="6719877" cy="1307321"/>
          </a:xfrm>
          <a:custGeom>
            <a:avLst/>
            <a:gdLst/>
            <a:ahLst/>
            <a:cxnLst/>
            <a:rect r="r" b="b" t="t" l="l"/>
            <a:pathLst>
              <a:path h="1307321" w="6719877">
                <a:moveTo>
                  <a:pt x="0" y="0"/>
                </a:moveTo>
                <a:lnTo>
                  <a:pt x="6719877" y="0"/>
                </a:lnTo>
                <a:lnTo>
                  <a:pt x="6719877" y="1307322"/>
                </a:lnTo>
                <a:lnTo>
                  <a:pt x="0" y="1307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947073" y="4143294"/>
            <a:ext cx="4422601" cy="4476465"/>
          </a:xfrm>
          <a:custGeom>
            <a:avLst/>
            <a:gdLst/>
            <a:ahLst/>
            <a:cxnLst/>
            <a:rect r="r" b="b" t="t" l="l"/>
            <a:pathLst>
              <a:path h="4476465" w="4422601">
                <a:moveTo>
                  <a:pt x="0" y="0"/>
                </a:moveTo>
                <a:lnTo>
                  <a:pt x="4422601" y="0"/>
                </a:lnTo>
                <a:lnTo>
                  <a:pt x="4422601" y="4476466"/>
                </a:lnTo>
                <a:lnTo>
                  <a:pt x="0" y="4476466"/>
                </a:lnTo>
                <a:lnTo>
                  <a:pt x="0" y="0"/>
                </a:lnTo>
                <a:close/>
              </a:path>
            </a:pathLst>
          </a:custGeom>
          <a:blipFill>
            <a:blip r:embed="rId6"/>
            <a:stretch>
              <a:fillRect l="0" t="-2832" r="0" b="-2832"/>
            </a:stretch>
          </a:blipFill>
        </p:spPr>
      </p:sp>
      <p:sp>
        <p:nvSpPr>
          <p:cNvPr name="Freeform 9" id="9"/>
          <p:cNvSpPr/>
          <p:nvPr/>
        </p:nvSpPr>
        <p:spPr>
          <a:xfrm flipH="false" flipV="false" rot="0">
            <a:off x="14011537" y="7566530"/>
            <a:ext cx="3801731" cy="3383541"/>
          </a:xfrm>
          <a:custGeom>
            <a:avLst/>
            <a:gdLst/>
            <a:ahLst/>
            <a:cxnLst/>
            <a:rect r="r" b="b" t="t" l="l"/>
            <a:pathLst>
              <a:path h="3383541" w="3801731">
                <a:moveTo>
                  <a:pt x="0" y="0"/>
                </a:moveTo>
                <a:lnTo>
                  <a:pt x="3801731" y="0"/>
                </a:lnTo>
                <a:lnTo>
                  <a:pt x="3801731" y="3383540"/>
                </a:lnTo>
                <a:lnTo>
                  <a:pt x="0" y="3383540"/>
                </a:lnTo>
                <a:lnTo>
                  <a:pt x="0" y="0"/>
                </a:lnTo>
                <a:close/>
              </a:path>
            </a:pathLst>
          </a:custGeom>
          <a:blipFill>
            <a:blip r:embed="rId7"/>
            <a:stretch>
              <a:fillRect l="0" t="0" r="0" b="0"/>
            </a:stretch>
          </a:blipFill>
        </p:spPr>
      </p:sp>
      <p:sp>
        <p:nvSpPr>
          <p:cNvPr name="TextBox 10" id="10"/>
          <p:cNvSpPr txBox="true"/>
          <p:nvPr/>
        </p:nvSpPr>
        <p:spPr>
          <a:xfrm rot="0">
            <a:off x="1131316" y="2611130"/>
            <a:ext cx="5390793"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Cách lắp hệ thống lái </a:t>
            </a:r>
          </a:p>
        </p:txBody>
      </p:sp>
      <p:sp>
        <p:nvSpPr>
          <p:cNvPr name="TextBox 11" id="11"/>
          <p:cNvSpPr txBox="true"/>
          <p:nvPr/>
        </p:nvSpPr>
        <p:spPr>
          <a:xfrm rot="0">
            <a:off x="2544108" y="5643819"/>
            <a:ext cx="3588460" cy="2095695"/>
          </a:xfrm>
          <a:prstGeom prst="rect">
            <a:avLst/>
          </a:prstGeom>
        </p:spPr>
        <p:txBody>
          <a:bodyPr anchor="t" rtlCol="false" tIns="0" lIns="0" bIns="0" rIns="0">
            <a:spAutoFit/>
          </a:bodyPr>
          <a:lstStyle/>
          <a:p>
            <a:pPr algn="ctr">
              <a:lnSpc>
                <a:spcPts val="5555"/>
              </a:lnSpc>
              <a:spcBef>
                <a:spcPct val="0"/>
              </a:spcBef>
            </a:pPr>
            <a:r>
              <a:rPr lang="en-US" sz="3968">
                <a:solidFill>
                  <a:srgbClr val="000000"/>
                </a:solidFill>
                <a:latin typeface="Times New Roman"/>
                <a:ea typeface="Times New Roman"/>
                <a:cs typeface="Times New Roman"/>
                <a:sym typeface="Times New Roman"/>
              </a:rPr>
              <a:t>Lắp các chi tiết hãm và điều chỉnh của trục vít</a:t>
            </a:r>
          </a:p>
        </p:txBody>
      </p:sp>
      <p:sp>
        <p:nvSpPr>
          <p:cNvPr name="TextBox 12" id="12"/>
          <p:cNvSpPr txBox="true"/>
          <p:nvPr/>
        </p:nvSpPr>
        <p:spPr>
          <a:xfrm rot="0">
            <a:off x="3638370" y="4271362"/>
            <a:ext cx="1265753"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Bước 2</a:t>
            </a:r>
          </a:p>
        </p:txBody>
      </p:sp>
      <p:sp>
        <p:nvSpPr>
          <p:cNvPr name="Freeform 13" id="13"/>
          <p:cNvSpPr/>
          <p:nvPr/>
        </p:nvSpPr>
        <p:spPr>
          <a:xfrm flipH="false" flipV="false" rot="0">
            <a:off x="1251767" y="8076374"/>
            <a:ext cx="9098464" cy="2363853"/>
          </a:xfrm>
          <a:custGeom>
            <a:avLst/>
            <a:gdLst/>
            <a:ahLst/>
            <a:cxnLst/>
            <a:rect r="r" b="b" t="t" l="l"/>
            <a:pathLst>
              <a:path h="2363853" w="9098464">
                <a:moveTo>
                  <a:pt x="0" y="0"/>
                </a:moveTo>
                <a:lnTo>
                  <a:pt x="9098464" y="0"/>
                </a:lnTo>
                <a:lnTo>
                  <a:pt x="9098464" y="2363852"/>
                </a:lnTo>
                <a:lnTo>
                  <a:pt x="0" y="2363852"/>
                </a:lnTo>
                <a:lnTo>
                  <a:pt x="0" y="0"/>
                </a:lnTo>
                <a:close/>
              </a:path>
            </a:pathLst>
          </a:custGeom>
          <a:blipFill>
            <a:blip r:embed="rId8"/>
            <a:stretch>
              <a:fillRect l="-1638" t="0" r="-1638" b="-23227"/>
            </a:stretch>
          </a:blipFill>
        </p:spPr>
      </p:sp>
      <p:sp>
        <p:nvSpPr>
          <p:cNvPr name="Freeform 14" id="14"/>
          <p:cNvSpPr/>
          <p:nvPr/>
        </p:nvSpPr>
        <p:spPr>
          <a:xfrm flipH="false" flipV="false" rot="0">
            <a:off x="9037829" y="2361446"/>
            <a:ext cx="6151758" cy="7331547"/>
          </a:xfrm>
          <a:custGeom>
            <a:avLst/>
            <a:gdLst/>
            <a:ahLst/>
            <a:cxnLst/>
            <a:rect r="r" b="b" t="t" l="l"/>
            <a:pathLst>
              <a:path h="7331547" w="6151758">
                <a:moveTo>
                  <a:pt x="0" y="0"/>
                </a:moveTo>
                <a:lnTo>
                  <a:pt x="6151757" y="0"/>
                </a:lnTo>
                <a:lnTo>
                  <a:pt x="6151757" y="7331547"/>
                </a:lnTo>
                <a:lnTo>
                  <a:pt x="0" y="7331547"/>
                </a:lnTo>
                <a:lnTo>
                  <a:pt x="0" y="0"/>
                </a:lnTo>
                <a:close/>
              </a:path>
            </a:pathLst>
          </a:custGeom>
          <a:blipFill>
            <a:blip r:embed="rId9"/>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466774" y="2300051"/>
            <a:ext cx="6719877" cy="1307321"/>
          </a:xfrm>
          <a:custGeom>
            <a:avLst/>
            <a:gdLst/>
            <a:ahLst/>
            <a:cxnLst/>
            <a:rect r="r" b="b" t="t" l="l"/>
            <a:pathLst>
              <a:path h="1307321" w="6719877">
                <a:moveTo>
                  <a:pt x="0" y="0"/>
                </a:moveTo>
                <a:lnTo>
                  <a:pt x="6719877" y="0"/>
                </a:lnTo>
                <a:lnTo>
                  <a:pt x="6719877" y="1307322"/>
                </a:lnTo>
                <a:lnTo>
                  <a:pt x="0" y="1307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190131" y="4323093"/>
            <a:ext cx="3942438" cy="4131981"/>
          </a:xfrm>
          <a:custGeom>
            <a:avLst/>
            <a:gdLst/>
            <a:ahLst/>
            <a:cxnLst/>
            <a:rect r="r" b="b" t="t" l="l"/>
            <a:pathLst>
              <a:path h="4131981" w="3942438">
                <a:moveTo>
                  <a:pt x="0" y="0"/>
                </a:moveTo>
                <a:lnTo>
                  <a:pt x="3942438" y="0"/>
                </a:lnTo>
                <a:lnTo>
                  <a:pt x="3942438" y="4131981"/>
                </a:lnTo>
                <a:lnTo>
                  <a:pt x="0" y="4131981"/>
                </a:lnTo>
                <a:lnTo>
                  <a:pt x="0" y="0"/>
                </a:lnTo>
                <a:close/>
              </a:path>
            </a:pathLst>
          </a:custGeom>
          <a:blipFill>
            <a:blip r:embed="rId6"/>
            <a:stretch>
              <a:fillRect l="0" t="-1022" r="0" b="-1022"/>
            </a:stretch>
          </a:blipFill>
        </p:spPr>
      </p:sp>
      <p:sp>
        <p:nvSpPr>
          <p:cNvPr name="Freeform 9" id="9"/>
          <p:cNvSpPr/>
          <p:nvPr/>
        </p:nvSpPr>
        <p:spPr>
          <a:xfrm flipH="false" flipV="false" rot="0">
            <a:off x="9848531" y="2247995"/>
            <a:ext cx="5905713" cy="7868443"/>
          </a:xfrm>
          <a:custGeom>
            <a:avLst/>
            <a:gdLst/>
            <a:ahLst/>
            <a:cxnLst/>
            <a:rect r="r" b="b" t="t" l="l"/>
            <a:pathLst>
              <a:path h="7868443" w="5905713">
                <a:moveTo>
                  <a:pt x="0" y="0"/>
                </a:moveTo>
                <a:lnTo>
                  <a:pt x="5905713" y="0"/>
                </a:lnTo>
                <a:lnTo>
                  <a:pt x="5905713" y="7868443"/>
                </a:lnTo>
                <a:lnTo>
                  <a:pt x="0" y="7868443"/>
                </a:lnTo>
                <a:lnTo>
                  <a:pt x="0" y="0"/>
                </a:lnTo>
                <a:close/>
              </a:path>
            </a:pathLst>
          </a:custGeom>
          <a:blipFill>
            <a:blip r:embed="rId7"/>
            <a:stretch>
              <a:fillRect l="0" t="0" r="0" b="0"/>
            </a:stretch>
          </a:blipFill>
        </p:spPr>
      </p:sp>
      <p:sp>
        <p:nvSpPr>
          <p:cNvPr name="TextBox 10" id="10"/>
          <p:cNvSpPr txBox="true"/>
          <p:nvPr/>
        </p:nvSpPr>
        <p:spPr>
          <a:xfrm rot="0">
            <a:off x="1131316" y="2611130"/>
            <a:ext cx="5390793"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Cách lắp hệ thống lái </a:t>
            </a:r>
          </a:p>
        </p:txBody>
      </p:sp>
      <p:sp>
        <p:nvSpPr>
          <p:cNvPr name="TextBox 11" id="11"/>
          <p:cNvSpPr txBox="true"/>
          <p:nvPr/>
        </p:nvSpPr>
        <p:spPr>
          <a:xfrm rot="0">
            <a:off x="2544108" y="5643819"/>
            <a:ext cx="3588460" cy="1395280"/>
          </a:xfrm>
          <a:prstGeom prst="rect">
            <a:avLst/>
          </a:prstGeom>
        </p:spPr>
        <p:txBody>
          <a:bodyPr anchor="t" rtlCol="false" tIns="0" lIns="0" bIns="0" rIns="0">
            <a:spAutoFit/>
          </a:bodyPr>
          <a:lstStyle/>
          <a:p>
            <a:pPr algn="ctr">
              <a:lnSpc>
                <a:spcPts val="5555"/>
              </a:lnSpc>
              <a:spcBef>
                <a:spcPct val="0"/>
              </a:spcBef>
            </a:pPr>
            <a:r>
              <a:rPr lang="en-US" sz="3968">
                <a:solidFill>
                  <a:srgbClr val="000000"/>
                </a:solidFill>
                <a:latin typeface="Times New Roman"/>
                <a:ea typeface="Times New Roman"/>
                <a:cs typeface="Times New Roman"/>
                <a:sym typeface="Times New Roman"/>
              </a:rPr>
              <a:t>Lắp cụm điều chỉnh bánh răng.</a:t>
            </a:r>
          </a:p>
        </p:txBody>
      </p:sp>
      <p:sp>
        <p:nvSpPr>
          <p:cNvPr name="TextBox 12" id="12"/>
          <p:cNvSpPr txBox="true"/>
          <p:nvPr/>
        </p:nvSpPr>
        <p:spPr>
          <a:xfrm rot="0">
            <a:off x="3638370" y="4271362"/>
            <a:ext cx="1562135"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Bước 3</a:t>
            </a:r>
          </a:p>
        </p:txBody>
      </p:sp>
      <p:sp>
        <p:nvSpPr>
          <p:cNvPr name="Freeform 13" id="13"/>
          <p:cNvSpPr/>
          <p:nvPr/>
        </p:nvSpPr>
        <p:spPr>
          <a:xfrm flipH="false" flipV="false" rot="0">
            <a:off x="15063357" y="7039098"/>
            <a:ext cx="3081208" cy="3501372"/>
          </a:xfrm>
          <a:custGeom>
            <a:avLst/>
            <a:gdLst/>
            <a:ahLst/>
            <a:cxnLst/>
            <a:rect r="r" b="b" t="t" l="l"/>
            <a:pathLst>
              <a:path h="3501372" w="3081208">
                <a:moveTo>
                  <a:pt x="0" y="0"/>
                </a:moveTo>
                <a:lnTo>
                  <a:pt x="3081207" y="0"/>
                </a:lnTo>
                <a:lnTo>
                  <a:pt x="3081207" y="3501373"/>
                </a:lnTo>
                <a:lnTo>
                  <a:pt x="0" y="35013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51273" y="6389084"/>
            <a:ext cx="9098464" cy="4230786"/>
          </a:xfrm>
          <a:custGeom>
            <a:avLst/>
            <a:gdLst/>
            <a:ahLst/>
            <a:cxnLst/>
            <a:rect r="r" b="b" t="t" l="l"/>
            <a:pathLst>
              <a:path h="4230786" w="9098464">
                <a:moveTo>
                  <a:pt x="0" y="0"/>
                </a:moveTo>
                <a:lnTo>
                  <a:pt x="9098464" y="0"/>
                </a:lnTo>
                <a:lnTo>
                  <a:pt x="9098464" y="4230785"/>
                </a:lnTo>
                <a:lnTo>
                  <a:pt x="0" y="4230785"/>
                </a:lnTo>
                <a:lnTo>
                  <a:pt x="0" y="0"/>
                </a:lnTo>
                <a:close/>
              </a:path>
            </a:pathLst>
          </a:custGeom>
          <a:blipFill>
            <a:blip r:embed="rId10"/>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466774" y="2300051"/>
            <a:ext cx="6719877" cy="1307321"/>
          </a:xfrm>
          <a:custGeom>
            <a:avLst/>
            <a:gdLst/>
            <a:ahLst/>
            <a:cxnLst/>
            <a:rect r="r" b="b" t="t" l="l"/>
            <a:pathLst>
              <a:path h="1307321" w="6719877">
                <a:moveTo>
                  <a:pt x="0" y="0"/>
                </a:moveTo>
                <a:lnTo>
                  <a:pt x="6719877" y="0"/>
                </a:lnTo>
                <a:lnTo>
                  <a:pt x="6719877" y="1307322"/>
                </a:lnTo>
                <a:lnTo>
                  <a:pt x="0" y="1307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776203" y="4028356"/>
            <a:ext cx="1562135"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Bước 4</a:t>
            </a:r>
          </a:p>
        </p:txBody>
      </p:sp>
      <p:sp>
        <p:nvSpPr>
          <p:cNvPr name="Freeform 9" id="9"/>
          <p:cNvSpPr/>
          <p:nvPr/>
        </p:nvSpPr>
        <p:spPr>
          <a:xfrm flipH="false" flipV="false" rot="0">
            <a:off x="1852353" y="3816840"/>
            <a:ext cx="3409836" cy="1108197"/>
          </a:xfrm>
          <a:custGeom>
            <a:avLst/>
            <a:gdLst/>
            <a:ahLst/>
            <a:cxnLst/>
            <a:rect r="r" b="b" t="t" l="l"/>
            <a:pathLst>
              <a:path h="1108197" w="3409836">
                <a:moveTo>
                  <a:pt x="0" y="0"/>
                </a:moveTo>
                <a:lnTo>
                  <a:pt x="3409836" y="0"/>
                </a:lnTo>
                <a:lnTo>
                  <a:pt x="3409836" y="1108197"/>
                </a:lnTo>
                <a:lnTo>
                  <a:pt x="0" y="11081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244504" y="5146116"/>
            <a:ext cx="6187669" cy="4114800"/>
          </a:xfrm>
          <a:custGeom>
            <a:avLst/>
            <a:gdLst/>
            <a:ahLst/>
            <a:cxnLst/>
            <a:rect r="r" b="b" t="t" l="l"/>
            <a:pathLst>
              <a:path h="4114800" w="6187669">
                <a:moveTo>
                  <a:pt x="0" y="0"/>
                </a:moveTo>
                <a:lnTo>
                  <a:pt x="6187669" y="0"/>
                </a:lnTo>
                <a:lnTo>
                  <a:pt x="618766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1131316" y="2611130"/>
            <a:ext cx="5390793"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Cách lắp hệ thống lái </a:t>
            </a:r>
          </a:p>
        </p:txBody>
      </p:sp>
      <p:sp>
        <p:nvSpPr>
          <p:cNvPr name="TextBox 12" id="12"/>
          <p:cNvSpPr txBox="true"/>
          <p:nvPr/>
        </p:nvSpPr>
        <p:spPr>
          <a:xfrm rot="0">
            <a:off x="1793077" y="5932768"/>
            <a:ext cx="5013469" cy="2999740"/>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a:ea typeface="Times New Roman"/>
                <a:cs typeface="Times New Roman"/>
                <a:sym typeface="Times New Roman"/>
              </a:rPr>
              <a:t>Lắp rotuyn lái trong.</a:t>
            </a:r>
          </a:p>
          <a:p>
            <a:pPr algn="ctr">
              <a:lnSpc>
                <a:spcPts val="4759"/>
              </a:lnSpc>
            </a:pPr>
            <a:r>
              <a:rPr lang="en-US" sz="3399">
                <a:solidFill>
                  <a:srgbClr val="000000"/>
                </a:solidFill>
                <a:latin typeface="Times New Roman"/>
                <a:ea typeface="Times New Roman"/>
                <a:cs typeface="Times New Roman"/>
                <a:sym typeface="Times New Roman"/>
              </a:rPr>
              <a:t>a. Dùng dụng cụ chuyên dụng để lắm rotuyn lái trong.</a:t>
            </a:r>
          </a:p>
          <a:p>
            <a:pPr algn="ctr">
              <a:lnSpc>
                <a:spcPts val="4759"/>
              </a:lnSpc>
              <a:spcBef>
                <a:spcPct val="0"/>
              </a:spcBef>
            </a:pPr>
          </a:p>
        </p:txBody>
      </p:sp>
      <p:sp>
        <p:nvSpPr>
          <p:cNvPr name="Freeform 13" id="13"/>
          <p:cNvSpPr/>
          <p:nvPr/>
        </p:nvSpPr>
        <p:spPr>
          <a:xfrm flipH="false" flipV="false" rot="0">
            <a:off x="17121958" y="9258300"/>
            <a:ext cx="1409455" cy="1435556"/>
          </a:xfrm>
          <a:custGeom>
            <a:avLst/>
            <a:gdLst/>
            <a:ahLst/>
            <a:cxnLst/>
            <a:rect r="r" b="b" t="t" l="l"/>
            <a:pathLst>
              <a:path h="1435556" w="1409455">
                <a:moveTo>
                  <a:pt x="0" y="0"/>
                </a:moveTo>
                <a:lnTo>
                  <a:pt x="1409455" y="0"/>
                </a:lnTo>
                <a:lnTo>
                  <a:pt x="1409455" y="1435556"/>
                </a:lnTo>
                <a:lnTo>
                  <a:pt x="0" y="143555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3917419">
            <a:off x="-1073830" y="7987521"/>
            <a:ext cx="3081208" cy="3501372"/>
          </a:xfrm>
          <a:custGeom>
            <a:avLst/>
            <a:gdLst/>
            <a:ahLst/>
            <a:cxnLst/>
            <a:rect r="r" b="b" t="t" l="l"/>
            <a:pathLst>
              <a:path h="3501372" w="3081208">
                <a:moveTo>
                  <a:pt x="0" y="0"/>
                </a:moveTo>
                <a:lnTo>
                  <a:pt x="3081208" y="0"/>
                </a:lnTo>
                <a:lnTo>
                  <a:pt x="3081208" y="3501372"/>
                </a:lnTo>
                <a:lnTo>
                  <a:pt x="0" y="35013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2200936">
            <a:off x="15449609" y="3368795"/>
            <a:ext cx="1983449" cy="1943780"/>
          </a:xfrm>
          <a:custGeom>
            <a:avLst/>
            <a:gdLst/>
            <a:ahLst/>
            <a:cxnLst/>
            <a:rect r="r" b="b" t="t" l="l"/>
            <a:pathLst>
              <a:path h="1943780" w="1983449">
                <a:moveTo>
                  <a:pt x="0" y="0"/>
                </a:moveTo>
                <a:lnTo>
                  <a:pt x="1983449" y="0"/>
                </a:lnTo>
                <a:lnTo>
                  <a:pt x="1983449" y="1943780"/>
                </a:lnTo>
                <a:lnTo>
                  <a:pt x="0" y="194378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9144000" y="2571842"/>
            <a:ext cx="6566916" cy="7574051"/>
          </a:xfrm>
          <a:custGeom>
            <a:avLst/>
            <a:gdLst/>
            <a:ahLst/>
            <a:cxnLst/>
            <a:rect r="r" b="b" t="t" l="l"/>
            <a:pathLst>
              <a:path h="7574051" w="6566916">
                <a:moveTo>
                  <a:pt x="0" y="0"/>
                </a:moveTo>
                <a:lnTo>
                  <a:pt x="6566916" y="0"/>
                </a:lnTo>
                <a:lnTo>
                  <a:pt x="6566916" y="7574050"/>
                </a:lnTo>
                <a:lnTo>
                  <a:pt x="0" y="7574050"/>
                </a:lnTo>
                <a:lnTo>
                  <a:pt x="0" y="0"/>
                </a:lnTo>
                <a:close/>
              </a:path>
            </a:pathLst>
          </a:custGeom>
          <a:blipFill>
            <a:blip r:embed="rId16"/>
            <a:stretch>
              <a:fillRect l="0" t="0" r="-954"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466774" y="2300051"/>
            <a:ext cx="6719877" cy="1307321"/>
          </a:xfrm>
          <a:custGeom>
            <a:avLst/>
            <a:gdLst/>
            <a:ahLst/>
            <a:cxnLst/>
            <a:rect r="r" b="b" t="t" l="l"/>
            <a:pathLst>
              <a:path h="1307321" w="6719877">
                <a:moveTo>
                  <a:pt x="0" y="0"/>
                </a:moveTo>
                <a:lnTo>
                  <a:pt x="6719877" y="0"/>
                </a:lnTo>
                <a:lnTo>
                  <a:pt x="6719877" y="1307322"/>
                </a:lnTo>
                <a:lnTo>
                  <a:pt x="0" y="1307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3862937" y="4552152"/>
            <a:ext cx="1562135"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Bước 5</a:t>
            </a:r>
          </a:p>
        </p:txBody>
      </p:sp>
      <p:sp>
        <p:nvSpPr>
          <p:cNvPr name="Freeform 9" id="9"/>
          <p:cNvSpPr/>
          <p:nvPr/>
        </p:nvSpPr>
        <p:spPr>
          <a:xfrm flipH="false" flipV="false" rot="0">
            <a:off x="2721740" y="4388423"/>
            <a:ext cx="3409836" cy="1108197"/>
          </a:xfrm>
          <a:custGeom>
            <a:avLst/>
            <a:gdLst/>
            <a:ahLst/>
            <a:cxnLst/>
            <a:rect r="r" b="b" t="t" l="l"/>
            <a:pathLst>
              <a:path h="1108197" w="3409836">
                <a:moveTo>
                  <a:pt x="0" y="0"/>
                </a:moveTo>
                <a:lnTo>
                  <a:pt x="3409836" y="0"/>
                </a:lnTo>
                <a:lnTo>
                  <a:pt x="3409836" y="1108197"/>
                </a:lnTo>
                <a:lnTo>
                  <a:pt x="0" y="11081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804685" y="5887342"/>
            <a:ext cx="7581036" cy="1667828"/>
          </a:xfrm>
          <a:custGeom>
            <a:avLst/>
            <a:gdLst/>
            <a:ahLst/>
            <a:cxnLst/>
            <a:rect r="r" b="b" t="t" l="l"/>
            <a:pathLst>
              <a:path h="1667828" w="7581036">
                <a:moveTo>
                  <a:pt x="0" y="0"/>
                </a:moveTo>
                <a:lnTo>
                  <a:pt x="7581036" y="0"/>
                </a:lnTo>
                <a:lnTo>
                  <a:pt x="7581036" y="1667828"/>
                </a:lnTo>
                <a:lnTo>
                  <a:pt x="0" y="166782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9647664" y="2419727"/>
            <a:ext cx="7235935" cy="7483741"/>
          </a:xfrm>
          <a:custGeom>
            <a:avLst/>
            <a:gdLst/>
            <a:ahLst/>
            <a:cxnLst/>
            <a:rect r="r" b="b" t="t" l="l"/>
            <a:pathLst>
              <a:path h="7483741" w="7235935">
                <a:moveTo>
                  <a:pt x="0" y="0"/>
                </a:moveTo>
                <a:lnTo>
                  <a:pt x="7235935" y="0"/>
                </a:lnTo>
                <a:lnTo>
                  <a:pt x="7235935" y="7483741"/>
                </a:lnTo>
                <a:lnTo>
                  <a:pt x="0" y="7483741"/>
                </a:lnTo>
                <a:lnTo>
                  <a:pt x="0" y="0"/>
                </a:lnTo>
                <a:close/>
              </a:path>
            </a:pathLst>
          </a:custGeom>
          <a:blipFill>
            <a:blip r:embed="rId10"/>
            <a:stretch>
              <a:fillRect l="0" t="0" r="0" b="0"/>
            </a:stretch>
          </a:blipFill>
        </p:spPr>
      </p:sp>
      <p:sp>
        <p:nvSpPr>
          <p:cNvPr name="TextBox 12" id="12"/>
          <p:cNvSpPr txBox="true"/>
          <p:nvPr/>
        </p:nvSpPr>
        <p:spPr>
          <a:xfrm rot="0">
            <a:off x="1131316" y="2611130"/>
            <a:ext cx="5390793"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Cách lắp hệ thống lái </a:t>
            </a:r>
          </a:p>
        </p:txBody>
      </p:sp>
      <p:sp>
        <p:nvSpPr>
          <p:cNvPr name="TextBox 13" id="13"/>
          <p:cNvSpPr txBox="true"/>
          <p:nvPr/>
        </p:nvSpPr>
        <p:spPr>
          <a:xfrm rot="0">
            <a:off x="2306353" y="6279880"/>
            <a:ext cx="4538182"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Lắp cao su chắn bụi.</a:t>
            </a:r>
          </a:p>
        </p:txBody>
      </p:sp>
      <p:sp>
        <p:nvSpPr>
          <p:cNvPr name="Freeform 14" id="14"/>
          <p:cNvSpPr/>
          <p:nvPr/>
        </p:nvSpPr>
        <p:spPr>
          <a:xfrm flipH="false" flipV="false" rot="0">
            <a:off x="493970" y="7072075"/>
            <a:ext cx="9098464" cy="4230786"/>
          </a:xfrm>
          <a:custGeom>
            <a:avLst/>
            <a:gdLst/>
            <a:ahLst/>
            <a:cxnLst/>
            <a:rect r="r" b="b" t="t" l="l"/>
            <a:pathLst>
              <a:path h="4230786" w="9098464">
                <a:moveTo>
                  <a:pt x="0" y="0"/>
                </a:moveTo>
                <a:lnTo>
                  <a:pt x="9098464" y="0"/>
                </a:lnTo>
                <a:lnTo>
                  <a:pt x="9098464" y="4230786"/>
                </a:lnTo>
                <a:lnTo>
                  <a:pt x="0" y="4230786"/>
                </a:lnTo>
                <a:lnTo>
                  <a:pt x="0" y="0"/>
                </a:lnTo>
                <a:close/>
              </a:path>
            </a:pathLst>
          </a:custGeom>
          <a:blipFill>
            <a:blip r:embed="rId11"/>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466774" y="2300051"/>
            <a:ext cx="6719877" cy="1307321"/>
          </a:xfrm>
          <a:custGeom>
            <a:avLst/>
            <a:gdLst/>
            <a:ahLst/>
            <a:cxnLst/>
            <a:rect r="r" b="b" t="t" l="l"/>
            <a:pathLst>
              <a:path h="1307321" w="6719877">
                <a:moveTo>
                  <a:pt x="0" y="0"/>
                </a:moveTo>
                <a:lnTo>
                  <a:pt x="6719877" y="0"/>
                </a:lnTo>
                <a:lnTo>
                  <a:pt x="6719877" y="1307322"/>
                </a:lnTo>
                <a:lnTo>
                  <a:pt x="0" y="1307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776203" y="4028356"/>
            <a:ext cx="1562135"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Bước 6</a:t>
            </a:r>
          </a:p>
        </p:txBody>
      </p:sp>
      <p:sp>
        <p:nvSpPr>
          <p:cNvPr name="Freeform 9" id="9"/>
          <p:cNvSpPr/>
          <p:nvPr/>
        </p:nvSpPr>
        <p:spPr>
          <a:xfrm flipH="false" flipV="false" rot="0">
            <a:off x="1852353" y="3807398"/>
            <a:ext cx="3409836" cy="1108197"/>
          </a:xfrm>
          <a:custGeom>
            <a:avLst/>
            <a:gdLst/>
            <a:ahLst/>
            <a:cxnLst/>
            <a:rect r="r" b="b" t="t" l="l"/>
            <a:pathLst>
              <a:path h="1108197" w="3409836">
                <a:moveTo>
                  <a:pt x="0" y="0"/>
                </a:moveTo>
                <a:lnTo>
                  <a:pt x="3409836" y="0"/>
                </a:lnTo>
                <a:lnTo>
                  <a:pt x="3409836" y="1108197"/>
                </a:lnTo>
                <a:lnTo>
                  <a:pt x="0" y="11081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869087" y="5335438"/>
            <a:ext cx="5438678" cy="3616721"/>
          </a:xfrm>
          <a:custGeom>
            <a:avLst/>
            <a:gdLst/>
            <a:ahLst/>
            <a:cxnLst/>
            <a:rect r="r" b="b" t="t" l="l"/>
            <a:pathLst>
              <a:path h="3616721" w="5438678">
                <a:moveTo>
                  <a:pt x="0" y="0"/>
                </a:moveTo>
                <a:lnTo>
                  <a:pt x="5438678" y="0"/>
                </a:lnTo>
                <a:lnTo>
                  <a:pt x="5438678" y="3616721"/>
                </a:lnTo>
                <a:lnTo>
                  <a:pt x="0" y="36167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1131316" y="2611130"/>
            <a:ext cx="5390793"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Cách lắp hệ thống lái </a:t>
            </a:r>
          </a:p>
        </p:txBody>
      </p:sp>
      <p:sp>
        <p:nvSpPr>
          <p:cNvPr name="TextBox 12" id="12"/>
          <p:cNvSpPr txBox="true"/>
          <p:nvPr/>
        </p:nvSpPr>
        <p:spPr>
          <a:xfrm rot="0">
            <a:off x="1141036" y="5932768"/>
            <a:ext cx="4729032" cy="2834415"/>
          </a:xfrm>
          <a:prstGeom prst="rect">
            <a:avLst/>
          </a:prstGeom>
        </p:spPr>
        <p:txBody>
          <a:bodyPr anchor="t" rtlCol="false" tIns="0" lIns="0" bIns="0" rIns="0">
            <a:spAutoFit/>
          </a:bodyPr>
          <a:lstStyle/>
          <a:p>
            <a:pPr algn="ctr">
              <a:lnSpc>
                <a:spcPts val="4489"/>
              </a:lnSpc>
            </a:pPr>
            <a:r>
              <a:rPr lang="en-US" sz="3207">
                <a:solidFill>
                  <a:srgbClr val="000000"/>
                </a:solidFill>
                <a:latin typeface="Times New Roman"/>
                <a:ea typeface="Times New Roman"/>
                <a:cs typeface="Times New Roman"/>
                <a:sym typeface="Times New Roman"/>
              </a:rPr>
              <a:t> Bắt chặt cụm thướt lái</a:t>
            </a:r>
          </a:p>
          <a:p>
            <a:pPr algn="ctr">
              <a:lnSpc>
                <a:spcPts val="4489"/>
              </a:lnSpc>
            </a:pPr>
            <a:r>
              <a:rPr lang="en-US" sz="3207">
                <a:solidFill>
                  <a:srgbClr val="000000"/>
                </a:solidFill>
                <a:latin typeface="Times New Roman"/>
                <a:ea typeface="Times New Roman"/>
                <a:cs typeface="Times New Roman"/>
                <a:sym typeface="Times New Roman"/>
              </a:rPr>
              <a:t>a. Bắt 4 con ốc để cố địng thước lái cho chắc chắn. </a:t>
            </a:r>
          </a:p>
          <a:p>
            <a:pPr algn="ctr">
              <a:lnSpc>
                <a:spcPts val="4489"/>
              </a:lnSpc>
              <a:spcBef>
                <a:spcPct val="0"/>
              </a:spcBef>
            </a:pPr>
            <a:r>
              <a:rPr lang="en-US" sz="3207">
                <a:solidFill>
                  <a:srgbClr val="000000"/>
                </a:solidFill>
                <a:latin typeface="Times New Roman"/>
                <a:ea typeface="Times New Roman"/>
                <a:cs typeface="Times New Roman"/>
                <a:sym typeface="Times New Roman"/>
              </a:rPr>
              <a:t>b. Dùng cần siếc T và cần nối dài cùng khẩu 21.</a:t>
            </a:r>
          </a:p>
        </p:txBody>
      </p:sp>
      <p:sp>
        <p:nvSpPr>
          <p:cNvPr name="Freeform 13" id="13"/>
          <p:cNvSpPr/>
          <p:nvPr/>
        </p:nvSpPr>
        <p:spPr>
          <a:xfrm flipH="false" flipV="false" rot="0">
            <a:off x="8124653" y="8094469"/>
            <a:ext cx="9098464" cy="2363853"/>
          </a:xfrm>
          <a:custGeom>
            <a:avLst/>
            <a:gdLst/>
            <a:ahLst/>
            <a:cxnLst/>
            <a:rect r="r" b="b" t="t" l="l"/>
            <a:pathLst>
              <a:path h="2363853" w="9098464">
                <a:moveTo>
                  <a:pt x="0" y="0"/>
                </a:moveTo>
                <a:lnTo>
                  <a:pt x="9098464" y="0"/>
                </a:lnTo>
                <a:lnTo>
                  <a:pt x="9098464" y="2363852"/>
                </a:lnTo>
                <a:lnTo>
                  <a:pt x="0" y="2363852"/>
                </a:lnTo>
                <a:lnTo>
                  <a:pt x="0" y="0"/>
                </a:lnTo>
                <a:close/>
              </a:path>
            </a:pathLst>
          </a:custGeom>
          <a:blipFill>
            <a:blip r:embed="rId10"/>
            <a:stretch>
              <a:fillRect l="-1638" t="0" r="-1638" b="-23227"/>
            </a:stretch>
          </a:blipFill>
        </p:spPr>
      </p:sp>
      <p:sp>
        <p:nvSpPr>
          <p:cNvPr name="Freeform 14" id="14"/>
          <p:cNvSpPr/>
          <p:nvPr/>
        </p:nvSpPr>
        <p:spPr>
          <a:xfrm flipH="false" flipV="false" rot="0">
            <a:off x="12086178" y="3121097"/>
            <a:ext cx="5428638" cy="6023557"/>
          </a:xfrm>
          <a:custGeom>
            <a:avLst/>
            <a:gdLst/>
            <a:ahLst/>
            <a:cxnLst/>
            <a:rect r="r" b="b" t="t" l="l"/>
            <a:pathLst>
              <a:path h="6023557" w="5428638">
                <a:moveTo>
                  <a:pt x="0" y="0"/>
                </a:moveTo>
                <a:lnTo>
                  <a:pt x="5428638" y="0"/>
                </a:lnTo>
                <a:lnTo>
                  <a:pt x="5428638" y="6023557"/>
                </a:lnTo>
                <a:lnTo>
                  <a:pt x="0" y="6023557"/>
                </a:lnTo>
                <a:lnTo>
                  <a:pt x="0" y="0"/>
                </a:lnTo>
                <a:close/>
              </a:path>
            </a:pathLst>
          </a:custGeom>
          <a:blipFill>
            <a:blip r:embed="rId11"/>
            <a:stretch>
              <a:fillRect l="0" t="0" r="0" b="0"/>
            </a:stretch>
          </a:blipFill>
        </p:spPr>
      </p:sp>
      <p:sp>
        <p:nvSpPr>
          <p:cNvPr name="Freeform 15" id="15"/>
          <p:cNvSpPr/>
          <p:nvPr/>
        </p:nvSpPr>
        <p:spPr>
          <a:xfrm flipH="false" flipV="false" rot="0">
            <a:off x="6307765" y="3607373"/>
            <a:ext cx="5778413" cy="5051005"/>
          </a:xfrm>
          <a:custGeom>
            <a:avLst/>
            <a:gdLst/>
            <a:ahLst/>
            <a:cxnLst/>
            <a:rect r="r" b="b" t="t" l="l"/>
            <a:pathLst>
              <a:path h="5051005" w="5778413">
                <a:moveTo>
                  <a:pt x="0" y="0"/>
                </a:moveTo>
                <a:lnTo>
                  <a:pt x="5778413" y="0"/>
                </a:lnTo>
                <a:lnTo>
                  <a:pt x="5778413" y="5051004"/>
                </a:lnTo>
                <a:lnTo>
                  <a:pt x="0" y="5051004"/>
                </a:lnTo>
                <a:lnTo>
                  <a:pt x="0" y="0"/>
                </a:lnTo>
                <a:close/>
              </a:path>
            </a:pathLst>
          </a:custGeom>
          <a:blipFill>
            <a:blip r:embed="rId12"/>
            <a:stretch>
              <a:fillRect l="-15293" t="0" r="-9917"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466774" y="2300051"/>
            <a:ext cx="6719877" cy="1307321"/>
          </a:xfrm>
          <a:custGeom>
            <a:avLst/>
            <a:gdLst/>
            <a:ahLst/>
            <a:cxnLst/>
            <a:rect r="r" b="b" t="t" l="l"/>
            <a:pathLst>
              <a:path h="1307321" w="6719877">
                <a:moveTo>
                  <a:pt x="0" y="0"/>
                </a:moveTo>
                <a:lnTo>
                  <a:pt x="6719877" y="0"/>
                </a:lnTo>
                <a:lnTo>
                  <a:pt x="6719877" y="1307322"/>
                </a:lnTo>
                <a:lnTo>
                  <a:pt x="0" y="1307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776203" y="4028356"/>
            <a:ext cx="1562135"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Bước 7</a:t>
            </a:r>
          </a:p>
        </p:txBody>
      </p:sp>
      <p:sp>
        <p:nvSpPr>
          <p:cNvPr name="Freeform 9" id="9"/>
          <p:cNvSpPr/>
          <p:nvPr/>
        </p:nvSpPr>
        <p:spPr>
          <a:xfrm flipH="false" flipV="false" rot="0">
            <a:off x="2109217" y="3777323"/>
            <a:ext cx="3409836" cy="1108197"/>
          </a:xfrm>
          <a:custGeom>
            <a:avLst/>
            <a:gdLst/>
            <a:ahLst/>
            <a:cxnLst/>
            <a:rect r="r" b="b" t="t" l="l"/>
            <a:pathLst>
              <a:path h="1108197" w="3409836">
                <a:moveTo>
                  <a:pt x="0" y="0"/>
                </a:moveTo>
                <a:lnTo>
                  <a:pt x="3409836" y="0"/>
                </a:lnTo>
                <a:lnTo>
                  <a:pt x="3409836" y="1108196"/>
                </a:lnTo>
                <a:lnTo>
                  <a:pt x="0" y="11081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244504" y="5146116"/>
            <a:ext cx="6187669" cy="4114800"/>
          </a:xfrm>
          <a:custGeom>
            <a:avLst/>
            <a:gdLst/>
            <a:ahLst/>
            <a:cxnLst/>
            <a:rect r="r" b="b" t="t" l="l"/>
            <a:pathLst>
              <a:path h="4114800" w="6187669">
                <a:moveTo>
                  <a:pt x="0" y="0"/>
                </a:moveTo>
                <a:lnTo>
                  <a:pt x="6187669" y="0"/>
                </a:lnTo>
                <a:lnTo>
                  <a:pt x="618766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1131316" y="2611130"/>
            <a:ext cx="5390793"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Cách lắp hệ thống lái </a:t>
            </a:r>
          </a:p>
        </p:txBody>
      </p:sp>
      <p:sp>
        <p:nvSpPr>
          <p:cNvPr name="TextBox 12" id="12"/>
          <p:cNvSpPr txBox="true"/>
          <p:nvPr/>
        </p:nvSpPr>
        <p:spPr>
          <a:xfrm rot="0">
            <a:off x="1793077" y="5932768"/>
            <a:ext cx="4729032" cy="2834415"/>
          </a:xfrm>
          <a:prstGeom prst="rect">
            <a:avLst/>
          </a:prstGeom>
        </p:spPr>
        <p:txBody>
          <a:bodyPr anchor="t" rtlCol="false" tIns="0" lIns="0" bIns="0" rIns="0">
            <a:spAutoFit/>
          </a:bodyPr>
          <a:lstStyle/>
          <a:p>
            <a:pPr algn="ctr">
              <a:lnSpc>
                <a:spcPts val="4489"/>
              </a:lnSpc>
            </a:pPr>
            <a:r>
              <a:rPr lang="en-US" sz="3207">
                <a:solidFill>
                  <a:srgbClr val="000000"/>
                </a:solidFill>
                <a:latin typeface="Times New Roman"/>
                <a:ea typeface="Times New Roman"/>
                <a:cs typeface="Times New Roman"/>
                <a:sym typeface="Times New Roman"/>
              </a:rPr>
              <a:t>Lắp ống dẫn cao áp và ống hồi của ống thủy lực.</a:t>
            </a:r>
          </a:p>
          <a:p>
            <a:pPr algn="ctr">
              <a:lnSpc>
                <a:spcPts val="4489"/>
              </a:lnSpc>
              <a:spcBef>
                <a:spcPct val="0"/>
              </a:spcBef>
            </a:pPr>
            <a:r>
              <a:rPr lang="en-US" sz="3207">
                <a:solidFill>
                  <a:srgbClr val="000000"/>
                </a:solidFill>
                <a:latin typeface="Times New Roman"/>
                <a:ea typeface="Times New Roman"/>
                <a:cs typeface="Times New Roman"/>
                <a:sym typeface="Times New Roman"/>
              </a:rPr>
              <a:t>a. Dùng cờ lê chuyên siếc ống để siếc chặc và thay dầu mới.</a:t>
            </a:r>
          </a:p>
        </p:txBody>
      </p:sp>
      <p:sp>
        <p:nvSpPr>
          <p:cNvPr name="Freeform 13" id="13"/>
          <p:cNvSpPr/>
          <p:nvPr/>
        </p:nvSpPr>
        <p:spPr>
          <a:xfrm flipH="false" flipV="false" rot="0">
            <a:off x="13606417" y="8544712"/>
            <a:ext cx="4977965" cy="1742288"/>
          </a:xfrm>
          <a:custGeom>
            <a:avLst/>
            <a:gdLst/>
            <a:ahLst/>
            <a:cxnLst/>
            <a:rect r="r" b="b" t="t" l="l"/>
            <a:pathLst>
              <a:path h="1742288" w="4977965">
                <a:moveTo>
                  <a:pt x="0" y="0"/>
                </a:moveTo>
                <a:lnTo>
                  <a:pt x="4977965" y="0"/>
                </a:lnTo>
                <a:lnTo>
                  <a:pt x="4977965" y="1742288"/>
                </a:lnTo>
                <a:lnTo>
                  <a:pt x="0" y="1742288"/>
                </a:lnTo>
                <a:lnTo>
                  <a:pt x="0" y="0"/>
                </a:lnTo>
                <a:close/>
              </a:path>
            </a:pathLst>
          </a:custGeom>
          <a:blipFill>
            <a:blip r:embed="rId10"/>
            <a:stretch>
              <a:fillRect l="0" t="0" r="0" b="0"/>
            </a:stretch>
          </a:blipFill>
        </p:spPr>
      </p:sp>
      <p:sp>
        <p:nvSpPr>
          <p:cNvPr name="Freeform 14" id="14"/>
          <p:cNvSpPr/>
          <p:nvPr/>
        </p:nvSpPr>
        <p:spPr>
          <a:xfrm flipH="false" flipV="false" rot="0">
            <a:off x="8349384" y="2439808"/>
            <a:ext cx="7430500" cy="7430500"/>
          </a:xfrm>
          <a:custGeom>
            <a:avLst/>
            <a:gdLst/>
            <a:ahLst/>
            <a:cxnLst/>
            <a:rect r="r" b="b" t="t" l="l"/>
            <a:pathLst>
              <a:path h="7430500" w="7430500">
                <a:moveTo>
                  <a:pt x="0" y="0"/>
                </a:moveTo>
                <a:lnTo>
                  <a:pt x="7430500" y="0"/>
                </a:lnTo>
                <a:lnTo>
                  <a:pt x="7430500" y="7430500"/>
                </a:lnTo>
                <a:lnTo>
                  <a:pt x="0" y="7430500"/>
                </a:lnTo>
                <a:lnTo>
                  <a:pt x="0" y="0"/>
                </a:lnTo>
                <a:close/>
              </a:path>
            </a:pathLst>
          </a:custGeom>
          <a:blipFill>
            <a:blip r:embed="rId11"/>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466774" y="2300051"/>
            <a:ext cx="6719877" cy="1307321"/>
          </a:xfrm>
          <a:custGeom>
            <a:avLst/>
            <a:gdLst/>
            <a:ahLst/>
            <a:cxnLst/>
            <a:rect r="r" b="b" t="t" l="l"/>
            <a:pathLst>
              <a:path h="1307321" w="6719877">
                <a:moveTo>
                  <a:pt x="0" y="0"/>
                </a:moveTo>
                <a:lnTo>
                  <a:pt x="6719877" y="0"/>
                </a:lnTo>
                <a:lnTo>
                  <a:pt x="6719877" y="1307322"/>
                </a:lnTo>
                <a:lnTo>
                  <a:pt x="0" y="1307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776203" y="4028356"/>
            <a:ext cx="1562135"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Bước 8</a:t>
            </a:r>
          </a:p>
        </p:txBody>
      </p:sp>
      <p:sp>
        <p:nvSpPr>
          <p:cNvPr name="Freeform 9" id="9"/>
          <p:cNvSpPr/>
          <p:nvPr/>
        </p:nvSpPr>
        <p:spPr>
          <a:xfrm flipH="false" flipV="false" rot="0">
            <a:off x="2121795" y="3822646"/>
            <a:ext cx="3409836" cy="1108197"/>
          </a:xfrm>
          <a:custGeom>
            <a:avLst/>
            <a:gdLst/>
            <a:ahLst/>
            <a:cxnLst/>
            <a:rect r="r" b="b" t="t" l="l"/>
            <a:pathLst>
              <a:path h="1108197" w="3409836">
                <a:moveTo>
                  <a:pt x="0" y="0"/>
                </a:moveTo>
                <a:lnTo>
                  <a:pt x="3409835" y="0"/>
                </a:lnTo>
                <a:lnTo>
                  <a:pt x="3409835" y="1108197"/>
                </a:lnTo>
                <a:lnTo>
                  <a:pt x="0" y="11081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628405" y="5146116"/>
            <a:ext cx="6310903" cy="4196750"/>
          </a:xfrm>
          <a:custGeom>
            <a:avLst/>
            <a:gdLst/>
            <a:ahLst/>
            <a:cxnLst/>
            <a:rect r="r" b="b" t="t" l="l"/>
            <a:pathLst>
              <a:path h="4196750" w="6310903">
                <a:moveTo>
                  <a:pt x="0" y="0"/>
                </a:moveTo>
                <a:lnTo>
                  <a:pt x="6310903" y="0"/>
                </a:lnTo>
                <a:lnTo>
                  <a:pt x="6310903" y="4196750"/>
                </a:lnTo>
                <a:lnTo>
                  <a:pt x="0" y="41967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1817648" y="2645667"/>
            <a:ext cx="6022359" cy="5448801"/>
          </a:xfrm>
          <a:custGeom>
            <a:avLst/>
            <a:gdLst/>
            <a:ahLst/>
            <a:cxnLst/>
            <a:rect r="r" b="b" t="t" l="l"/>
            <a:pathLst>
              <a:path h="5448801" w="6022359">
                <a:moveTo>
                  <a:pt x="0" y="0"/>
                </a:moveTo>
                <a:lnTo>
                  <a:pt x="6022360" y="0"/>
                </a:lnTo>
                <a:lnTo>
                  <a:pt x="6022360" y="5448802"/>
                </a:lnTo>
                <a:lnTo>
                  <a:pt x="0" y="5448802"/>
                </a:lnTo>
                <a:lnTo>
                  <a:pt x="0" y="0"/>
                </a:lnTo>
                <a:close/>
              </a:path>
            </a:pathLst>
          </a:custGeom>
          <a:blipFill>
            <a:blip r:embed="rId10"/>
            <a:stretch>
              <a:fillRect l="0" t="0" r="0" b="0"/>
            </a:stretch>
          </a:blipFill>
        </p:spPr>
      </p:sp>
      <p:sp>
        <p:nvSpPr>
          <p:cNvPr name="TextBox 12" id="12"/>
          <p:cNvSpPr txBox="true"/>
          <p:nvPr/>
        </p:nvSpPr>
        <p:spPr>
          <a:xfrm rot="0">
            <a:off x="1131316" y="2611130"/>
            <a:ext cx="5390793"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Cách lắp hệ thống lái </a:t>
            </a:r>
          </a:p>
        </p:txBody>
      </p:sp>
      <p:sp>
        <p:nvSpPr>
          <p:cNvPr name="TextBox 13" id="13"/>
          <p:cNvSpPr txBox="true"/>
          <p:nvPr/>
        </p:nvSpPr>
        <p:spPr>
          <a:xfrm rot="0">
            <a:off x="777179" y="6016693"/>
            <a:ext cx="6013354" cy="2834415"/>
          </a:xfrm>
          <a:prstGeom prst="rect">
            <a:avLst/>
          </a:prstGeom>
        </p:spPr>
        <p:txBody>
          <a:bodyPr anchor="t" rtlCol="false" tIns="0" lIns="0" bIns="0" rIns="0">
            <a:spAutoFit/>
          </a:bodyPr>
          <a:lstStyle/>
          <a:p>
            <a:pPr algn="ctr">
              <a:lnSpc>
                <a:spcPts val="4489"/>
              </a:lnSpc>
            </a:pPr>
            <a:r>
              <a:rPr lang="en-US" sz="3207">
                <a:solidFill>
                  <a:srgbClr val="000000"/>
                </a:solidFill>
                <a:latin typeface="Times New Roman"/>
                <a:ea typeface="Times New Roman"/>
                <a:cs typeface="Times New Roman"/>
                <a:sym typeface="Times New Roman"/>
              </a:rPr>
              <a:t>Lắp trục lái ra vào cụm hệ thống lái.</a:t>
            </a:r>
          </a:p>
          <a:p>
            <a:pPr algn="ctr">
              <a:lnSpc>
                <a:spcPts val="4489"/>
              </a:lnSpc>
            </a:pPr>
            <a:r>
              <a:rPr lang="en-US" sz="3207">
                <a:solidFill>
                  <a:srgbClr val="000000"/>
                </a:solidFill>
                <a:latin typeface="Times New Roman"/>
                <a:ea typeface="Times New Roman"/>
                <a:cs typeface="Times New Roman"/>
                <a:sym typeface="Times New Roman"/>
              </a:rPr>
              <a:t>a. Đưa trục lái vào đúng vị trí của cụm hệ thống lái.</a:t>
            </a:r>
          </a:p>
          <a:p>
            <a:pPr algn="ctr">
              <a:lnSpc>
                <a:spcPts val="4489"/>
              </a:lnSpc>
              <a:spcBef>
                <a:spcPct val="0"/>
              </a:spcBef>
            </a:pPr>
            <a:r>
              <a:rPr lang="en-US" sz="3207">
                <a:solidFill>
                  <a:srgbClr val="000000"/>
                </a:solidFill>
                <a:latin typeface="Times New Roman"/>
                <a:ea typeface="Times New Roman"/>
                <a:cs typeface="Times New Roman"/>
                <a:sym typeface="Times New Roman"/>
              </a:rPr>
              <a:t> </a:t>
            </a:r>
            <a:r>
              <a:rPr lang="en-US" sz="3207">
                <a:solidFill>
                  <a:srgbClr val="000000"/>
                </a:solidFill>
                <a:latin typeface="Times New Roman"/>
                <a:ea typeface="Times New Roman"/>
                <a:cs typeface="Times New Roman"/>
                <a:sym typeface="Times New Roman"/>
              </a:rPr>
              <a:t>b. Lắp bu-lông kẹp khớp nối trục lái, dùng khẩu 14 để siết.</a:t>
            </a:r>
          </a:p>
        </p:txBody>
      </p:sp>
      <p:sp>
        <p:nvSpPr>
          <p:cNvPr name="Freeform 14" id="14"/>
          <p:cNvSpPr/>
          <p:nvPr/>
        </p:nvSpPr>
        <p:spPr>
          <a:xfrm flipH="false" flipV="false" rot="0">
            <a:off x="8124653" y="8094469"/>
            <a:ext cx="9098464" cy="2363853"/>
          </a:xfrm>
          <a:custGeom>
            <a:avLst/>
            <a:gdLst/>
            <a:ahLst/>
            <a:cxnLst/>
            <a:rect r="r" b="b" t="t" l="l"/>
            <a:pathLst>
              <a:path h="2363853" w="9098464">
                <a:moveTo>
                  <a:pt x="0" y="0"/>
                </a:moveTo>
                <a:lnTo>
                  <a:pt x="9098464" y="0"/>
                </a:lnTo>
                <a:lnTo>
                  <a:pt x="9098464" y="2363852"/>
                </a:lnTo>
                <a:lnTo>
                  <a:pt x="0" y="2363852"/>
                </a:lnTo>
                <a:lnTo>
                  <a:pt x="0" y="0"/>
                </a:lnTo>
                <a:close/>
              </a:path>
            </a:pathLst>
          </a:custGeom>
          <a:blipFill>
            <a:blip r:embed="rId11"/>
            <a:stretch>
              <a:fillRect l="-1638" t="0" r="-1638" b="-23227"/>
            </a:stretch>
          </a:blipFill>
        </p:spPr>
      </p:sp>
      <p:sp>
        <p:nvSpPr>
          <p:cNvPr name="Freeform 15" id="15"/>
          <p:cNvSpPr/>
          <p:nvPr/>
        </p:nvSpPr>
        <p:spPr>
          <a:xfrm flipH="false" flipV="false" rot="0">
            <a:off x="6995040" y="4627796"/>
            <a:ext cx="4765458" cy="4935331"/>
          </a:xfrm>
          <a:custGeom>
            <a:avLst/>
            <a:gdLst/>
            <a:ahLst/>
            <a:cxnLst/>
            <a:rect r="r" b="b" t="t" l="l"/>
            <a:pathLst>
              <a:path h="4935331" w="4765458">
                <a:moveTo>
                  <a:pt x="0" y="0"/>
                </a:moveTo>
                <a:lnTo>
                  <a:pt x="4765458" y="0"/>
                </a:lnTo>
                <a:lnTo>
                  <a:pt x="4765458" y="4935331"/>
                </a:lnTo>
                <a:lnTo>
                  <a:pt x="0" y="4935331"/>
                </a:lnTo>
                <a:lnTo>
                  <a:pt x="0" y="0"/>
                </a:lnTo>
                <a:close/>
              </a:path>
            </a:pathLst>
          </a:custGeom>
          <a:blipFill>
            <a:blip r:embed="rId12"/>
            <a:stretch>
              <a:fillRect l="0" t="-1750" r="0" b="-175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073" y="0"/>
            <a:ext cx="18379073" cy="2098910"/>
          </a:xfrm>
          <a:custGeom>
            <a:avLst/>
            <a:gdLst/>
            <a:ahLst/>
            <a:cxnLst/>
            <a:rect r="r" b="b" t="t" l="l"/>
            <a:pathLst>
              <a:path h="2098910" w="18379073">
                <a:moveTo>
                  <a:pt x="0" y="0"/>
                </a:moveTo>
                <a:lnTo>
                  <a:pt x="18379073" y="0"/>
                </a:lnTo>
                <a:lnTo>
                  <a:pt x="18379073" y="2098910"/>
                </a:lnTo>
                <a:lnTo>
                  <a:pt x="0" y="2098910"/>
                </a:lnTo>
                <a:lnTo>
                  <a:pt x="0" y="0"/>
                </a:lnTo>
                <a:close/>
              </a:path>
            </a:pathLst>
          </a:custGeom>
          <a:blipFill>
            <a:blip r:embed="rId3"/>
            <a:stretch>
              <a:fillRect l="-2068" t="0" r="-1573" b="-7769"/>
            </a:stretch>
          </a:blipFill>
        </p:spPr>
      </p:sp>
      <p:sp>
        <p:nvSpPr>
          <p:cNvPr name="TextBox 4" id="4"/>
          <p:cNvSpPr txBox="true"/>
          <p:nvPr/>
        </p:nvSpPr>
        <p:spPr>
          <a:xfrm rot="0">
            <a:off x="3638370" y="423218"/>
            <a:ext cx="12965591" cy="1100074"/>
          </a:xfrm>
          <a:prstGeom prst="rect">
            <a:avLst/>
          </a:prstGeom>
        </p:spPr>
        <p:txBody>
          <a:bodyPr anchor="t" rtlCol="false" tIns="0" lIns="0" bIns="0" rIns="0">
            <a:spAutoFit/>
          </a:bodyPr>
          <a:lstStyle/>
          <a:p>
            <a:pPr algn="ctr">
              <a:lnSpc>
                <a:spcPts val="8711"/>
              </a:lnSpc>
            </a:pPr>
            <a:r>
              <a:rPr lang="en-US" b="true" sz="6222">
                <a:solidFill>
                  <a:srgbClr val="FFFFFF"/>
                </a:solidFill>
                <a:latin typeface="Times New Roman Bold"/>
                <a:ea typeface="Times New Roman Bold"/>
                <a:cs typeface="Times New Roman Bold"/>
                <a:sym typeface="Times New Roman Bold"/>
              </a:rPr>
              <a:t>HỆ THỐNG LÁI Ô TÔ</a:t>
            </a:r>
          </a:p>
        </p:txBody>
      </p:sp>
      <p:grpSp>
        <p:nvGrpSpPr>
          <p:cNvPr name="Group 5" id="5"/>
          <p:cNvGrpSpPr/>
          <p:nvPr/>
        </p:nvGrpSpPr>
        <p:grpSpPr>
          <a:xfrm rot="0">
            <a:off x="5656704" y="1505343"/>
            <a:ext cx="9387053" cy="181174"/>
            <a:chOff x="0" y="0"/>
            <a:chExt cx="12516070" cy="241565"/>
          </a:xfrm>
        </p:grpSpPr>
        <p:sp>
          <p:nvSpPr>
            <p:cNvPr name="Freeform 6" id="6"/>
            <p:cNvSpPr/>
            <p:nvPr/>
          </p:nvSpPr>
          <p:spPr>
            <a:xfrm flipH="false" flipV="false" rot="0">
              <a:off x="0" y="0"/>
              <a:ext cx="12516037" cy="241551"/>
            </a:xfrm>
            <a:custGeom>
              <a:avLst/>
              <a:gdLst/>
              <a:ahLst/>
              <a:cxnLst/>
              <a:rect r="r" b="b" t="t" l="l"/>
              <a:pathLst>
                <a:path h="241551" w="12516037">
                  <a:moveTo>
                    <a:pt x="0" y="0"/>
                  </a:moveTo>
                  <a:lnTo>
                    <a:pt x="12516037" y="0"/>
                  </a:lnTo>
                  <a:lnTo>
                    <a:pt x="12516037" y="241551"/>
                  </a:lnTo>
                  <a:lnTo>
                    <a:pt x="0" y="241551"/>
                  </a:lnTo>
                  <a:close/>
                </a:path>
              </a:pathLst>
            </a:custGeom>
            <a:gradFill rotWithShape="true">
              <a:gsLst>
                <a:gs pos="0">
                  <a:srgbClr val="000000">
                    <a:alpha val="100000"/>
                  </a:srgbClr>
                </a:gs>
                <a:gs pos="100000">
                  <a:srgbClr val="C89116">
                    <a:alpha val="100000"/>
                  </a:srgbClr>
                </a:gs>
              </a:gsLst>
              <a:lin ang="0"/>
            </a:gradFill>
          </p:spPr>
        </p:sp>
      </p:grpSp>
      <p:sp>
        <p:nvSpPr>
          <p:cNvPr name="Freeform 7" id="7"/>
          <p:cNvSpPr/>
          <p:nvPr/>
        </p:nvSpPr>
        <p:spPr>
          <a:xfrm flipH="false" flipV="false" rot="0">
            <a:off x="466774" y="2300051"/>
            <a:ext cx="6719877" cy="1307321"/>
          </a:xfrm>
          <a:custGeom>
            <a:avLst/>
            <a:gdLst/>
            <a:ahLst/>
            <a:cxnLst/>
            <a:rect r="r" b="b" t="t" l="l"/>
            <a:pathLst>
              <a:path h="1307321" w="6719877">
                <a:moveTo>
                  <a:pt x="0" y="0"/>
                </a:moveTo>
                <a:lnTo>
                  <a:pt x="6719877" y="0"/>
                </a:lnTo>
                <a:lnTo>
                  <a:pt x="6719877" y="1307322"/>
                </a:lnTo>
                <a:lnTo>
                  <a:pt x="0" y="1307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776203" y="4028356"/>
            <a:ext cx="1562135"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Bước 9</a:t>
            </a:r>
          </a:p>
        </p:txBody>
      </p:sp>
      <p:sp>
        <p:nvSpPr>
          <p:cNvPr name="Freeform 9" id="9"/>
          <p:cNvSpPr/>
          <p:nvPr/>
        </p:nvSpPr>
        <p:spPr>
          <a:xfrm flipH="false" flipV="false" rot="0">
            <a:off x="1852353" y="3822646"/>
            <a:ext cx="3409836" cy="1108197"/>
          </a:xfrm>
          <a:custGeom>
            <a:avLst/>
            <a:gdLst/>
            <a:ahLst/>
            <a:cxnLst/>
            <a:rect r="r" b="b" t="t" l="l"/>
            <a:pathLst>
              <a:path h="1108197" w="3409836">
                <a:moveTo>
                  <a:pt x="0" y="0"/>
                </a:moveTo>
                <a:lnTo>
                  <a:pt x="3409836" y="0"/>
                </a:lnTo>
                <a:lnTo>
                  <a:pt x="3409836" y="1108197"/>
                </a:lnTo>
                <a:lnTo>
                  <a:pt x="0" y="11081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466774" y="5146116"/>
            <a:ext cx="6506549" cy="4326855"/>
          </a:xfrm>
          <a:custGeom>
            <a:avLst/>
            <a:gdLst/>
            <a:ahLst/>
            <a:cxnLst/>
            <a:rect r="r" b="b" t="t" l="l"/>
            <a:pathLst>
              <a:path h="4326855" w="6506549">
                <a:moveTo>
                  <a:pt x="0" y="0"/>
                </a:moveTo>
                <a:lnTo>
                  <a:pt x="6506549" y="0"/>
                </a:lnTo>
                <a:lnTo>
                  <a:pt x="6506549" y="4326855"/>
                </a:lnTo>
                <a:lnTo>
                  <a:pt x="0" y="43268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6930605" y="4627796"/>
            <a:ext cx="5743281" cy="3860232"/>
          </a:xfrm>
          <a:custGeom>
            <a:avLst/>
            <a:gdLst/>
            <a:ahLst/>
            <a:cxnLst/>
            <a:rect r="r" b="b" t="t" l="l"/>
            <a:pathLst>
              <a:path h="3860232" w="5743281">
                <a:moveTo>
                  <a:pt x="0" y="0"/>
                </a:moveTo>
                <a:lnTo>
                  <a:pt x="5743280" y="0"/>
                </a:lnTo>
                <a:lnTo>
                  <a:pt x="5743280" y="3860232"/>
                </a:lnTo>
                <a:lnTo>
                  <a:pt x="0" y="3860232"/>
                </a:lnTo>
                <a:lnTo>
                  <a:pt x="0" y="0"/>
                </a:lnTo>
                <a:close/>
              </a:path>
            </a:pathLst>
          </a:custGeom>
          <a:blipFill>
            <a:blip r:embed="rId10"/>
            <a:stretch>
              <a:fillRect l="-2064" t="0" r="0" b="0"/>
            </a:stretch>
          </a:blipFill>
        </p:spPr>
      </p:sp>
      <p:sp>
        <p:nvSpPr>
          <p:cNvPr name="Freeform 12" id="12"/>
          <p:cNvSpPr/>
          <p:nvPr/>
        </p:nvSpPr>
        <p:spPr>
          <a:xfrm flipH="false" flipV="false" rot="0">
            <a:off x="12769990" y="2696855"/>
            <a:ext cx="5042503" cy="5325368"/>
          </a:xfrm>
          <a:custGeom>
            <a:avLst/>
            <a:gdLst/>
            <a:ahLst/>
            <a:cxnLst/>
            <a:rect r="r" b="b" t="t" l="l"/>
            <a:pathLst>
              <a:path h="5325368" w="5042503">
                <a:moveTo>
                  <a:pt x="0" y="0"/>
                </a:moveTo>
                <a:lnTo>
                  <a:pt x="5042503" y="0"/>
                </a:lnTo>
                <a:lnTo>
                  <a:pt x="5042503" y="5325368"/>
                </a:lnTo>
                <a:lnTo>
                  <a:pt x="0" y="5325368"/>
                </a:lnTo>
                <a:lnTo>
                  <a:pt x="0" y="0"/>
                </a:lnTo>
                <a:close/>
              </a:path>
            </a:pathLst>
          </a:custGeom>
          <a:blipFill>
            <a:blip r:embed="rId11"/>
            <a:stretch>
              <a:fillRect l="0" t="0" r="-3483" b="0"/>
            </a:stretch>
          </a:blipFill>
        </p:spPr>
      </p:sp>
      <p:sp>
        <p:nvSpPr>
          <p:cNvPr name="TextBox 13" id="13"/>
          <p:cNvSpPr txBox="true"/>
          <p:nvPr/>
        </p:nvSpPr>
        <p:spPr>
          <a:xfrm rot="0">
            <a:off x="1131316" y="2611130"/>
            <a:ext cx="5390793" cy="5994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Cách lắp hệ thống lái </a:t>
            </a:r>
          </a:p>
        </p:txBody>
      </p:sp>
      <p:sp>
        <p:nvSpPr>
          <p:cNvPr name="TextBox 14" id="14"/>
          <p:cNvSpPr txBox="true"/>
          <p:nvPr/>
        </p:nvSpPr>
        <p:spPr>
          <a:xfrm rot="0">
            <a:off x="523019" y="5749993"/>
            <a:ext cx="6230701" cy="3400445"/>
          </a:xfrm>
          <a:prstGeom prst="rect">
            <a:avLst/>
          </a:prstGeom>
        </p:spPr>
        <p:txBody>
          <a:bodyPr anchor="t" rtlCol="false" tIns="0" lIns="0" bIns="0" rIns="0">
            <a:spAutoFit/>
          </a:bodyPr>
          <a:lstStyle/>
          <a:p>
            <a:pPr algn="ctr">
              <a:lnSpc>
                <a:spcPts val="4489"/>
              </a:lnSpc>
            </a:pPr>
            <a:r>
              <a:rPr lang="en-US" sz="3207">
                <a:solidFill>
                  <a:srgbClr val="000000"/>
                </a:solidFill>
                <a:latin typeface="Times New Roman"/>
                <a:ea typeface="Times New Roman"/>
                <a:cs typeface="Times New Roman"/>
                <a:sym typeface="Times New Roman"/>
              </a:rPr>
              <a:t>Lắp lại rotuyn lái ngoài.</a:t>
            </a:r>
          </a:p>
          <a:p>
            <a:pPr algn="ctr">
              <a:lnSpc>
                <a:spcPts val="4489"/>
              </a:lnSpc>
            </a:pPr>
            <a:r>
              <a:rPr lang="en-US" sz="3207">
                <a:solidFill>
                  <a:srgbClr val="000000"/>
                </a:solidFill>
                <a:latin typeface="Times New Roman"/>
                <a:ea typeface="Times New Roman"/>
                <a:cs typeface="Times New Roman"/>
                <a:sym typeface="Times New Roman"/>
              </a:rPr>
              <a:t>a. Lắp rô-tuyn lái ngoài vào thanh kéo lái, vặn vào đúng số vòng ren như khi tháo.</a:t>
            </a:r>
          </a:p>
          <a:p>
            <a:pPr algn="ctr">
              <a:lnSpc>
                <a:spcPts val="4489"/>
              </a:lnSpc>
              <a:spcBef>
                <a:spcPct val="0"/>
              </a:spcBef>
            </a:pPr>
            <a:r>
              <a:rPr lang="en-US" sz="3207">
                <a:solidFill>
                  <a:srgbClr val="000000"/>
                </a:solidFill>
                <a:latin typeface="Times New Roman"/>
                <a:ea typeface="Times New Roman"/>
                <a:cs typeface="Times New Roman"/>
                <a:sym typeface="Times New Roman"/>
              </a:rPr>
              <a:t>b. Lắp và siết đai ốc rotuyn bằng khẩu thường 19.</a:t>
            </a:r>
          </a:p>
        </p:txBody>
      </p:sp>
      <p:sp>
        <p:nvSpPr>
          <p:cNvPr name="Freeform 15" id="15"/>
          <p:cNvSpPr/>
          <p:nvPr/>
        </p:nvSpPr>
        <p:spPr>
          <a:xfrm flipH="false" flipV="false" rot="0">
            <a:off x="8124653" y="8094469"/>
            <a:ext cx="9098464" cy="2363853"/>
          </a:xfrm>
          <a:custGeom>
            <a:avLst/>
            <a:gdLst/>
            <a:ahLst/>
            <a:cxnLst/>
            <a:rect r="r" b="b" t="t" l="l"/>
            <a:pathLst>
              <a:path h="2363853" w="9098464">
                <a:moveTo>
                  <a:pt x="0" y="0"/>
                </a:moveTo>
                <a:lnTo>
                  <a:pt x="9098464" y="0"/>
                </a:lnTo>
                <a:lnTo>
                  <a:pt x="9098464" y="2363852"/>
                </a:lnTo>
                <a:lnTo>
                  <a:pt x="0" y="2363852"/>
                </a:lnTo>
                <a:lnTo>
                  <a:pt x="0" y="0"/>
                </a:lnTo>
                <a:close/>
              </a:path>
            </a:pathLst>
          </a:custGeom>
          <a:blipFill>
            <a:blip r:embed="rId12"/>
            <a:stretch>
              <a:fillRect l="-1638" t="0" r="-1638" b="-23227"/>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DAHV06CSjuQ</dc:identifier>
  <dcterms:modified xsi:type="dcterms:W3CDTF">2011-08-01T06:04:30Z</dcterms:modified>
  <cp:revision>1</cp:revision>
  <dc:title>HỆ THỐNG LÁI 2</dc:title>
</cp:coreProperties>
</file>