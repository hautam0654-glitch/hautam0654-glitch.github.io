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</p:sldIdLst>
  <p:sldSz cx="18288000" cy="10287000"/>
  <p:notesSz cx="6858000" cy="9144000"/>
  <p:embeddedFontLst>
    <p:embeddedFont>
      <p:font typeface="Tahoma" charset="1" panose="020B0604030504040204"/>
      <p:regular r:id="rId45"/>
    </p:embeddedFont>
    <p:embeddedFont>
      <p:font typeface="Arab Times" charset="1" panose="02000400000000000000"/>
      <p:regular r:id="rId46"/>
    </p:embeddedFont>
    <p:embeddedFont>
      <p:font typeface="Arial Bold Italics" charset="1" panose="020B0704020202090204"/>
      <p:regular r:id="rId47"/>
    </p:embeddedFont>
    <p:embeddedFont>
      <p:font typeface="Times New Roman MT" charset="1" panose="02030502070405020303"/>
      <p:regular r:id="rId48"/>
    </p:embeddedFont>
    <p:embeddedFont>
      <p:font typeface="IBM Plex Sans Condensed" charset="1" panose="020B0506050203000203"/>
      <p:regular r:id="rId49"/>
    </p:embeddedFont>
    <p:embeddedFont>
      <p:font typeface="Times New Roman MT Bold Italics" charset="1" panose="02030802070405090303"/>
      <p:regular r:id="rId50"/>
    </p:embeddedFont>
    <p:embeddedFont>
      <p:font typeface="Arimo" charset="1" panose="020B0604020202020204"/>
      <p:regular r:id="rId51"/>
    </p:embeddedFont>
    <p:embeddedFont>
      <p:font typeface="Arimo Italics" charset="1" panose="020B0604020202090204"/>
      <p:regular r:id="rId52"/>
    </p:embeddedFont>
    <p:embeddedFont>
      <p:font typeface="IBM Plex Sans Condensed Bold Italics" charset="1" panose="020B0806050203000203"/>
      <p:regular r:id="rId53"/>
    </p:embeddedFont>
    <p:embeddedFont>
      <p:font typeface="IBM Plex Sans Condensed Italics" charset="1" panose="020B0506050203000203"/>
      <p:regular r:id="rId54"/>
    </p:embeddedFont>
    <p:embeddedFont>
      <p:font typeface="Times New Roman MT Italics" charset="1" panose="02030502070405090303"/>
      <p:regular r:id="rId55"/>
    </p:embeddedFont>
    <p:embeddedFont>
      <p:font typeface="Tahoma Bold" charset="1" panose="020B0804030504040204"/>
      <p:regular r:id="rId56"/>
    </p:embeddedFont>
    <p:embeddedFont>
      <p:font typeface="Arial" charset="1" panose="020B0604020202020204"/>
      <p:regular r:id="rId5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fonts/font45.fntdata" Type="http://schemas.openxmlformats.org/officeDocument/2006/relationships/font"/><Relationship Id="rId46" Target="fonts/font46.fntdata" Type="http://schemas.openxmlformats.org/officeDocument/2006/relationships/font"/><Relationship Id="rId47" Target="fonts/font47.fntdata" Type="http://schemas.openxmlformats.org/officeDocument/2006/relationships/font"/><Relationship Id="rId48" Target="fonts/font48.fntdata" Type="http://schemas.openxmlformats.org/officeDocument/2006/relationships/font"/><Relationship Id="rId49" Target="fonts/font49.fntdata" Type="http://schemas.openxmlformats.org/officeDocument/2006/relationships/font"/><Relationship Id="rId5" Target="tableStyles.xml" Type="http://schemas.openxmlformats.org/officeDocument/2006/relationships/tableStyles"/><Relationship Id="rId50" Target="fonts/font50.fntdata" Type="http://schemas.openxmlformats.org/officeDocument/2006/relationships/font"/><Relationship Id="rId51" Target="fonts/font51.fntdata" Type="http://schemas.openxmlformats.org/officeDocument/2006/relationships/font"/><Relationship Id="rId52" Target="fonts/font52.fntdata" Type="http://schemas.openxmlformats.org/officeDocument/2006/relationships/font"/><Relationship Id="rId53" Target="fonts/font53.fntdata" Type="http://schemas.openxmlformats.org/officeDocument/2006/relationships/font"/><Relationship Id="rId54" Target="fonts/font54.fntdata" Type="http://schemas.openxmlformats.org/officeDocument/2006/relationships/font"/><Relationship Id="rId55" Target="fonts/font55.fntdata" Type="http://schemas.openxmlformats.org/officeDocument/2006/relationships/font"/><Relationship Id="rId56" Target="fonts/font56.fntdata" Type="http://schemas.openxmlformats.org/officeDocument/2006/relationships/font"/><Relationship Id="rId57" Target="fonts/font57.fntdata" Type="http://schemas.openxmlformats.org/officeDocument/2006/relationships/font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jpe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jpe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4.jpeg" Type="http://schemas.openxmlformats.org/officeDocument/2006/relationships/image"/><Relationship Id="rId7" Target="../media/image15.jpeg" Type="http://schemas.openxmlformats.org/officeDocument/2006/relationships/image"/><Relationship Id="rId8" Target="../media/image16.jpeg" Type="http://schemas.openxmlformats.org/officeDocument/2006/relationships/image"/><Relationship Id="rId9" Target="../media/image17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.jpeg" Type="http://schemas.openxmlformats.org/officeDocument/2006/relationships/image"/><Relationship Id="rId2" Target="../media/image3.png" Type="http://schemas.openxmlformats.org/officeDocument/2006/relationships/image"/><Relationship Id="rId3" Target="../media/image4.jpe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Relationship Id="rId6" Target="../media/image20.jpeg" Type="http://schemas.openxmlformats.org/officeDocument/2006/relationships/image"/><Relationship Id="rId7" Target="../media/image21.jpeg" Type="http://schemas.openxmlformats.org/officeDocument/2006/relationships/image"/><Relationship Id="rId8" Target="../media/image22.jpeg" Type="http://schemas.openxmlformats.org/officeDocument/2006/relationships/image"/><Relationship Id="rId9" Target="../media/image23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jpe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Relationship Id="rId6" Target="../media/image25.jpeg" Type="http://schemas.openxmlformats.org/officeDocument/2006/relationships/image"/><Relationship Id="rId7" Target="../media/image26.png" Type="http://schemas.openxmlformats.org/officeDocument/2006/relationships/image"/><Relationship Id="rId8" Target="../media/image27.svg" Type="http://schemas.openxmlformats.org/officeDocument/2006/relationships/image"/><Relationship Id="rId9" Target="../media/image28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jpe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Relationship Id="rId6" Target="../media/image29.jpeg" Type="http://schemas.openxmlformats.org/officeDocument/2006/relationships/image"/><Relationship Id="rId7" Target="../media/image30.jpeg" Type="http://schemas.openxmlformats.org/officeDocument/2006/relationships/image"/><Relationship Id="rId8" Target="../media/image3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jpe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Relationship Id="rId6" Target="../media/image32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jpe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Relationship Id="rId6" Target="../media/image33.jpeg" Type="http://schemas.openxmlformats.org/officeDocument/2006/relationships/image"/><Relationship Id="rId7" Target="../media/image34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8.png" Type="http://schemas.openxmlformats.org/officeDocument/2006/relationships/image"/><Relationship Id="rId4" Target="../media/image19.svg" Type="http://schemas.openxmlformats.org/officeDocument/2006/relationships/image"/><Relationship Id="rId5" Target="../media/image4.jpeg" Type="http://schemas.openxmlformats.org/officeDocument/2006/relationships/image"/><Relationship Id="rId6" Target="../media/image35.jpeg" Type="http://schemas.openxmlformats.org/officeDocument/2006/relationships/image"/><Relationship Id="rId7" Target="../media/image36.jpeg" Type="http://schemas.openxmlformats.org/officeDocument/2006/relationships/image"/><Relationship Id="rId8" Target="../media/image37.jpeg" Type="http://schemas.openxmlformats.org/officeDocument/2006/relationships/image"/><Relationship Id="rId9" Target="../media/image38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jpeg" Type="http://schemas.openxmlformats.org/officeDocument/2006/relationships/image"/><Relationship Id="rId4" Target="../media/image39.png" Type="http://schemas.openxmlformats.org/officeDocument/2006/relationships/image"/><Relationship Id="rId5" Target="../media/image40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jpeg" Type="http://schemas.openxmlformats.org/officeDocument/2006/relationships/image"/><Relationship Id="rId4" Target="../media/image4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jpeg" Type="http://schemas.openxmlformats.org/officeDocument/2006/relationships/image"/><Relationship Id="rId4" Target="../media/image42.png" Type="http://schemas.openxmlformats.org/officeDocument/2006/relationships/image"/><Relationship Id="rId5" Target="../media/image43.svg" Type="http://schemas.openxmlformats.org/officeDocument/2006/relationships/image"/><Relationship Id="rId6" Target="../media/image44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jpeg" Type="http://schemas.openxmlformats.org/officeDocument/2006/relationships/image"/><Relationship Id="rId4" Target="../media/image45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jpeg" Type="http://schemas.openxmlformats.org/officeDocument/2006/relationships/image"/><Relationship Id="rId4" Target="../media/image46.png" Type="http://schemas.openxmlformats.org/officeDocument/2006/relationships/image"/><Relationship Id="rId5" Target="../media/image47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jpeg" Type="http://schemas.openxmlformats.org/officeDocument/2006/relationships/image"/><Relationship Id="rId4" Target="../media/image48.png" Type="http://schemas.openxmlformats.org/officeDocument/2006/relationships/image"/><Relationship Id="rId5" Target="../media/image49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jpeg" Type="http://schemas.openxmlformats.org/officeDocument/2006/relationships/image"/><Relationship Id="rId4" Target="../media/image50.png" Type="http://schemas.openxmlformats.org/officeDocument/2006/relationships/image"/><Relationship Id="rId5" Target="../media/image51.svg" Type="http://schemas.openxmlformats.org/officeDocument/2006/relationships/image"/><Relationship Id="rId6" Target="../media/image52.png" Type="http://schemas.openxmlformats.org/officeDocument/2006/relationships/image"/><Relationship Id="rId7" Target="../media/image53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jpeg" Type="http://schemas.openxmlformats.org/officeDocument/2006/relationships/image"/><Relationship Id="rId4" Target="../media/image52.png" Type="http://schemas.openxmlformats.org/officeDocument/2006/relationships/image"/><Relationship Id="rId5" Target="../media/image53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jpeg" Type="http://schemas.openxmlformats.org/officeDocument/2006/relationships/image"/><Relationship Id="rId4" Target="../media/image54.jpeg" Type="http://schemas.openxmlformats.org/officeDocument/2006/relationships/image"/><Relationship Id="rId5" Target="../media/image55.png" Type="http://schemas.openxmlformats.org/officeDocument/2006/relationships/image"/><Relationship Id="rId6" Target="../media/image56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jpeg" Type="http://schemas.openxmlformats.org/officeDocument/2006/relationships/image"/><Relationship Id="rId4" Target="../media/image57.png" Type="http://schemas.openxmlformats.org/officeDocument/2006/relationships/image"/><Relationship Id="rId5" Target="../media/image58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jpeg" Type="http://schemas.openxmlformats.org/officeDocument/2006/relationships/image"/><Relationship Id="rId4" Target="../media/image59.png" Type="http://schemas.openxmlformats.org/officeDocument/2006/relationships/image"/><Relationship Id="rId5" Target="../media/image60.svg" Type="http://schemas.openxmlformats.org/officeDocument/2006/relationships/image"/><Relationship Id="rId6" Target="../media/image61.png" Type="http://schemas.openxmlformats.org/officeDocument/2006/relationships/image"/><Relationship Id="rId7" Target="../media/image62.svg" Type="http://schemas.openxmlformats.org/officeDocument/2006/relationships/image"/><Relationship Id="rId8" Target="../media/image63.png" Type="http://schemas.openxmlformats.org/officeDocument/2006/relationships/image"/><Relationship Id="rId9" Target="../media/image64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jpeg" Type="http://schemas.openxmlformats.org/officeDocument/2006/relationships/image"/><Relationship Id="rId4" Target="../media/image26.png" Type="http://schemas.openxmlformats.org/officeDocument/2006/relationships/image"/><Relationship Id="rId5" Target="../media/image65.svg" Type="http://schemas.openxmlformats.org/officeDocument/2006/relationships/image"/><Relationship Id="rId6" Target="../media/image66.png" Type="http://schemas.openxmlformats.org/officeDocument/2006/relationships/image"/><Relationship Id="rId7" Target="../media/image67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jpeg" Type="http://schemas.openxmlformats.org/officeDocument/2006/relationships/image"/><Relationship Id="rId4" Target="../media/image66.png" Type="http://schemas.openxmlformats.org/officeDocument/2006/relationships/image"/><Relationship Id="rId5" Target="../media/image67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jpeg" Type="http://schemas.openxmlformats.org/officeDocument/2006/relationships/image"/><Relationship Id="rId4" Target="../media/image66.png" Type="http://schemas.openxmlformats.org/officeDocument/2006/relationships/image"/><Relationship Id="rId5" Target="../media/image67.sv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jpe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jpeg" Type="http://schemas.openxmlformats.org/officeDocument/2006/relationships/image"/><Relationship Id="rId4" Target="../media/image68.jpe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69.png" Type="http://schemas.openxmlformats.org/officeDocument/2006/relationships/image"/><Relationship Id="rId4" Target="../media/image70.svg" Type="http://schemas.openxmlformats.org/officeDocument/2006/relationships/image"/><Relationship Id="rId5" Target="../media/image4.jpeg" Type="http://schemas.openxmlformats.org/officeDocument/2006/relationships/image"/><Relationship Id="rId6" Target="../media/image71.jpe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jpeg" Type="http://schemas.openxmlformats.org/officeDocument/2006/relationships/image"/><Relationship Id="rId4" Target="../media/image72.jpe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9.svg" Type="http://schemas.openxmlformats.org/officeDocument/2006/relationships/image"/><Relationship Id="rId2" Target="../media/image3.png" Type="http://schemas.openxmlformats.org/officeDocument/2006/relationships/image"/><Relationship Id="rId3" Target="../media/image4.jpeg" Type="http://schemas.openxmlformats.org/officeDocument/2006/relationships/image"/><Relationship Id="rId4" Target="../media/image73.png" Type="http://schemas.openxmlformats.org/officeDocument/2006/relationships/image"/><Relationship Id="rId5" Target="../media/image74.svg" Type="http://schemas.openxmlformats.org/officeDocument/2006/relationships/image"/><Relationship Id="rId6" Target="../media/image75.png" Type="http://schemas.openxmlformats.org/officeDocument/2006/relationships/image"/><Relationship Id="rId7" Target="../media/image76.png" Type="http://schemas.openxmlformats.org/officeDocument/2006/relationships/image"/><Relationship Id="rId8" Target="../media/image77.png" Type="http://schemas.openxmlformats.org/officeDocument/2006/relationships/image"/><Relationship Id="rId9" Target="../media/image78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jpeg" Type="http://schemas.openxmlformats.org/officeDocument/2006/relationships/image"/><Relationship Id="rId4" Target="../media/image80.jpeg" Type="http://schemas.openxmlformats.org/officeDocument/2006/relationships/image"/><Relationship Id="rId5" Target="../media/image81.png" Type="http://schemas.openxmlformats.org/officeDocument/2006/relationships/image"/><Relationship Id="rId6" Target="../media/image82.svg" Type="http://schemas.openxmlformats.org/officeDocument/2006/relationships/image"/><Relationship Id="rId7" Target="../media/image83.jpe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jpeg" Type="http://schemas.openxmlformats.org/officeDocument/2006/relationships/image"/><Relationship Id="rId4" Target="../media/image84.jpeg" Type="http://schemas.openxmlformats.org/officeDocument/2006/relationships/image"/><Relationship Id="rId5" Target="../media/image85.jpe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jpeg" Type="http://schemas.openxmlformats.org/officeDocument/2006/relationships/image"/><Relationship Id="rId4" Target="../media/image86.jpeg" Type="http://schemas.openxmlformats.org/officeDocument/2006/relationships/image"/><Relationship Id="rId5" Target="../media/image87.jpeg" Type="http://schemas.openxmlformats.org/officeDocument/2006/relationships/image"/><Relationship Id="rId6" Target="../media/image88.png" Type="http://schemas.openxmlformats.org/officeDocument/2006/relationships/image"/><Relationship Id="rId7" Target="../media/image89.svg" Type="http://schemas.openxmlformats.org/officeDocument/2006/relationships/image"/><Relationship Id="rId8" Target="../media/image90.jpe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jpeg" Type="http://schemas.openxmlformats.org/officeDocument/2006/relationships/image"/><Relationship Id="rId4" Target="../media/image91.jpe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jpeg" Type="http://schemas.openxmlformats.org/officeDocument/2006/relationships/image"/><Relationship Id="rId4" Target="../media/image92.jpe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jpeg" Type="http://schemas.openxmlformats.org/officeDocument/2006/relationships/image"/><Relationship Id="rId4" Target="../media/image93.png" Type="http://schemas.openxmlformats.org/officeDocument/2006/relationships/image"/><Relationship Id="rId5" Target="../media/image94.svg" Type="http://schemas.openxmlformats.org/officeDocument/2006/relationships/image"/><Relationship Id="rId6" Target="../media/image95.png" Type="http://schemas.openxmlformats.org/officeDocument/2006/relationships/image"/><Relationship Id="rId7" Target="../media/image96.sv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3.svg" Type="http://schemas.openxmlformats.org/officeDocument/2006/relationships/image"/><Relationship Id="rId11" Target="../media/image104.jpeg" Type="http://schemas.openxmlformats.org/officeDocument/2006/relationships/image"/><Relationship Id="rId2" Target="../media/image3.png" Type="http://schemas.openxmlformats.org/officeDocument/2006/relationships/image"/><Relationship Id="rId3" Target="../media/image4.jpeg" Type="http://schemas.openxmlformats.org/officeDocument/2006/relationships/image"/><Relationship Id="rId4" Target="../media/image97.jpeg" Type="http://schemas.openxmlformats.org/officeDocument/2006/relationships/image"/><Relationship Id="rId5" Target="../media/image98.png" Type="http://schemas.openxmlformats.org/officeDocument/2006/relationships/image"/><Relationship Id="rId6" Target="../media/image99.svg" Type="http://schemas.openxmlformats.org/officeDocument/2006/relationships/image"/><Relationship Id="rId7" Target="../media/image100.jpeg" Type="http://schemas.openxmlformats.org/officeDocument/2006/relationships/image"/><Relationship Id="rId8" Target="../media/image101.png" Type="http://schemas.openxmlformats.org/officeDocument/2006/relationships/image"/><Relationship Id="rId9" Target="../media/image102.sv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jpeg" Type="http://schemas.openxmlformats.org/officeDocument/2006/relationships/image"/><Relationship Id="rId4" Target="../media/image105.png" Type="http://schemas.openxmlformats.org/officeDocument/2006/relationships/image"/><Relationship Id="rId5" Target="../media/image106.svg" Type="http://schemas.openxmlformats.org/officeDocument/2006/relationships/image"/><Relationship Id="rId6" Target="../media/image107.png" Type="http://schemas.openxmlformats.org/officeDocument/2006/relationships/image"/><Relationship Id="rId7" Target="../media/image108.svg" Type="http://schemas.openxmlformats.org/officeDocument/2006/relationships/image"/><Relationship Id="rId8" Target="../media/image109.png" Type="http://schemas.openxmlformats.org/officeDocument/2006/relationships/image"/><Relationship Id="rId9" Target="../media/image110.svg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7.jpeg" Type="http://schemas.openxmlformats.org/officeDocument/2006/relationships/image"/><Relationship Id="rId2" Target="../media/image3.png" Type="http://schemas.openxmlformats.org/officeDocument/2006/relationships/image"/><Relationship Id="rId3" Target="../media/image111.png" Type="http://schemas.openxmlformats.org/officeDocument/2006/relationships/image"/><Relationship Id="rId4" Target="../media/image112.svg" Type="http://schemas.openxmlformats.org/officeDocument/2006/relationships/image"/><Relationship Id="rId5" Target="../media/image113.png" Type="http://schemas.openxmlformats.org/officeDocument/2006/relationships/image"/><Relationship Id="rId6" Target="../media/image114.svg" Type="http://schemas.openxmlformats.org/officeDocument/2006/relationships/image"/><Relationship Id="rId7" Target="../media/image115.png" Type="http://schemas.openxmlformats.org/officeDocument/2006/relationships/image"/><Relationship Id="rId8" Target="../media/image116.svg" Type="http://schemas.openxmlformats.org/officeDocument/2006/relationships/image"/><Relationship Id="rId9" Target="../media/image4.jpeg" Type="http://schemas.openxmlformats.org/officeDocument/2006/relationships/image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jpeg" Type="http://schemas.openxmlformats.org/officeDocument/2006/relationships/image"/><Relationship Id="rId4" Target="../media/image118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EBA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743200" y="4876795"/>
            <a:ext cx="13068305" cy="114300"/>
          </a:xfrm>
          <a:custGeom>
            <a:avLst/>
            <a:gdLst/>
            <a:ahLst/>
            <a:cxnLst/>
            <a:rect r="r" b="b" t="t" l="l"/>
            <a:pathLst>
              <a:path h="114300" w="13068305">
                <a:moveTo>
                  <a:pt x="0" y="0"/>
                </a:moveTo>
                <a:lnTo>
                  <a:pt x="13068305" y="0"/>
                </a:lnTo>
                <a:lnTo>
                  <a:pt x="13068305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482148" y="38177"/>
            <a:ext cx="3519852" cy="1981046"/>
          </a:xfrm>
          <a:custGeom>
            <a:avLst/>
            <a:gdLst/>
            <a:ahLst/>
            <a:cxnLst/>
            <a:rect r="r" b="b" t="t" l="l"/>
            <a:pathLst>
              <a:path h="1981046" w="3519852">
                <a:moveTo>
                  <a:pt x="0" y="0"/>
                </a:moveTo>
                <a:lnTo>
                  <a:pt x="3519852" y="0"/>
                </a:lnTo>
                <a:lnTo>
                  <a:pt x="3519852" y="1981046"/>
                </a:lnTo>
                <a:lnTo>
                  <a:pt x="0" y="19810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762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544596" y="371293"/>
            <a:ext cx="4559565" cy="1200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39"/>
              </a:lnSpc>
            </a:pPr>
            <a:r>
              <a:rPr lang="en-US" sz="1966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Khoa :CƠ ĐIỆN -ĐIỆN TỬ  </a:t>
            </a:r>
          </a:p>
          <a:p>
            <a:pPr algn="l">
              <a:lnSpc>
                <a:spcPts val="5308"/>
              </a:lnSpc>
            </a:pPr>
            <a:r>
              <a:rPr lang="en-US" sz="2949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Trường ĐH  LẠC HỒNG 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000862" y="3332635"/>
            <a:ext cx="10286276" cy="1127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48"/>
              </a:lnSpc>
            </a:pPr>
            <a:r>
              <a:rPr lang="en-US" sz="6606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NGUYÊN LÝ CHI TIẾT MÁY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661494" y="8708802"/>
            <a:ext cx="3954384" cy="549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5"/>
              </a:lnSpc>
            </a:pPr>
            <a:r>
              <a:rPr lang="en-US" sz="1552">
                <a:solidFill>
                  <a:srgbClr val="0066FF"/>
                </a:solidFill>
                <a:latin typeface="Tahoma"/>
                <a:ea typeface="Tahoma"/>
                <a:cs typeface="Tahoma"/>
                <a:sym typeface="Tahoma"/>
              </a:rPr>
              <a:t>GV: ThS. </a:t>
            </a:r>
            <a:r>
              <a:rPr lang="en-US" sz="1552">
                <a:solidFill>
                  <a:srgbClr val="00E4A8"/>
                </a:solidFill>
                <a:latin typeface="Tahoma"/>
                <a:ea typeface="Tahoma"/>
                <a:cs typeface="Tahoma"/>
                <a:sym typeface="Tahoma"/>
              </a:rPr>
              <a:t> NGUYỄN DUY PHÚ </a:t>
            </a:r>
          </a:p>
          <a:p>
            <a:pPr algn="ctr">
              <a:lnSpc>
                <a:spcPts val="2235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81255" y="247645"/>
            <a:ext cx="13030200" cy="1771650"/>
          </a:xfrm>
          <a:custGeom>
            <a:avLst/>
            <a:gdLst/>
            <a:ahLst/>
            <a:cxnLst/>
            <a:rect r="r" b="b" t="t" l="l"/>
            <a:pathLst>
              <a:path h="1771650" w="13030200">
                <a:moveTo>
                  <a:pt x="0" y="0"/>
                </a:moveTo>
                <a:lnTo>
                  <a:pt x="13030200" y="0"/>
                </a:lnTo>
                <a:lnTo>
                  <a:pt x="13030200" y="1771650"/>
                </a:lnTo>
                <a:lnTo>
                  <a:pt x="0" y="17716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16100" y="71"/>
            <a:ext cx="1485900" cy="1464469"/>
          </a:xfrm>
          <a:custGeom>
            <a:avLst/>
            <a:gdLst/>
            <a:ahLst/>
            <a:cxnLst/>
            <a:rect r="r" b="b" t="t" l="l"/>
            <a:pathLst>
              <a:path h="1464469" w="1485900">
                <a:moveTo>
                  <a:pt x="0" y="0"/>
                </a:moveTo>
                <a:lnTo>
                  <a:pt x="1485900" y="0"/>
                </a:lnTo>
                <a:lnTo>
                  <a:pt x="1485900" y="1464469"/>
                </a:lnTo>
                <a:lnTo>
                  <a:pt x="0" y="14644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121658" y="3321558"/>
            <a:ext cx="9777222" cy="2697480"/>
          </a:xfrm>
          <a:custGeom>
            <a:avLst/>
            <a:gdLst/>
            <a:ahLst/>
            <a:cxnLst/>
            <a:rect r="r" b="b" t="t" l="l"/>
            <a:pathLst>
              <a:path h="2697480" w="9777222">
                <a:moveTo>
                  <a:pt x="0" y="0"/>
                </a:moveTo>
                <a:lnTo>
                  <a:pt x="9777222" y="0"/>
                </a:lnTo>
                <a:lnTo>
                  <a:pt x="9777222" y="2697480"/>
                </a:lnTo>
                <a:lnTo>
                  <a:pt x="0" y="26974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917186" y="3577590"/>
            <a:ext cx="8380476" cy="2386584"/>
          </a:xfrm>
          <a:custGeom>
            <a:avLst/>
            <a:gdLst/>
            <a:ahLst/>
            <a:cxnLst/>
            <a:rect r="r" b="b" t="t" l="l"/>
            <a:pathLst>
              <a:path h="2386584" w="8380476">
                <a:moveTo>
                  <a:pt x="0" y="0"/>
                </a:moveTo>
                <a:lnTo>
                  <a:pt x="8380476" y="0"/>
                </a:lnTo>
                <a:lnTo>
                  <a:pt x="8380476" y="2386584"/>
                </a:lnTo>
                <a:lnTo>
                  <a:pt x="0" y="23865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990970" y="3190870"/>
            <a:ext cx="9963145" cy="2883789"/>
          </a:xfrm>
          <a:custGeom>
            <a:avLst/>
            <a:gdLst/>
            <a:ahLst/>
            <a:cxnLst/>
            <a:rect r="r" b="b" t="t" l="l"/>
            <a:pathLst>
              <a:path h="2883789" w="9963145">
                <a:moveTo>
                  <a:pt x="0" y="0"/>
                </a:moveTo>
                <a:lnTo>
                  <a:pt x="9963145" y="0"/>
                </a:lnTo>
                <a:lnTo>
                  <a:pt x="9963145" y="2883789"/>
                </a:lnTo>
                <a:lnTo>
                  <a:pt x="0" y="28837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423160" y="9746351"/>
            <a:ext cx="2873773" cy="314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Ths. Trương Quang Trường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483460" y="9336776"/>
            <a:ext cx="3134920" cy="793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Khoa Cơ Khí – Công Nghệ Trường ĐH Nông Lâm TPHCM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923215" y="9864571"/>
            <a:ext cx="520565" cy="36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8"/>
              </a:lnSpc>
            </a:pPr>
            <a:r>
              <a:rPr lang="en-US" sz="2106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- 2 -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754773" y="312630"/>
            <a:ext cx="4942218" cy="828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28"/>
              </a:lnSpc>
            </a:pPr>
            <a:r>
              <a:rPr lang="en-US" sz="4806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Nguyên Lý Máy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127602" y="3491451"/>
            <a:ext cx="10019681" cy="390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90"/>
              </a:lnSpc>
            </a:pPr>
            <a:r>
              <a:rPr lang="en-US" b="true" sz="5850" i="true" spc="5">
                <a:solidFill>
                  <a:srgbClr val="FF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Chưѫng 9</a:t>
            </a:r>
            <a:r>
              <a:rPr lang="en-US" b="true" sz="5850" i="true" spc="5">
                <a:solidFill>
                  <a:srgbClr val="333399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 </a:t>
            </a:r>
          </a:p>
          <a:p>
            <a:pPr algn="ctr">
              <a:lnSpc>
                <a:spcPts val="7761"/>
              </a:lnSpc>
            </a:pPr>
            <a:r>
              <a:rPr lang="en-US" b="true" sz="5544" i="true">
                <a:solidFill>
                  <a:srgbClr val="FFFFFF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CѪ CẤUBÁNHRĂNG </a:t>
            </a:r>
          </a:p>
          <a:p>
            <a:pPr algn="ctr">
              <a:lnSpc>
                <a:spcPts val="5876"/>
              </a:lnSpc>
            </a:pPr>
            <a:r>
              <a:rPr lang="en-US" sz="4197">
                <a:solidFill>
                  <a:srgbClr val="1021A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PHҪNăI:ăCѪăCҨUăBÁNHăRĔNGăPHҶNG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81255" y="247645"/>
            <a:ext cx="13030200" cy="1771650"/>
          </a:xfrm>
          <a:custGeom>
            <a:avLst/>
            <a:gdLst/>
            <a:ahLst/>
            <a:cxnLst/>
            <a:rect r="r" b="b" t="t" l="l"/>
            <a:pathLst>
              <a:path h="1771650" w="13030200">
                <a:moveTo>
                  <a:pt x="0" y="0"/>
                </a:moveTo>
                <a:lnTo>
                  <a:pt x="13030200" y="0"/>
                </a:lnTo>
                <a:lnTo>
                  <a:pt x="13030200" y="1771650"/>
                </a:lnTo>
                <a:lnTo>
                  <a:pt x="0" y="17716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16100" y="71"/>
            <a:ext cx="1485900" cy="1464469"/>
          </a:xfrm>
          <a:custGeom>
            <a:avLst/>
            <a:gdLst/>
            <a:ahLst/>
            <a:cxnLst/>
            <a:rect r="r" b="b" t="t" l="l"/>
            <a:pathLst>
              <a:path h="1464469" w="1485900">
                <a:moveTo>
                  <a:pt x="0" y="0"/>
                </a:moveTo>
                <a:lnTo>
                  <a:pt x="1485900" y="0"/>
                </a:lnTo>
                <a:lnTo>
                  <a:pt x="1485900" y="1464469"/>
                </a:lnTo>
                <a:lnTo>
                  <a:pt x="0" y="14644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348047" y="2811780"/>
            <a:ext cx="2379726" cy="25146"/>
          </a:xfrm>
          <a:custGeom>
            <a:avLst/>
            <a:gdLst/>
            <a:ahLst/>
            <a:cxnLst/>
            <a:rect r="r" b="b" t="t" l="l"/>
            <a:pathLst>
              <a:path h="25146" w="2379726">
                <a:moveTo>
                  <a:pt x="0" y="0"/>
                </a:moveTo>
                <a:lnTo>
                  <a:pt x="2379726" y="0"/>
                </a:lnTo>
                <a:lnTo>
                  <a:pt x="2379726" y="25146"/>
                </a:lnTo>
                <a:lnTo>
                  <a:pt x="0" y="251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286500" y="4193396"/>
            <a:ext cx="6172200" cy="5781665"/>
          </a:xfrm>
          <a:custGeom>
            <a:avLst/>
            <a:gdLst/>
            <a:ahLst/>
            <a:cxnLst/>
            <a:rect r="r" b="b" t="t" l="l"/>
            <a:pathLst>
              <a:path h="5781665" w="6172200">
                <a:moveTo>
                  <a:pt x="0" y="0"/>
                </a:moveTo>
                <a:lnTo>
                  <a:pt x="6172200" y="0"/>
                </a:lnTo>
                <a:lnTo>
                  <a:pt x="6172200" y="5781665"/>
                </a:lnTo>
                <a:lnTo>
                  <a:pt x="0" y="57816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423160" y="9746351"/>
            <a:ext cx="2873773" cy="314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Ths. Trương Quang Trường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483460" y="9336776"/>
            <a:ext cx="3134920" cy="793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Khoa Cơ Khí – Công Nghệ Trường ĐH Nông Lâm TPHCM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923215" y="9864571"/>
            <a:ext cx="520565" cy="36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8"/>
              </a:lnSpc>
            </a:pPr>
            <a:r>
              <a:rPr lang="en-US" sz="2106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- 3 -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807104" y="686076"/>
            <a:ext cx="10824839" cy="620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5"/>
              </a:lnSpc>
            </a:pPr>
            <a:r>
              <a:rPr lang="en-US" sz="3603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I. ĐẠI CɈƠNG Vɽ TRUYɽN ĐỘNG BÁNH RĂNG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271887" y="1455649"/>
            <a:ext cx="984452" cy="699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27"/>
              </a:lnSpc>
            </a:pPr>
            <a:r>
              <a:rPr lang="en-US" sz="3600">
                <a:solidFill>
                  <a:srgbClr val="FF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niệm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728345" y="2225059"/>
            <a:ext cx="135817" cy="704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89"/>
              </a:lnSpc>
            </a:pPr>
            <a:r>
              <a:rPr lang="en-US" sz="4194" spc="-33">
                <a:solidFill>
                  <a:srgbClr val="333399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029389" y="1455649"/>
            <a:ext cx="725634" cy="699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27"/>
              </a:lnSpc>
            </a:pPr>
            <a:r>
              <a:rPr lang="en-US" sz="3600">
                <a:solidFill>
                  <a:srgbClr val="FF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loại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538139" y="2128671"/>
            <a:ext cx="135817" cy="807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89"/>
              </a:lnSpc>
            </a:pPr>
            <a:r>
              <a:rPr lang="en-US" b="true" sz="4194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735324" y="1482747"/>
            <a:ext cx="1568239" cy="630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27"/>
              </a:lnSpc>
            </a:pPr>
            <a:r>
              <a:rPr lang="en-US" sz="3600" spc="79">
                <a:solidFill>
                  <a:srgbClr val="FF0000"/>
                </a:solidFill>
                <a:latin typeface="Arab Times"/>
                <a:ea typeface="Arab Times"/>
                <a:cs typeface="Arab Times"/>
                <a:sym typeface="Arab Times"/>
              </a:rPr>
              <a:t>1.</a:t>
            </a:r>
            <a:r>
              <a:rPr lang="en-US" sz="3600" spc="79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 </a:t>
            </a:r>
            <a:r>
              <a:rPr lang="en-US" sz="3600" spc="79">
                <a:solidFill>
                  <a:srgbClr val="FF0000"/>
                </a:solidFill>
                <a:latin typeface="Arab Times"/>
                <a:ea typeface="Arab Times"/>
                <a:cs typeface="Arab Times"/>
                <a:sym typeface="Arab Times"/>
              </a:rPr>
              <a:t>Khái</a:t>
            </a:r>
            <a:r>
              <a:rPr lang="en-US" sz="3600" spc="79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350879" y="1482747"/>
            <a:ext cx="1594542" cy="630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27"/>
              </a:lnSpc>
            </a:pPr>
            <a:r>
              <a:rPr lang="en-US" sz="3600" spc="79">
                <a:solidFill>
                  <a:srgbClr val="FF0000"/>
                </a:solidFill>
                <a:latin typeface="Arab Times"/>
                <a:ea typeface="Arab Times"/>
                <a:cs typeface="Arab Times"/>
                <a:sym typeface="Arab Times"/>
              </a:rPr>
              <a:t>và</a:t>
            </a:r>
            <a:r>
              <a:rPr lang="en-US" sz="3600" spc="79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 </a:t>
            </a:r>
            <a:r>
              <a:rPr lang="en-US" sz="3600" spc="79">
                <a:solidFill>
                  <a:srgbClr val="FF0000"/>
                </a:solidFill>
                <a:latin typeface="Arab Times"/>
                <a:ea typeface="Arab Times"/>
                <a:cs typeface="Arab Times"/>
                <a:sym typeface="Arab Times"/>
              </a:rPr>
              <a:t>phân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799436" y="2088437"/>
            <a:ext cx="13172132" cy="888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89"/>
              </a:lnSpc>
            </a:pPr>
            <a:r>
              <a:rPr lang="en-US" sz="4194">
                <a:solidFill>
                  <a:srgbClr val="33339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a) </a:t>
            </a:r>
            <a:r>
              <a:rPr lang="en-US" b="true" sz="4194" i="true">
                <a:solidFill>
                  <a:srgbClr val="333399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Khái niệm:</a:t>
            </a:r>
            <a:r>
              <a:rPr lang="en-US" b="true" sz="4194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Cơcấu bánhrăng là cơ cấu có khớp cao dùng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799436" y="2949912"/>
            <a:ext cx="12383476" cy="1267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05"/>
              </a:lnSpc>
            </a:pPr>
            <a:r>
              <a:rPr lang="en-US" b="true" sz="4197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để biến đổi hoặc truyền chuyển động theo nguyên tắc ăn </a:t>
            </a:r>
          </a:p>
          <a:p>
            <a:pPr algn="l">
              <a:lnSpc>
                <a:spcPts val="5980"/>
              </a:lnSpc>
            </a:pPr>
            <a:r>
              <a:rPr lang="en-US" b="true" sz="4194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khớp trực tiếp giữa hai khâu</a:t>
            </a:r>
            <a:r>
              <a:rPr lang="en-US" sz="4194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81255" y="247645"/>
            <a:ext cx="13030200" cy="1771650"/>
          </a:xfrm>
          <a:custGeom>
            <a:avLst/>
            <a:gdLst/>
            <a:ahLst/>
            <a:cxnLst/>
            <a:rect r="r" b="b" t="t" l="l"/>
            <a:pathLst>
              <a:path h="1771650" w="13030200">
                <a:moveTo>
                  <a:pt x="0" y="0"/>
                </a:moveTo>
                <a:lnTo>
                  <a:pt x="13030200" y="0"/>
                </a:lnTo>
                <a:lnTo>
                  <a:pt x="13030200" y="1771650"/>
                </a:lnTo>
                <a:lnTo>
                  <a:pt x="0" y="17716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16100" y="71"/>
            <a:ext cx="1485900" cy="1464469"/>
          </a:xfrm>
          <a:custGeom>
            <a:avLst/>
            <a:gdLst/>
            <a:ahLst/>
            <a:cxnLst/>
            <a:rect r="r" b="b" t="t" l="l"/>
            <a:pathLst>
              <a:path h="1464469" w="1485900">
                <a:moveTo>
                  <a:pt x="0" y="0"/>
                </a:moveTo>
                <a:lnTo>
                  <a:pt x="1485900" y="0"/>
                </a:lnTo>
                <a:lnTo>
                  <a:pt x="1485900" y="1464469"/>
                </a:lnTo>
                <a:lnTo>
                  <a:pt x="0" y="14644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377765" y="2720340"/>
            <a:ext cx="2148840" cy="25146"/>
          </a:xfrm>
          <a:custGeom>
            <a:avLst/>
            <a:gdLst/>
            <a:ahLst/>
            <a:cxnLst/>
            <a:rect r="r" b="b" t="t" l="l"/>
            <a:pathLst>
              <a:path h="25146" w="2148840">
                <a:moveTo>
                  <a:pt x="0" y="0"/>
                </a:moveTo>
                <a:lnTo>
                  <a:pt x="2148840" y="0"/>
                </a:lnTo>
                <a:lnTo>
                  <a:pt x="2148840" y="25146"/>
                </a:lnTo>
                <a:lnTo>
                  <a:pt x="0" y="251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743200" y="4893526"/>
            <a:ext cx="2514500" cy="4136174"/>
          </a:xfrm>
          <a:custGeom>
            <a:avLst/>
            <a:gdLst/>
            <a:ahLst/>
            <a:cxnLst/>
            <a:rect r="r" b="b" t="t" l="l"/>
            <a:pathLst>
              <a:path h="4136174" w="2514500">
                <a:moveTo>
                  <a:pt x="0" y="0"/>
                </a:moveTo>
                <a:lnTo>
                  <a:pt x="2514500" y="0"/>
                </a:lnTo>
                <a:lnTo>
                  <a:pt x="2514500" y="4136174"/>
                </a:lnTo>
                <a:lnTo>
                  <a:pt x="0" y="413617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3730" r="-9037" b="-4934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422192" y="4800600"/>
            <a:ext cx="2921865" cy="4000343"/>
          </a:xfrm>
          <a:custGeom>
            <a:avLst/>
            <a:gdLst/>
            <a:ahLst/>
            <a:cxnLst/>
            <a:rect r="r" b="b" t="t" l="l"/>
            <a:pathLst>
              <a:path h="4000343" w="2921865">
                <a:moveTo>
                  <a:pt x="0" y="0"/>
                </a:moveTo>
                <a:lnTo>
                  <a:pt x="2921865" y="0"/>
                </a:lnTo>
                <a:lnTo>
                  <a:pt x="2921865" y="4000343"/>
                </a:lnTo>
                <a:lnTo>
                  <a:pt x="0" y="400034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1066" t="0" r="-3097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144000" y="5003040"/>
            <a:ext cx="3086100" cy="3802832"/>
          </a:xfrm>
          <a:custGeom>
            <a:avLst/>
            <a:gdLst/>
            <a:ahLst/>
            <a:cxnLst/>
            <a:rect r="r" b="b" t="t" l="l"/>
            <a:pathLst>
              <a:path h="3802832" w="3086100">
                <a:moveTo>
                  <a:pt x="0" y="0"/>
                </a:moveTo>
                <a:lnTo>
                  <a:pt x="3086100" y="0"/>
                </a:lnTo>
                <a:lnTo>
                  <a:pt x="3086100" y="3802832"/>
                </a:lnTo>
                <a:lnTo>
                  <a:pt x="0" y="380283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6894" t="-5220" r="-13416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573000" y="5029343"/>
            <a:ext cx="3429000" cy="3774129"/>
          </a:xfrm>
          <a:custGeom>
            <a:avLst/>
            <a:gdLst/>
            <a:ahLst/>
            <a:cxnLst/>
            <a:rect r="r" b="b" t="t" l="l"/>
            <a:pathLst>
              <a:path h="3774129" w="3429000">
                <a:moveTo>
                  <a:pt x="0" y="0"/>
                </a:moveTo>
                <a:lnTo>
                  <a:pt x="3429000" y="0"/>
                </a:lnTo>
                <a:lnTo>
                  <a:pt x="3429000" y="3774129"/>
                </a:lnTo>
                <a:lnTo>
                  <a:pt x="0" y="377412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2567" t="-6762" r="-5595" b="-4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423160" y="9746351"/>
            <a:ext cx="2873773" cy="314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Ths. Trương Quang Trường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109206" y="9041154"/>
            <a:ext cx="102127" cy="431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6"/>
              </a:lnSpc>
            </a:pPr>
            <a:r>
              <a:rPr lang="en-US" sz="3153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483460" y="9393926"/>
            <a:ext cx="3134920" cy="735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6"/>
              </a:lnSpc>
            </a:pPr>
            <a:r>
              <a:rPr lang="en-US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Khoa Cơ Khí – Công Nghệ </a:t>
            </a:r>
          </a:p>
          <a:p>
            <a:pPr algn="l">
              <a:lnSpc>
                <a:spcPts val="3834"/>
              </a:lnSpc>
            </a:pPr>
            <a:r>
              <a:rPr lang="en-US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Trường ĐH Nông Lâm TPHCM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923215" y="9864571"/>
            <a:ext cx="520565" cy="36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8"/>
              </a:lnSpc>
            </a:pPr>
            <a:r>
              <a:rPr lang="en-US" sz="2106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- 4 -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807104" y="686076"/>
            <a:ext cx="10824839" cy="620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5"/>
              </a:lnSpc>
            </a:pPr>
            <a:r>
              <a:rPr lang="en-US" sz="3603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I. ĐẠI CɈƠNG Vɽ TRUYɽN ĐỘNG BÁNH RĂNG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271887" y="1522324"/>
            <a:ext cx="984452" cy="633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7"/>
              </a:lnSpc>
            </a:pPr>
            <a:r>
              <a:rPr lang="en-US" sz="3600">
                <a:solidFill>
                  <a:srgbClr val="FF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niệm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527177" y="2124475"/>
            <a:ext cx="135817" cy="671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09"/>
              </a:lnSpc>
            </a:pPr>
            <a:r>
              <a:rPr lang="en-US" sz="4194">
                <a:solidFill>
                  <a:srgbClr val="333399"/>
                </a:solidFill>
                <a:latin typeface="Arab Times"/>
                <a:ea typeface="Arab Times"/>
                <a:cs typeface="Arab Times"/>
                <a:sym typeface="Arab Times"/>
              </a:rPr>
              <a:t>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029389" y="1474699"/>
            <a:ext cx="725634" cy="680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FF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loại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799436" y="2152669"/>
            <a:ext cx="590017" cy="685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1"/>
              </a:lnSpc>
            </a:pPr>
            <a:r>
              <a:rPr lang="en-US" sz="4194" spc="-25">
                <a:solidFill>
                  <a:srgbClr val="333399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b)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735324" y="1549422"/>
            <a:ext cx="1568239" cy="564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7"/>
              </a:lnSpc>
            </a:pPr>
            <a:r>
              <a:rPr lang="en-US" sz="3600" spc="79">
                <a:solidFill>
                  <a:srgbClr val="FF0000"/>
                </a:solidFill>
                <a:latin typeface="Arab Times"/>
                <a:ea typeface="Arab Times"/>
                <a:cs typeface="Arab Times"/>
                <a:sym typeface="Arab Times"/>
              </a:rPr>
              <a:t>1.</a:t>
            </a:r>
            <a:r>
              <a:rPr lang="en-US" sz="3600" spc="79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 </a:t>
            </a:r>
            <a:r>
              <a:rPr lang="en-US" sz="3600" spc="79">
                <a:solidFill>
                  <a:srgbClr val="FF0000"/>
                </a:solidFill>
                <a:latin typeface="Arab Times"/>
                <a:ea typeface="Arab Times"/>
                <a:cs typeface="Arab Times"/>
                <a:sym typeface="Arab Times"/>
              </a:rPr>
              <a:t>Khái</a:t>
            </a:r>
            <a:r>
              <a:rPr lang="en-US" sz="3600" spc="79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350879" y="1549422"/>
            <a:ext cx="1594542" cy="564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7"/>
              </a:lnSpc>
            </a:pPr>
            <a:r>
              <a:rPr lang="en-US" sz="3600" spc="79">
                <a:solidFill>
                  <a:srgbClr val="FF0000"/>
                </a:solidFill>
                <a:latin typeface="Arab Times"/>
                <a:ea typeface="Arab Times"/>
                <a:cs typeface="Arab Times"/>
                <a:sym typeface="Arab Times"/>
              </a:rPr>
              <a:t>và</a:t>
            </a:r>
            <a:r>
              <a:rPr lang="en-US" sz="3600" spc="79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 </a:t>
            </a:r>
            <a:r>
              <a:rPr lang="en-US" sz="3600" spc="79">
                <a:solidFill>
                  <a:srgbClr val="FF0000"/>
                </a:solidFill>
                <a:latin typeface="Arab Times"/>
                <a:ea typeface="Arab Times"/>
                <a:cs typeface="Arab Times"/>
                <a:sym typeface="Arab Times"/>
              </a:rPr>
              <a:t>phân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377794" y="2103906"/>
            <a:ext cx="2190002" cy="74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09"/>
              </a:lnSpc>
            </a:pPr>
            <a:r>
              <a:rPr lang="en-US" b="true" sz="4194" i="true">
                <a:solidFill>
                  <a:srgbClr val="333399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Phân loại: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451860" y="2834859"/>
            <a:ext cx="318283" cy="781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7"/>
              </a:lnSpc>
            </a:pPr>
            <a:r>
              <a:rPr lang="en-US" sz="4197" spc="-2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-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451860" y="3740872"/>
            <a:ext cx="6325576" cy="522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6"/>
              </a:lnSpc>
            </a:pPr>
            <a:r>
              <a:rPr lang="en-US" b="true" sz="4194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tiếp và bánh răng ngoại tiếp.</a:t>
            </a:r>
            <a:r>
              <a:rPr lang="en-US" sz="4194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754083" y="2833707"/>
            <a:ext cx="12026246" cy="789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6"/>
              </a:lnSpc>
            </a:pPr>
            <a:r>
              <a:rPr lang="en-US" b="true" sz="4197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Theovịtrítươngđốigiữahai trục quay: bánh răng nội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454775" y="8904365"/>
            <a:ext cx="2703566" cy="604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5"/>
              </a:lnSpc>
            </a:pPr>
            <a:r>
              <a:rPr lang="en-US" sz="315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Ĕnăkhớpănộiătiếp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795217" y="8987647"/>
            <a:ext cx="3217674" cy="635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0"/>
              </a:lnSpc>
            </a:pPr>
            <a:r>
              <a:rPr lang="en-US" sz="3150" spc="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Ĕnăkhớpăngoạiătiếp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81255" y="247645"/>
            <a:ext cx="13030200" cy="1771650"/>
          </a:xfrm>
          <a:custGeom>
            <a:avLst/>
            <a:gdLst/>
            <a:ahLst/>
            <a:cxnLst/>
            <a:rect r="r" b="b" t="t" l="l"/>
            <a:pathLst>
              <a:path h="1771650" w="13030200">
                <a:moveTo>
                  <a:pt x="0" y="0"/>
                </a:moveTo>
                <a:lnTo>
                  <a:pt x="13030200" y="0"/>
                </a:lnTo>
                <a:lnTo>
                  <a:pt x="13030200" y="1771650"/>
                </a:lnTo>
                <a:lnTo>
                  <a:pt x="0" y="17716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16100" y="71"/>
            <a:ext cx="1485900" cy="1464469"/>
          </a:xfrm>
          <a:custGeom>
            <a:avLst/>
            <a:gdLst/>
            <a:ahLst/>
            <a:cxnLst/>
            <a:rect r="r" b="b" t="t" l="l"/>
            <a:pathLst>
              <a:path h="1464469" w="1485900">
                <a:moveTo>
                  <a:pt x="0" y="0"/>
                </a:moveTo>
                <a:lnTo>
                  <a:pt x="1485900" y="0"/>
                </a:lnTo>
                <a:lnTo>
                  <a:pt x="1485900" y="1464469"/>
                </a:lnTo>
                <a:lnTo>
                  <a:pt x="0" y="14644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572000" y="2670048"/>
            <a:ext cx="1613916" cy="20574"/>
          </a:xfrm>
          <a:custGeom>
            <a:avLst/>
            <a:gdLst/>
            <a:ahLst/>
            <a:cxnLst/>
            <a:rect r="r" b="b" t="t" l="l"/>
            <a:pathLst>
              <a:path h="20574" w="1613916">
                <a:moveTo>
                  <a:pt x="0" y="0"/>
                </a:moveTo>
                <a:lnTo>
                  <a:pt x="1613916" y="0"/>
                </a:lnTo>
                <a:lnTo>
                  <a:pt x="1613916" y="20574"/>
                </a:lnTo>
                <a:lnTo>
                  <a:pt x="0" y="205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286000" y="4148033"/>
            <a:ext cx="3861683" cy="4000600"/>
          </a:xfrm>
          <a:custGeom>
            <a:avLst/>
            <a:gdLst/>
            <a:ahLst/>
            <a:cxnLst/>
            <a:rect r="r" b="b" t="t" l="l"/>
            <a:pathLst>
              <a:path h="4000600" w="3861683">
                <a:moveTo>
                  <a:pt x="0" y="0"/>
                </a:moveTo>
                <a:lnTo>
                  <a:pt x="3861683" y="0"/>
                </a:lnTo>
                <a:lnTo>
                  <a:pt x="3861683" y="4000600"/>
                </a:lnTo>
                <a:lnTo>
                  <a:pt x="0" y="40006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829300" y="4376804"/>
            <a:ext cx="3428886" cy="3852682"/>
          </a:xfrm>
          <a:custGeom>
            <a:avLst/>
            <a:gdLst/>
            <a:ahLst/>
            <a:cxnLst/>
            <a:rect r="r" b="b" t="t" l="l"/>
            <a:pathLst>
              <a:path h="3852682" w="3428886">
                <a:moveTo>
                  <a:pt x="0" y="0"/>
                </a:moveTo>
                <a:lnTo>
                  <a:pt x="3428886" y="0"/>
                </a:lnTo>
                <a:lnTo>
                  <a:pt x="3428886" y="3852682"/>
                </a:lnTo>
                <a:lnTo>
                  <a:pt x="0" y="385268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486900" y="4262618"/>
            <a:ext cx="3123262" cy="3712164"/>
          </a:xfrm>
          <a:custGeom>
            <a:avLst/>
            <a:gdLst/>
            <a:ahLst/>
            <a:cxnLst/>
            <a:rect r="r" b="b" t="t" l="l"/>
            <a:pathLst>
              <a:path h="3712164" w="3123262">
                <a:moveTo>
                  <a:pt x="0" y="0"/>
                </a:moveTo>
                <a:lnTo>
                  <a:pt x="3123262" y="0"/>
                </a:lnTo>
                <a:lnTo>
                  <a:pt x="3123262" y="3712164"/>
                </a:lnTo>
                <a:lnTo>
                  <a:pt x="0" y="371216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3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172200" y="8115300"/>
            <a:ext cx="2895605" cy="2171700"/>
          </a:xfrm>
          <a:custGeom>
            <a:avLst/>
            <a:gdLst/>
            <a:ahLst/>
            <a:cxnLst/>
            <a:rect r="r" b="b" t="t" l="l"/>
            <a:pathLst>
              <a:path h="2171700" w="2895605">
                <a:moveTo>
                  <a:pt x="0" y="0"/>
                </a:moveTo>
                <a:lnTo>
                  <a:pt x="2895605" y="0"/>
                </a:lnTo>
                <a:lnTo>
                  <a:pt x="2895605" y="2171700"/>
                </a:lnTo>
                <a:lnTo>
                  <a:pt x="0" y="21717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687300" y="4229100"/>
            <a:ext cx="3283839" cy="3543300"/>
          </a:xfrm>
          <a:custGeom>
            <a:avLst/>
            <a:gdLst/>
            <a:ahLst/>
            <a:cxnLst/>
            <a:rect r="r" b="b" t="t" l="l"/>
            <a:pathLst>
              <a:path h="3543300" w="3283839">
                <a:moveTo>
                  <a:pt x="0" y="0"/>
                </a:moveTo>
                <a:lnTo>
                  <a:pt x="3283839" y="0"/>
                </a:lnTo>
                <a:lnTo>
                  <a:pt x="3283839" y="3543300"/>
                </a:lnTo>
                <a:lnTo>
                  <a:pt x="0" y="35433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423160" y="9746351"/>
            <a:ext cx="2873773" cy="314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Ths. Trương Quang Trường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483460" y="9336776"/>
            <a:ext cx="3134920" cy="793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Khoa Cơ Khí – Công Nghệ Trường ĐH Nông Lâm TPHCM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923215" y="9864571"/>
            <a:ext cx="520565" cy="36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8"/>
              </a:lnSpc>
            </a:pPr>
            <a:r>
              <a:rPr lang="en-US" sz="2106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- 5 -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807104" y="686076"/>
            <a:ext cx="10824839" cy="620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5"/>
              </a:lnSpc>
            </a:pPr>
            <a:r>
              <a:rPr lang="en-US" sz="3603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I. ĐẠI CɈƠNG Vɽ TRUYɽN ĐỘNG BÁNH RĂNG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735324" y="1454172"/>
            <a:ext cx="1451653" cy="659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8"/>
              </a:lnSpc>
            </a:pPr>
            <a:r>
              <a:rPr lang="en-US" sz="3600">
                <a:solidFill>
                  <a:srgbClr val="FF0000"/>
                </a:solidFill>
                <a:latin typeface="Arab Times"/>
                <a:ea typeface="Arab Times"/>
                <a:cs typeface="Arab Times"/>
                <a:sym typeface="Arab Times"/>
              </a:rPr>
              <a:t>1.</a:t>
            </a:r>
            <a:r>
              <a:rPr lang="en-US" sz="3600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 </a:t>
            </a:r>
            <a:r>
              <a:rPr lang="en-US" sz="3600">
                <a:solidFill>
                  <a:srgbClr val="FF0000"/>
                </a:solidFill>
                <a:latin typeface="Arab Times"/>
                <a:ea typeface="Arab Times"/>
                <a:cs typeface="Arab Times"/>
                <a:sym typeface="Arab Times"/>
              </a:rPr>
              <a:t>Khái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471373" y="2202871"/>
            <a:ext cx="102013" cy="555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28"/>
              </a:lnSpc>
            </a:pPr>
            <a:r>
              <a:rPr lang="en-US" sz="3150" spc="-25">
                <a:solidFill>
                  <a:srgbClr val="333399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350879" y="1454172"/>
            <a:ext cx="1594542" cy="659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8"/>
              </a:lnSpc>
            </a:pPr>
            <a:r>
              <a:rPr lang="en-US" sz="3600">
                <a:solidFill>
                  <a:srgbClr val="FF0000"/>
                </a:solidFill>
                <a:latin typeface="Arab Times"/>
                <a:ea typeface="Arab Times"/>
                <a:cs typeface="Arab Times"/>
                <a:sym typeface="Arab Times"/>
              </a:rPr>
              <a:t>và</a:t>
            </a:r>
            <a:r>
              <a:rPr lang="en-US" sz="3600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 </a:t>
            </a:r>
            <a:r>
              <a:rPr lang="en-US" sz="3600">
                <a:solidFill>
                  <a:srgbClr val="FF0000"/>
                </a:solidFill>
                <a:latin typeface="Arab Times"/>
                <a:ea typeface="Arab Times"/>
                <a:cs typeface="Arab Times"/>
                <a:sym typeface="Arab Times"/>
              </a:rPr>
              <a:t>phân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186287" y="2153079"/>
            <a:ext cx="102013" cy="573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28"/>
              </a:lnSpc>
            </a:pPr>
            <a:r>
              <a:rPr lang="en-US" sz="3150">
                <a:solidFill>
                  <a:srgbClr val="333399"/>
                </a:solidFill>
                <a:latin typeface="Arab Times"/>
                <a:ea typeface="Arab Times"/>
                <a:cs typeface="Arab Times"/>
                <a:sym typeface="Arab Times"/>
              </a:rPr>
              <a:t>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271887" y="1427074"/>
            <a:ext cx="984452" cy="728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8"/>
              </a:lnSpc>
            </a:pPr>
            <a:r>
              <a:rPr lang="en-US" sz="3600">
                <a:solidFill>
                  <a:srgbClr val="FF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niệm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374472" y="2121037"/>
            <a:ext cx="102013" cy="642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28"/>
              </a:lnSpc>
            </a:pPr>
            <a:r>
              <a:rPr lang="en-US" b="true" sz="3150" i="true">
                <a:solidFill>
                  <a:srgbClr val="333399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029389" y="1474699"/>
            <a:ext cx="725634" cy="680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FF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loại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138131" y="2014618"/>
            <a:ext cx="2087375" cy="778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85"/>
              </a:lnSpc>
            </a:pPr>
            <a:r>
              <a:rPr lang="en-US" sz="3150">
                <a:solidFill>
                  <a:srgbClr val="33339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b)</a:t>
            </a:r>
            <a:r>
              <a:rPr lang="en-US" b="true" sz="3150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 </a:t>
            </a:r>
            <a:r>
              <a:rPr lang="en-US" b="true" sz="3150" i="true">
                <a:solidFill>
                  <a:srgbClr val="333399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Phânloại: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208630" y="2766841"/>
            <a:ext cx="12898512" cy="1198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85"/>
              </a:lnSpc>
            </a:pPr>
            <a:r>
              <a:rPr lang="en-US" b="true" sz="3150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+ Theo sự phân bố của răng trên BR: BR răng thẳng, BR răng xoắn (nghiêng), </a:t>
            </a:r>
          </a:p>
          <a:p>
            <a:pPr algn="ctr">
              <a:lnSpc>
                <a:spcPts val="1874"/>
              </a:lnSpc>
            </a:pPr>
            <a:r>
              <a:rPr lang="en-US" b="true" sz="3150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BR răng chữ V.</a:t>
            </a:r>
            <a:r>
              <a:rPr lang="en-US" sz="315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81255" y="247645"/>
            <a:ext cx="13030200" cy="1771650"/>
          </a:xfrm>
          <a:custGeom>
            <a:avLst/>
            <a:gdLst/>
            <a:ahLst/>
            <a:cxnLst/>
            <a:rect r="r" b="b" t="t" l="l"/>
            <a:pathLst>
              <a:path h="1771650" w="13030200">
                <a:moveTo>
                  <a:pt x="0" y="0"/>
                </a:moveTo>
                <a:lnTo>
                  <a:pt x="13030200" y="0"/>
                </a:lnTo>
                <a:lnTo>
                  <a:pt x="13030200" y="1771650"/>
                </a:lnTo>
                <a:lnTo>
                  <a:pt x="0" y="17716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16100" y="71"/>
            <a:ext cx="1485900" cy="1464469"/>
          </a:xfrm>
          <a:custGeom>
            <a:avLst/>
            <a:gdLst/>
            <a:ahLst/>
            <a:cxnLst/>
            <a:rect r="r" b="b" t="t" l="l"/>
            <a:pathLst>
              <a:path h="1464469" w="1485900">
                <a:moveTo>
                  <a:pt x="0" y="0"/>
                </a:moveTo>
                <a:lnTo>
                  <a:pt x="1485900" y="0"/>
                </a:lnTo>
                <a:lnTo>
                  <a:pt x="1485900" y="1464469"/>
                </a:lnTo>
                <a:lnTo>
                  <a:pt x="0" y="14644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572000" y="2670048"/>
            <a:ext cx="1613916" cy="20574"/>
          </a:xfrm>
          <a:custGeom>
            <a:avLst/>
            <a:gdLst/>
            <a:ahLst/>
            <a:cxnLst/>
            <a:rect r="r" b="b" t="t" l="l"/>
            <a:pathLst>
              <a:path h="20574" w="1613916">
                <a:moveTo>
                  <a:pt x="0" y="0"/>
                </a:moveTo>
                <a:lnTo>
                  <a:pt x="1613916" y="0"/>
                </a:lnTo>
                <a:lnTo>
                  <a:pt x="1613916" y="20574"/>
                </a:lnTo>
                <a:lnTo>
                  <a:pt x="0" y="205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086600" y="4000386"/>
            <a:ext cx="7643784" cy="4588774"/>
          </a:xfrm>
          <a:custGeom>
            <a:avLst/>
            <a:gdLst/>
            <a:ahLst/>
            <a:cxnLst/>
            <a:rect r="r" b="b" t="t" l="l"/>
            <a:pathLst>
              <a:path h="4588774" w="7643784">
                <a:moveTo>
                  <a:pt x="0" y="0"/>
                </a:moveTo>
                <a:lnTo>
                  <a:pt x="7643784" y="0"/>
                </a:lnTo>
                <a:lnTo>
                  <a:pt x="7643784" y="4588773"/>
                </a:lnTo>
                <a:lnTo>
                  <a:pt x="0" y="458877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306545" y="4933945"/>
            <a:ext cx="1790695" cy="1676395"/>
          </a:xfrm>
          <a:custGeom>
            <a:avLst/>
            <a:gdLst/>
            <a:ahLst/>
            <a:cxnLst/>
            <a:rect r="r" b="b" t="t" l="l"/>
            <a:pathLst>
              <a:path h="1676395" w="1790695">
                <a:moveTo>
                  <a:pt x="0" y="0"/>
                </a:moveTo>
                <a:lnTo>
                  <a:pt x="1790695" y="0"/>
                </a:lnTo>
                <a:lnTo>
                  <a:pt x="1790695" y="1676395"/>
                </a:lnTo>
                <a:lnTo>
                  <a:pt x="0" y="167639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286000" y="3200400"/>
            <a:ext cx="5829300" cy="5829300"/>
          </a:xfrm>
          <a:custGeom>
            <a:avLst/>
            <a:gdLst/>
            <a:ahLst/>
            <a:cxnLst/>
            <a:rect r="r" b="b" t="t" l="l"/>
            <a:pathLst>
              <a:path h="5829300" w="5829300">
                <a:moveTo>
                  <a:pt x="0" y="0"/>
                </a:moveTo>
                <a:lnTo>
                  <a:pt x="5829300" y="0"/>
                </a:lnTo>
                <a:lnTo>
                  <a:pt x="5829300" y="5829300"/>
                </a:lnTo>
                <a:lnTo>
                  <a:pt x="0" y="58293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423160" y="9746351"/>
            <a:ext cx="2873773" cy="314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Ths. Trương Quang Trường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483460" y="9336776"/>
            <a:ext cx="3134920" cy="793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Khoa Cơ Khí – Công Nghệ Trường ĐH Nông Lâm TPHCM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923215" y="9864571"/>
            <a:ext cx="520565" cy="36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8"/>
              </a:lnSpc>
            </a:pPr>
            <a:r>
              <a:rPr lang="en-US" sz="2106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- 6 -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807104" y="686076"/>
            <a:ext cx="10824839" cy="620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5"/>
              </a:lnSpc>
            </a:pPr>
            <a:r>
              <a:rPr lang="en-US" sz="3603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I. ĐẠI CɈƠNG Vɽ TRUYɽN ĐỘNG BÁNH RĂNG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735324" y="1454172"/>
            <a:ext cx="1451653" cy="659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8"/>
              </a:lnSpc>
            </a:pPr>
            <a:r>
              <a:rPr lang="en-US" sz="3600">
                <a:solidFill>
                  <a:srgbClr val="FF0000"/>
                </a:solidFill>
                <a:latin typeface="Arab Times"/>
                <a:ea typeface="Arab Times"/>
                <a:cs typeface="Arab Times"/>
                <a:sym typeface="Arab Times"/>
              </a:rPr>
              <a:t>1.</a:t>
            </a:r>
            <a:r>
              <a:rPr lang="en-US" sz="3600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 </a:t>
            </a:r>
            <a:r>
              <a:rPr lang="en-US" sz="3600">
                <a:solidFill>
                  <a:srgbClr val="FF0000"/>
                </a:solidFill>
                <a:latin typeface="Arab Times"/>
                <a:ea typeface="Arab Times"/>
                <a:cs typeface="Arab Times"/>
                <a:sym typeface="Arab Times"/>
              </a:rPr>
              <a:t>Khái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471373" y="2202871"/>
            <a:ext cx="102013" cy="555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28"/>
              </a:lnSpc>
            </a:pPr>
            <a:r>
              <a:rPr lang="en-US" sz="3150" spc="-25">
                <a:solidFill>
                  <a:srgbClr val="333399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350879" y="1454172"/>
            <a:ext cx="1594542" cy="659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8"/>
              </a:lnSpc>
            </a:pPr>
            <a:r>
              <a:rPr lang="en-US" sz="3600">
                <a:solidFill>
                  <a:srgbClr val="FF0000"/>
                </a:solidFill>
                <a:latin typeface="Arab Times"/>
                <a:ea typeface="Arab Times"/>
                <a:cs typeface="Arab Times"/>
                <a:sym typeface="Arab Times"/>
              </a:rPr>
              <a:t>và</a:t>
            </a:r>
            <a:r>
              <a:rPr lang="en-US" sz="3600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 </a:t>
            </a:r>
            <a:r>
              <a:rPr lang="en-US" sz="3600">
                <a:solidFill>
                  <a:srgbClr val="FF0000"/>
                </a:solidFill>
                <a:latin typeface="Arab Times"/>
                <a:ea typeface="Arab Times"/>
                <a:cs typeface="Arab Times"/>
                <a:sym typeface="Arab Times"/>
              </a:rPr>
              <a:t>phân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186287" y="2153079"/>
            <a:ext cx="102013" cy="573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28"/>
              </a:lnSpc>
            </a:pPr>
            <a:r>
              <a:rPr lang="en-US" sz="3150">
                <a:solidFill>
                  <a:srgbClr val="333399"/>
                </a:solidFill>
                <a:latin typeface="Arab Times"/>
                <a:ea typeface="Arab Times"/>
                <a:cs typeface="Arab Times"/>
                <a:sym typeface="Arab Times"/>
              </a:rPr>
              <a:t>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271887" y="1427074"/>
            <a:ext cx="984452" cy="728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8"/>
              </a:lnSpc>
            </a:pPr>
            <a:r>
              <a:rPr lang="en-US" sz="3600">
                <a:solidFill>
                  <a:srgbClr val="FF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niệm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374472" y="2121037"/>
            <a:ext cx="102013" cy="642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28"/>
              </a:lnSpc>
            </a:pPr>
            <a:r>
              <a:rPr lang="en-US" b="true" sz="3150" i="true">
                <a:solidFill>
                  <a:srgbClr val="333399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029389" y="1474699"/>
            <a:ext cx="725634" cy="680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FF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loại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138131" y="2240971"/>
            <a:ext cx="339900" cy="517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0"/>
              </a:lnSpc>
            </a:pPr>
            <a:r>
              <a:rPr lang="en-US" sz="3150" spc="-25">
                <a:solidFill>
                  <a:srgbClr val="333399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b)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572371" y="2149612"/>
            <a:ext cx="1644448" cy="613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1"/>
              </a:lnSpc>
            </a:pPr>
            <a:r>
              <a:rPr lang="en-US" b="true" sz="3150" i="true">
                <a:solidFill>
                  <a:srgbClr val="333399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Phânloại: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710474" y="2721312"/>
            <a:ext cx="102127" cy="614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6"/>
              </a:lnSpc>
            </a:pPr>
            <a:r>
              <a:rPr lang="en-US" b="true" sz="3153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795231" y="9049369"/>
            <a:ext cx="2884246" cy="635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0"/>
              </a:lnSpc>
            </a:pPr>
            <a:r>
              <a:rPr lang="en-US" sz="3150" spc="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Đườngăthânăkhai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566631" y="2730837"/>
            <a:ext cx="3911575" cy="604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5"/>
              </a:lnSpc>
            </a:pPr>
            <a:r>
              <a:rPr lang="en-US" b="true" sz="3153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+ Theobiêndạng răng: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539607" y="2730837"/>
            <a:ext cx="797371" cy="604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5"/>
              </a:lnSpc>
            </a:pPr>
            <a:r>
              <a:rPr lang="en-US" b="true" sz="3153" i="true" spc="6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cốp.</a:t>
            </a:r>
            <a:r>
              <a:rPr lang="en-US" sz="3153" spc="6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403025" y="2762836"/>
            <a:ext cx="2538703" cy="540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5"/>
              </a:lnSpc>
            </a:pPr>
            <a:r>
              <a:rPr lang="en-US" sz="3153">
                <a:solidFill>
                  <a:srgbClr val="1021A0"/>
                </a:solidFill>
                <a:latin typeface="Arab Times"/>
                <a:ea typeface="Arab Times"/>
                <a:cs typeface="Arab Times"/>
                <a:sym typeface="Arab Times"/>
              </a:rPr>
              <a:t>BR thân khai</a:t>
            </a:r>
            <a:r>
              <a:rPr lang="en-US" sz="3153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691697" y="2812685"/>
            <a:ext cx="3925662" cy="517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5"/>
              </a:lnSpc>
            </a:pPr>
            <a:r>
              <a:rPr lang="en-US" sz="3153" spc="-2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,BR xyclôít, BR Nô-vi-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711003" y="9051093"/>
            <a:ext cx="2240209" cy="535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0"/>
              </a:lnSpc>
            </a:pPr>
            <a:r>
              <a:rPr lang="en-US" sz="3150" spc="6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BR thân khai 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81255" y="247645"/>
            <a:ext cx="13030200" cy="1771650"/>
          </a:xfrm>
          <a:custGeom>
            <a:avLst/>
            <a:gdLst/>
            <a:ahLst/>
            <a:cxnLst/>
            <a:rect r="r" b="b" t="t" l="l"/>
            <a:pathLst>
              <a:path h="1771650" w="13030200">
                <a:moveTo>
                  <a:pt x="0" y="0"/>
                </a:moveTo>
                <a:lnTo>
                  <a:pt x="13030200" y="0"/>
                </a:lnTo>
                <a:lnTo>
                  <a:pt x="13030200" y="1771650"/>
                </a:lnTo>
                <a:lnTo>
                  <a:pt x="0" y="17716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16100" y="71"/>
            <a:ext cx="1485900" cy="1464469"/>
          </a:xfrm>
          <a:custGeom>
            <a:avLst/>
            <a:gdLst/>
            <a:ahLst/>
            <a:cxnLst/>
            <a:rect r="r" b="b" t="t" l="l"/>
            <a:pathLst>
              <a:path h="1464469" w="1485900">
                <a:moveTo>
                  <a:pt x="0" y="0"/>
                </a:moveTo>
                <a:lnTo>
                  <a:pt x="1485900" y="0"/>
                </a:lnTo>
                <a:lnTo>
                  <a:pt x="1485900" y="1464469"/>
                </a:lnTo>
                <a:lnTo>
                  <a:pt x="0" y="14644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572000" y="2670048"/>
            <a:ext cx="1613916" cy="20574"/>
          </a:xfrm>
          <a:custGeom>
            <a:avLst/>
            <a:gdLst/>
            <a:ahLst/>
            <a:cxnLst/>
            <a:rect r="r" b="b" t="t" l="l"/>
            <a:pathLst>
              <a:path h="20574" w="1613916">
                <a:moveTo>
                  <a:pt x="0" y="0"/>
                </a:moveTo>
                <a:lnTo>
                  <a:pt x="1613916" y="0"/>
                </a:lnTo>
                <a:lnTo>
                  <a:pt x="1613916" y="20574"/>
                </a:lnTo>
                <a:lnTo>
                  <a:pt x="0" y="205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286000" y="3771871"/>
            <a:ext cx="5581640" cy="5643591"/>
          </a:xfrm>
          <a:custGeom>
            <a:avLst/>
            <a:gdLst/>
            <a:ahLst/>
            <a:cxnLst/>
            <a:rect r="r" b="b" t="t" l="l"/>
            <a:pathLst>
              <a:path h="5643591" w="5581640">
                <a:moveTo>
                  <a:pt x="0" y="0"/>
                </a:moveTo>
                <a:lnTo>
                  <a:pt x="5581640" y="0"/>
                </a:lnTo>
                <a:lnTo>
                  <a:pt x="5581640" y="5643591"/>
                </a:lnTo>
                <a:lnTo>
                  <a:pt x="0" y="564359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858500" y="3771886"/>
            <a:ext cx="5086350" cy="5053017"/>
          </a:xfrm>
          <a:custGeom>
            <a:avLst/>
            <a:gdLst/>
            <a:ahLst/>
            <a:cxnLst/>
            <a:rect r="r" b="b" t="t" l="l"/>
            <a:pathLst>
              <a:path h="5053017" w="5086350">
                <a:moveTo>
                  <a:pt x="0" y="0"/>
                </a:moveTo>
                <a:lnTo>
                  <a:pt x="5086350" y="0"/>
                </a:lnTo>
                <a:lnTo>
                  <a:pt x="5086350" y="5053017"/>
                </a:lnTo>
                <a:lnTo>
                  <a:pt x="0" y="505301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429500" y="7200900"/>
            <a:ext cx="3505195" cy="2628900"/>
          </a:xfrm>
          <a:custGeom>
            <a:avLst/>
            <a:gdLst/>
            <a:ahLst/>
            <a:cxnLst/>
            <a:rect r="r" b="b" t="t" l="l"/>
            <a:pathLst>
              <a:path h="2628900" w="3505195">
                <a:moveTo>
                  <a:pt x="0" y="0"/>
                </a:moveTo>
                <a:lnTo>
                  <a:pt x="3505195" y="0"/>
                </a:lnTo>
                <a:lnTo>
                  <a:pt x="3505195" y="2628900"/>
                </a:lnTo>
                <a:lnTo>
                  <a:pt x="0" y="26289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423160" y="9746351"/>
            <a:ext cx="2873773" cy="314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Ths. Trương Quang Trường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092186" y="8888740"/>
            <a:ext cx="102127" cy="469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3153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483460" y="9260576"/>
            <a:ext cx="3134920" cy="869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3"/>
              </a:lnSpc>
            </a:pPr>
            <a:r>
              <a:rPr lang="en-US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Khoa Cơ Khí – Công Nghệ </a:t>
            </a:r>
          </a:p>
          <a:p>
            <a:pPr algn="l">
              <a:lnSpc>
                <a:spcPts val="2426"/>
              </a:lnSpc>
            </a:pPr>
            <a:r>
              <a:rPr lang="en-US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Trường ĐH Nông Lâm TPHCM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923215" y="9864571"/>
            <a:ext cx="520565" cy="36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8"/>
              </a:lnSpc>
            </a:pPr>
            <a:r>
              <a:rPr lang="en-US" sz="2106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- 7 -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807104" y="686076"/>
            <a:ext cx="10824839" cy="620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5"/>
              </a:lnSpc>
            </a:pPr>
            <a:r>
              <a:rPr lang="en-US" sz="3603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I. ĐẠI CɈƠNG Vɽ TRUYɽN ĐỘNG BÁNH RĂNG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735324" y="1454172"/>
            <a:ext cx="1451653" cy="659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8"/>
              </a:lnSpc>
            </a:pPr>
            <a:r>
              <a:rPr lang="en-US" sz="3600">
                <a:solidFill>
                  <a:srgbClr val="FF0000"/>
                </a:solidFill>
                <a:latin typeface="Arab Times"/>
                <a:ea typeface="Arab Times"/>
                <a:cs typeface="Arab Times"/>
                <a:sym typeface="Arab Times"/>
              </a:rPr>
              <a:t>1.</a:t>
            </a:r>
            <a:r>
              <a:rPr lang="en-US" sz="3600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 </a:t>
            </a:r>
            <a:r>
              <a:rPr lang="en-US" sz="3600">
                <a:solidFill>
                  <a:srgbClr val="FF0000"/>
                </a:solidFill>
                <a:latin typeface="Arab Times"/>
                <a:ea typeface="Arab Times"/>
                <a:cs typeface="Arab Times"/>
                <a:sym typeface="Arab Times"/>
              </a:rPr>
              <a:t>Khái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471373" y="2202871"/>
            <a:ext cx="102013" cy="555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28"/>
              </a:lnSpc>
            </a:pPr>
            <a:r>
              <a:rPr lang="en-US" sz="3150" spc="-25">
                <a:solidFill>
                  <a:srgbClr val="333399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350879" y="1454172"/>
            <a:ext cx="1594542" cy="659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8"/>
              </a:lnSpc>
            </a:pPr>
            <a:r>
              <a:rPr lang="en-US" sz="3600">
                <a:solidFill>
                  <a:srgbClr val="FF0000"/>
                </a:solidFill>
                <a:latin typeface="Arab Times"/>
                <a:ea typeface="Arab Times"/>
                <a:cs typeface="Arab Times"/>
                <a:sym typeface="Arab Times"/>
              </a:rPr>
              <a:t>và</a:t>
            </a:r>
            <a:r>
              <a:rPr lang="en-US" sz="3600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 </a:t>
            </a:r>
            <a:r>
              <a:rPr lang="en-US" sz="3600">
                <a:solidFill>
                  <a:srgbClr val="FF0000"/>
                </a:solidFill>
                <a:latin typeface="Arab Times"/>
                <a:ea typeface="Arab Times"/>
                <a:cs typeface="Arab Times"/>
                <a:sym typeface="Arab Times"/>
              </a:rPr>
              <a:t>phân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186287" y="2153079"/>
            <a:ext cx="102013" cy="573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28"/>
              </a:lnSpc>
            </a:pPr>
            <a:r>
              <a:rPr lang="en-US" sz="3150">
                <a:solidFill>
                  <a:srgbClr val="333399"/>
                </a:solidFill>
                <a:latin typeface="Arab Times"/>
                <a:ea typeface="Arab Times"/>
                <a:cs typeface="Arab Times"/>
                <a:sym typeface="Arab Times"/>
              </a:rPr>
              <a:t>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271887" y="1427074"/>
            <a:ext cx="984452" cy="728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8"/>
              </a:lnSpc>
            </a:pPr>
            <a:r>
              <a:rPr lang="en-US" sz="3600">
                <a:solidFill>
                  <a:srgbClr val="FF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niệm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374472" y="2121037"/>
            <a:ext cx="102013" cy="642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28"/>
              </a:lnSpc>
            </a:pPr>
            <a:r>
              <a:rPr lang="en-US" b="true" sz="3150" i="true">
                <a:solidFill>
                  <a:srgbClr val="333399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029389" y="1474699"/>
            <a:ext cx="725634" cy="680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FF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loại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138131" y="2240971"/>
            <a:ext cx="339900" cy="517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0"/>
              </a:lnSpc>
            </a:pPr>
            <a:r>
              <a:rPr lang="en-US" sz="3150" spc="-25">
                <a:solidFill>
                  <a:srgbClr val="333399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b)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766060" y="9133351"/>
            <a:ext cx="1880306" cy="604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0"/>
              </a:lnSpc>
            </a:pPr>
            <a:r>
              <a:rPr lang="en-US" sz="315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ĐườngăEpy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572371" y="2149612"/>
            <a:ext cx="1644448" cy="613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1"/>
              </a:lnSpc>
            </a:pPr>
            <a:r>
              <a:rPr lang="en-US" b="true" sz="3150" i="true">
                <a:solidFill>
                  <a:srgbClr val="333399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Phânloại: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710474" y="2721312"/>
            <a:ext cx="102127" cy="614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6"/>
              </a:lnSpc>
            </a:pPr>
            <a:r>
              <a:rPr lang="en-US" b="true" sz="3153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566631" y="2730837"/>
            <a:ext cx="6272413" cy="604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5"/>
              </a:lnSpc>
            </a:pPr>
            <a:r>
              <a:rPr lang="en-US" b="true" sz="3153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+ Theobiêndạng răng: BR thân khai,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797689" y="8790065"/>
            <a:ext cx="2129195" cy="604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5"/>
              </a:lnSpc>
            </a:pPr>
            <a:r>
              <a:rPr lang="en-US" sz="315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ĐườngăHypo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411591" y="2730837"/>
            <a:ext cx="797371" cy="604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5"/>
              </a:lnSpc>
            </a:pPr>
            <a:r>
              <a:rPr lang="en-US" b="true" sz="3153" i="true" spc="6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cốp.</a:t>
            </a:r>
            <a:r>
              <a:rPr lang="en-US" sz="3153" spc="6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719129" y="2762836"/>
            <a:ext cx="2032911" cy="540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5"/>
              </a:lnSpc>
            </a:pPr>
            <a:r>
              <a:rPr lang="en-US" sz="3153">
                <a:solidFill>
                  <a:srgbClr val="1021A0"/>
                </a:solidFill>
                <a:latin typeface="Arab Times"/>
                <a:ea typeface="Arab Times"/>
                <a:cs typeface="Arab Times"/>
                <a:sym typeface="Arab Times"/>
              </a:rPr>
              <a:t>BR xyclôít</a:t>
            </a:r>
            <a:r>
              <a:rPr lang="en-US" sz="3153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 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887093" y="8822065"/>
            <a:ext cx="1227168" cy="535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5"/>
              </a:lnSpc>
            </a:pPr>
            <a:r>
              <a:rPr lang="en-US" sz="3153" spc="3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-xycloit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511925" y="2812685"/>
            <a:ext cx="1938457" cy="517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5"/>
              </a:lnSpc>
            </a:pPr>
            <a:r>
              <a:rPr lang="en-US" sz="3153" spc="-2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,BR Nô-vi-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611233" y="9165393"/>
            <a:ext cx="1330823" cy="535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0"/>
              </a:lnSpc>
            </a:pPr>
            <a:r>
              <a:rPr lang="en-US" sz="3150" spc="6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-xycloit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81255" y="247645"/>
            <a:ext cx="13030200" cy="1771650"/>
          </a:xfrm>
          <a:custGeom>
            <a:avLst/>
            <a:gdLst/>
            <a:ahLst/>
            <a:cxnLst/>
            <a:rect r="r" b="b" t="t" l="l"/>
            <a:pathLst>
              <a:path h="1771650" w="13030200">
                <a:moveTo>
                  <a:pt x="0" y="0"/>
                </a:moveTo>
                <a:lnTo>
                  <a:pt x="13030200" y="0"/>
                </a:lnTo>
                <a:lnTo>
                  <a:pt x="13030200" y="1771650"/>
                </a:lnTo>
                <a:lnTo>
                  <a:pt x="0" y="17716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16100" y="71"/>
            <a:ext cx="1485900" cy="1464469"/>
          </a:xfrm>
          <a:custGeom>
            <a:avLst/>
            <a:gdLst/>
            <a:ahLst/>
            <a:cxnLst/>
            <a:rect r="r" b="b" t="t" l="l"/>
            <a:pathLst>
              <a:path h="1464469" w="1485900">
                <a:moveTo>
                  <a:pt x="0" y="0"/>
                </a:moveTo>
                <a:lnTo>
                  <a:pt x="1485900" y="0"/>
                </a:lnTo>
                <a:lnTo>
                  <a:pt x="1485900" y="1464469"/>
                </a:lnTo>
                <a:lnTo>
                  <a:pt x="0" y="14644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572000" y="2670048"/>
            <a:ext cx="1613916" cy="20574"/>
          </a:xfrm>
          <a:custGeom>
            <a:avLst/>
            <a:gdLst/>
            <a:ahLst/>
            <a:cxnLst/>
            <a:rect r="r" b="b" t="t" l="l"/>
            <a:pathLst>
              <a:path h="20574" w="1613916">
                <a:moveTo>
                  <a:pt x="0" y="0"/>
                </a:moveTo>
                <a:lnTo>
                  <a:pt x="1613916" y="0"/>
                </a:lnTo>
                <a:lnTo>
                  <a:pt x="1613916" y="20574"/>
                </a:lnTo>
                <a:lnTo>
                  <a:pt x="0" y="205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372100" y="4000414"/>
            <a:ext cx="7972425" cy="5093579"/>
          </a:xfrm>
          <a:custGeom>
            <a:avLst/>
            <a:gdLst/>
            <a:ahLst/>
            <a:cxnLst/>
            <a:rect r="r" b="b" t="t" l="l"/>
            <a:pathLst>
              <a:path h="5093579" w="7972425">
                <a:moveTo>
                  <a:pt x="0" y="0"/>
                </a:moveTo>
                <a:lnTo>
                  <a:pt x="7972425" y="0"/>
                </a:lnTo>
                <a:lnTo>
                  <a:pt x="7972425" y="5093580"/>
                </a:lnTo>
                <a:lnTo>
                  <a:pt x="0" y="509358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423160" y="9746351"/>
            <a:ext cx="2873773" cy="314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Ths. Trương Quang Trường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483460" y="9336776"/>
            <a:ext cx="3134920" cy="793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Khoa Cơ Khí – Công Nghệ Trường ĐH Nông Lâm TPHCM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807104" y="686076"/>
            <a:ext cx="10824839" cy="620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5"/>
              </a:lnSpc>
            </a:pPr>
            <a:r>
              <a:rPr lang="en-US" sz="3603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I. ĐẠI CɈƠNG Vɽ TRUYɽN ĐỘNG BÁNH RĂNG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735324" y="1454172"/>
            <a:ext cx="1451653" cy="659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8"/>
              </a:lnSpc>
            </a:pPr>
            <a:r>
              <a:rPr lang="en-US" sz="3600">
                <a:solidFill>
                  <a:srgbClr val="FF0000"/>
                </a:solidFill>
                <a:latin typeface="Arab Times"/>
                <a:ea typeface="Arab Times"/>
                <a:cs typeface="Arab Times"/>
                <a:sym typeface="Arab Times"/>
              </a:rPr>
              <a:t>1.</a:t>
            </a:r>
            <a:r>
              <a:rPr lang="en-US" sz="3600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 </a:t>
            </a:r>
            <a:r>
              <a:rPr lang="en-US" sz="3600">
                <a:solidFill>
                  <a:srgbClr val="FF0000"/>
                </a:solidFill>
                <a:latin typeface="Arab Times"/>
                <a:ea typeface="Arab Times"/>
                <a:cs typeface="Arab Times"/>
                <a:sym typeface="Arab Times"/>
              </a:rPr>
              <a:t>Khái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471373" y="2202871"/>
            <a:ext cx="102013" cy="555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28"/>
              </a:lnSpc>
            </a:pPr>
            <a:r>
              <a:rPr lang="en-US" sz="3150" spc="-25">
                <a:solidFill>
                  <a:srgbClr val="333399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350879" y="1454172"/>
            <a:ext cx="1594542" cy="659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8"/>
              </a:lnSpc>
            </a:pPr>
            <a:r>
              <a:rPr lang="en-US" sz="3600">
                <a:solidFill>
                  <a:srgbClr val="FF0000"/>
                </a:solidFill>
                <a:latin typeface="Arab Times"/>
                <a:ea typeface="Arab Times"/>
                <a:cs typeface="Arab Times"/>
                <a:sym typeface="Arab Times"/>
              </a:rPr>
              <a:t>và</a:t>
            </a:r>
            <a:r>
              <a:rPr lang="en-US" sz="3600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 </a:t>
            </a:r>
            <a:r>
              <a:rPr lang="en-US" sz="3600">
                <a:solidFill>
                  <a:srgbClr val="FF0000"/>
                </a:solidFill>
                <a:latin typeface="Arab Times"/>
                <a:ea typeface="Arab Times"/>
                <a:cs typeface="Arab Times"/>
                <a:sym typeface="Arab Times"/>
              </a:rPr>
              <a:t>phân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186287" y="2153079"/>
            <a:ext cx="102013" cy="573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28"/>
              </a:lnSpc>
            </a:pPr>
            <a:r>
              <a:rPr lang="en-US" sz="3150">
                <a:solidFill>
                  <a:srgbClr val="333399"/>
                </a:solidFill>
                <a:latin typeface="Arab Times"/>
                <a:ea typeface="Arab Times"/>
                <a:cs typeface="Arab Times"/>
                <a:sym typeface="Arab Times"/>
              </a:rPr>
              <a:t>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271887" y="1427074"/>
            <a:ext cx="984452" cy="728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8"/>
              </a:lnSpc>
            </a:pPr>
            <a:r>
              <a:rPr lang="en-US" sz="3600">
                <a:solidFill>
                  <a:srgbClr val="FF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niệm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374472" y="2121037"/>
            <a:ext cx="102013" cy="642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28"/>
              </a:lnSpc>
            </a:pPr>
            <a:r>
              <a:rPr lang="en-US" b="true" sz="3150" i="true">
                <a:solidFill>
                  <a:srgbClr val="333399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029389" y="1474699"/>
            <a:ext cx="725634" cy="680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FF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loại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138131" y="2240971"/>
            <a:ext cx="339900" cy="517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0"/>
              </a:lnSpc>
            </a:pPr>
            <a:r>
              <a:rPr lang="en-US" sz="3150" spc="-25">
                <a:solidFill>
                  <a:srgbClr val="333399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b)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572371" y="2149612"/>
            <a:ext cx="1644448" cy="613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1"/>
              </a:lnSpc>
            </a:pPr>
            <a:r>
              <a:rPr lang="en-US" b="true" sz="3150" i="true">
                <a:solidFill>
                  <a:srgbClr val="333399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Phânloại: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710474" y="2721312"/>
            <a:ext cx="102127" cy="614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6"/>
              </a:lnSpc>
            </a:pPr>
            <a:r>
              <a:rPr lang="en-US" b="true" sz="3153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110417" y="9276226"/>
            <a:ext cx="2309989" cy="575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5"/>
              </a:lnSpc>
            </a:pPr>
            <a:r>
              <a:rPr lang="en-US" sz="3150">
                <a:solidFill>
                  <a:srgbClr val="1021A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BánhărĕngăNô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923215" y="9778846"/>
            <a:ext cx="520565" cy="446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2"/>
              </a:lnSpc>
            </a:pPr>
            <a:r>
              <a:rPr lang="en-US" sz="2106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- 8 -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934027" y="9216247"/>
            <a:ext cx="694258" cy="635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0"/>
              </a:lnSpc>
            </a:pPr>
            <a:r>
              <a:rPr lang="en-US" sz="3150" spc="6">
                <a:solidFill>
                  <a:srgbClr val="1021A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cốp</a:t>
            </a:r>
            <a:r>
              <a:rPr lang="en-US" sz="3150" spc="6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566631" y="2730837"/>
            <a:ext cx="8257403" cy="604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5"/>
              </a:lnSpc>
            </a:pPr>
            <a:r>
              <a:rPr lang="en-US" b="true" sz="3153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+ Theobiêndạng răng: BR thân khai, BR xyclôít,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388731" y="2730837"/>
            <a:ext cx="818359" cy="604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5"/>
              </a:lnSpc>
            </a:pPr>
            <a:r>
              <a:rPr lang="en-US" sz="3153" spc="3">
                <a:solidFill>
                  <a:srgbClr val="1021A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cốp</a:t>
            </a:r>
            <a:r>
              <a:rPr lang="en-US" sz="3153" spc="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.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667373" y="2762836"/>
            <a:ext cx="1756577" cy="535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5"/>
              </a:lnSpc>
            </a:pPr>
            <a:r>
              <a:rPr lang="en-US" sz="3153">
                <a:solidFill>
                  <a:srgbClr val="1021A0"/>
                </a:solidFill>
                <a:latin typeface="Arab Times"/>
                <a:ea typeface="Arab Times"/>
                <a:cs typeface="Arab Times"/>
                <a:sym typeface="Arab Times"/>
              </a:rPr>
              <a:t>BR Nô-vi-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378529" y="9279693"/>
            <a:ext cx="567242" cy="535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0"/>
              </a:lnSpc>
            </a:pPr>
            <a:r>
              <a:rPr lang="en-US" sz="3150" spc="3">
                <a:solidFill>
                  <a:srgbClr val="1021A0"/>
                </a:solidFill>
                <a:latin typeface="Arab Times"/>
                <a:ea typeface="Arab Times"/>
                <a:cs typeface="Arab Times"/>
                <a:sym typeface="Arab Times"/>
              </a:rPr>
              <a:t>-vi-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81255" y="247645"/>
            <a:ext cx="13030200" cy="1771650"/>
          </a:xfrm>
          <a:custGeom>
            <a:avLst/>
            <a:gdLst/>
            <a:ahLst/>
            <a:cxnLst/>
            <a:rect r="r" b="b" t="t" l="l"/>
            <a:pathLst>
              <a:path h="1771650" w="13030200">
                <a:moveTo>
                  <a:pt x="0" y="0"/>
                </a:moveTo>
                <a:lnTo>
                  <a:pt x="13030200" y="0"/>
                </a:lnTo>
                <a:lnTo>
                  <a:pt x="13030200" y="1771650"/>
                </a:lnTo>
                <a:lnTo>
                  <a:pt x="0" y="17716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16100" y="71"/>
            <a:ext cx="1485900" cy="1464469"/>
          </a:xfrm>
          <a:custGeom>
            <a:avLst/>
            <a:gdLst/>
            <a:ahLst/>
            <a:cxnLst/>
            <a:rect r="r" b="b" t="t" l="l"/>
            <a:pathLst>
              <a:path h="1464469" w="1485900">
                <a:moveTo>
                  <a:pt x="0" y="0"/>
                </a:moveTo>
                <a:lnTo>
                  <a:pt x="1485900" y="0"/>
                </a:lnTo>
                <a:lnTo>
                  <a:pt x="1485900" y="1464469"/>
                </a:lnTo>
                <a:lnTo>
                  <a:pt x="0" y="14644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572000" y="2670048"/>
            <a:ext cx="1613916" cy="20574"/>
          </a:xfrm>
          <a:custGeom>
            <a:avLst/>
            <a:gdLst/>
            <a:ahLst/>
            <a:cxnLst/>
            <a:rect r="r" b="b" t="t" l="l"/>
            <a:pathLst>
              <a:path h="20574" w="1613916">
                <a:moveTo>
                  <a:pt x="0" y="0"/>
                </a:moveTo>
                <a:lnTo>
                  <a:pt x="1613916" y="0"/>
                </a:lnTo>
                <a:lnTo>
                  <a:pt x="1613916" y="20574"/>
                </a:lnTo>
                <a:lnTo>
                  <a:pt x="0" y="205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286000" y="3657600"/>
            <a:ext cx="5372100" cy="3814762"/>
          </a:xfrm>
          <a:custGeom>
            <a:avLst/>
            <a:gdLst/>
            <a:ahLst/>
            <a:cxnLst/>
            <a:rect r="r" b="b" t="t" l="l"/>
            <a:pathLst>
              <a:path h="3814762" w="5372100">
                <a:moveTo>
                  <a:pt x="0" y="0"/>
                </a:moveTo>
                <a:lnTo>
                  <a:pt x="5372100" y="0"/>
                </a:lnTo>
                <a:lnTo>
                  <a:pt x="5372100" y="3814762"/>
                </a:lnTo>
                <a:lnTo>
                  <a:pt x="0" y="38147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620010" y="4000500"/>
            <a:ext cx="8381990" cy="6286500"/>
          </a:xfrm>
          <a:custGeom>
            <a:avLst/>
            <a:gdLst/>
            <a:ahLst/>
            <a:cxnLst/>
            <a:rect r="r" b="b" t="t" l="l"/>
            <a:pathLst>
              <a:path h="6286500" w="8381990">
                <a:moveTo>
                  <a:pt x="0" y="0"/>
                </a:moveTo>
                <a:lnTo>
                  <a:pt x="8381990" y="0"/>
                </a:lnTo>
                <a:lnTo>
                  <a:pt x="8381990" y="6286500"/>
                </a:lnTo>
                <a:lnTo>
                  <a:pt x="0" y="62865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423160" y="9746351"/>
            <a:ext cx="2873773" cy="314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Ths. Trương Quang Trường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483460" y="9298676"/>
            <a:ext cx="3134920" cy="898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Khoa Cơ Khí – Công Nghệ T rườn g ĐH Nông Lâm TPHCM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923215" y="9864571"/>
            <a:ext cx="520565" cy="36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8"/>
              </a:lnSpc>
            </a:pPr>
            <a:r>
              <a:rPr lang="en-US" sz="2106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- 9 -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807104" y="686076"/>
            <a:ext cx="10824839" cy="620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5"/>
              </a:lnSpc>
            </a:pPr>
            <a:r>
              <a:rPr lang="en-US" sz="3603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I. ĐẠI CɈƠNG Vɽ TRUYɽN ĐỘNG BÁNH RĂNG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735324" y="1454172"/>
            <a:ext cx="1451653" cy="659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8"/>
              </a:lnSpc>
            </a:pPr>
            <a:r>
              <a:rPr lang="en-US" sz="3600">
                <a:solidFill>
                  <a:srgbClr val="FF0000"/>
                </a:solidFill>
                <a:latin typeface="Arab Times"/>
                <a:ea typeface="Arab Times"/>
                <a:cs typeface="Arab Times"/>
                <a:sym typeface="Arab Times"/>
              </a:rPr>
              <a:t>1.</a:t>
            </a:r>
            <a:r>
              <a:rPr lang="en-US" sz="3600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 </a:t>
            </a:r>
            <a:r>
              <a:rPr lang="en-US" sz="3600">
                <a:solidFill>
                  <a:srgbClr val="FF0000"/>
                </a:solidFill>
                <a:latin typeface="Arab Times"/>
                <a:ea typeface="Arab Times"/>
                <a:cs typeface="Arab Times"/>
                <a:sym typeface="Arab Times"/>
              </a:rPr>
              <a:t>Khái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471373" y="2202871"/>
            <a:ext cx="102013" cy="555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28"/>
              </a:lnSpc>
            </a:pPr>
            <a:r>
              <a:rPr lang="en-US" sz="3150" spc="-25">
                <a:solidFill>
                  <a:srgbClr val="333399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350879" y="1454172"/>
            <a:ext cx="1594542" cy="659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8"/>
              </a:lnSpc>
            </a:pPr>
            <a:r>
              <a:rPr lang="en-US" sz="3600">
                <a:solidFill>
                  <a:srgbClr val="FF0000"/>
                </a:solidFill>
                <a:latin typeface="Arab Times"/>
                <a:ea typeface="Arab Times"/>
                <a:cs typeface="Arab Times"/>
                <a:sym typeface="Arab Times"/>
              </a:rPr>
              <a:t>và</a:t>
            </a:r>
            <a:r>
              <a:rPr lang="en-US" sz="3600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 </a:t>
            </a:r>
            <a:r>
              <a:rPr lang="en-US" sz="3600">
                <a:solidFill>
                  <a:srgbClr val="FF0000"/>
                </a:solidFill>
                <a:latin typeface="Arab Times"/>
                <a:ea typeface="Arab Times"/>
                <a:cs typeface="Arab Times"/>
                <a:sym typeface="Arab Times"/>
              </a:rPr>
              <a:t>phân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186287" y="2153079"/>
            <a:ext cx="102013" cy="573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28"/>
              </a:lnSpc>
            </a:pPr>
            <a:r>
              <a:rPr lang="en-US" sz="3150">
                <a:solidFill>
                  <a:srgbClr val="333399"/>
                </a:solidFill>
                <a:latin typeface="Arab Times"/>
                <a:ea typeface="Arab Times"/>
                <a:cs typeface="Arab Times"/>
                <a:sym typeface="Arab Times"/>
              </a:rPr>
              <a:t>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271887" y="1427074"/>
            <a:ext cx="984452" cy="728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8"/>
              </a:lnSpc>
            </a:pPr>
            <a:r>
              <a:rPr lang="en-US" sz="3600">
                <a:solidFill>
                  <a:srgbClr val="FF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niệm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374472" y="2121037"/>
            <a:ext cx="102013" cy="642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28"/>
              </a:lnSpc>
            </a:pPr>
            <a:r>
              <a:rPr lang="en-US" b="true" sz="3150" i="true">
                <a:solidFill>
                  <a:srgbClr val="333399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029389" y="1474699"/>
            <a:ext cx="725634" cy="680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FF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loại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572371" y="2244862"/>
            <a:ext cx="1644448" cy="518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1"/>
              </a:lnSpc>
            </a:pPr>
            <a:r>
              <a:rPr lang="en-US" b="true" sz="3150" i="true">
                <a:solidFill>
                  <a:srgbClr val="333399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Phânloại: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728505" y="2722945"/>
            <a:ext cx="126616" cy="622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0"/>
              </a:lnSpc>
            </a:pPr>
            <a:r>
              <a:rPr lang="en-US" b="true" sz="3909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138131" y="2326696"/>
            <a:ext cx="339900" cy="431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1"/>
              </a:lnSpc>
            </a:pPr>
            <a:r>
              <a:rPr lang="en-US" sz="3150" spc="-25">
                <a:solidFill>
                  <a:srgbClr val="333399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b)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423160" y="2722945"/>
            <a:ext cx="13443080" cy="622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0"/>
              </a:lnSpc>
            </a:pPr>
            <a:r>
              <a:rPr lang="en-US" b="true" sz="3909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+ Theo tínhchấtchuyển động: cặp BR phẳng, cặp BR không gian</a:t>
            </a:r>
            <a:r>
              <a:rPr lang="en-US" sz="390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311203" y="9737012"/>
            <a:ext cx="2791763" cy="462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7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Trục vít – bánhvít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81255" y="247645"/>
            <a:ext cx="13030200" cy="1771650"/>
          </a:xfrm>
          <a:custGeom>
            <a:avLst/>
            <a:gdLst/>
            <a:ahLst/>
            <a:cxnLst/>
            <a:rect r="r" b="b" t="t" l="l"/>
            <a:pathLst>
              <a:path h="1771650" w="13030200">
                <a:moveTo>
                  <a:pt x="0" y="0"/>
                </a:moveTo>
                <a:lnTo>
                  <a:pt x="13030200" y="0"/>
                </a:lnTo>
                <a:lnTo>
                  <a:pt x="13030200" y="1771650"/>
                </a:lnTo>
                <a:lnTo>
                  <a:pt x="0" y="17716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572000" y="2670048"/>
            <a:ext cx="1613916" cy="20574"/>
          </a:xfrm>
          <a:custGeom>
            <a:avLst/>
            <a:gdLst/>
            <a:ahLst/>
            <a:cxnLst/>
            <a:rect r="r" b="b" t="t" l="l"/>
            <a:pathLst>
              <a:path h="20574" w="1613916">
                <a:moveTo>
                  <a:pt x="0" y="0"/>
                </a:moveTo>
                <a:lnTo>
                  <a:pt x="1613916" y="0"/>
                </a:lnTo>
                <a:lnTo>
                  <a:pt x="1613916" y="20574"/>
                </a:lnTo>
                <a:lnTo>
                  <a:pt x="0" y="2057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516100" y="71"/>
            <a:ext cx="1485900" cy="1464469"/>
          </a:xfrm>
          <a:custGeom>
            <a:avLst/>
            <a:gdLst/>
            <a:ahLst/>
            <a:cxnLst/>
            <a:rect r="r" b="b" t="t" l="l"/>
            <a:pathLst>
              <a:path h="1464469" w="1485900">
                <a:moveTo>
                  <a:pt x="0" y="0"/>
                </a:moveTo>
                <a:lnTo>
                  <a:pt x="1485900" y="0"/>
                </a:lnTo>
                <a:lnTo>
                  <a:pt x="1485900" y="1464469"/>
                </a:lnTo>
                <a:lnTo>
                  <a:pt x="0" y="14644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070451" y="1485943"/>
            <a:ext cx="3912032" cy="4914857"/>
          </a:xfrm>
          <a:custGeom>
            <a:avLst/>
            <a:gdLst/>
            <a:ahLst/>
            <a:cxnLst/>
            <a:rect r="r" b="b" t="t" l="l"/>
            <a:pathLst>
              <a:path h="4914857" w="3912032">
                <a:moveTo>
                  <a:pt x="0" y="0"/>
                </a:moveTo>
                <a:lnTo>
                  <a:pt x="3912032" y="0"/>
                </a:lnTo>
                <a:lnTo>
                  <a:pt x="3912032" y="4914857"/>
                </a:lnTo>
                <a:lnTo>
                  <a:pt x="0" y="491485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7406" t="-1" r="0" b="-4265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286000" y="3771814"/>
            <a:ext cx="3763928" cy="5600643"/>
          </a:xfrm>
          <a:custGeom>
            <a:avLst/>
            <a:gdLst/>
            <a:ahLst/>
            <a:cxnLst/>
            <a:rect r="r" b="b" t="t" l="l"/>
            <a:pathLst>
              <a:path h="5600643" w="3763928">
                <a:moveTo>
                  <a:pt x="0" y="0"/>
                </a:moveTo>
                <a:lnTo>
                  <a:pt x="3763928" y="0"/>
                </a:lnTo>
                <a:lnTo>
                  <a:pt x="3763928" y="5600643"/>
                </a:lnTo>
                <a:lnTo>
                  <a:pt x="0" y="560064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2398" t="-2504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658600" y="6424546"/>
            <a:ext cx="4343329" cy="3862454"/>
          </a:xfrm>
          <a:custGeom>
            <a:avLst/>
            <a:gdLst/>
            <a:ahLst/>
            <a:cxnLst/>
            <a:rect r="r" b="b" t="t" l="l"/>
            <a:pathLst>
              <a:path h="3862454" w="4343329">
                <a:moveTo>
                  <a:pt x="0" y="0"/>
                </a:moveTo>
                <a:lnTo>
                  <a:pt x="4343329" y="0"/>
                </a:lnTo>
                <a:lnTo>
                  <a:pt x="4343329" y="3862454"/>
                </a:lnTo>
                <a:lnTo>
                  <a:pt x="0" y="386245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2" r="-6" b="-8885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286500" y="4229100"/>
            <a:ext cx="4126801" cy="4457700"/>
          </a:xfrm>
          <a:custGeom>
            <a:avLst/>
            <a:gdLst/>
            <a:ahLst/>
            <a:cxnLst/>
            <a:rect r="r" b="b" t="t" l="l"/>
            <a:pathLst>
              <a:path h="4457700" w="4126801">
                <a:moveTo>
                  <a:pt x="0" y="0"/>
                </a:moveTo>
                <a:lnTo>
                  <a:pt x="4126802" y="0"/>
                </a:lnTo>
                <a:lnTo>
                  <a:pt x="4126802" y="4457700"/>
                </a:lnTo>
                <a:lnTo>
                  <a:pt x="0" y="44577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423160" y="9746351"/>
            <a:ext cx="2873773" cy="314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Ths. Trương Quang Trường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483460" y="9336776"/>
            <a:ext cx="3134920" cy="793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Khoa Cơ Khí – Công Nghệ Trường ĐH Nông Lâm TPHCM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854064" y="9864571"/>
            <a:ext cx="658711" cy="36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8"/>
              </a:lnSpc>
            </a:pPr>
            <a:r>
              <a:rPr lang="en-US" sz="2106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- 10 -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807104" y="686076"/>
            <a:ext cx="10824839" cy="620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5"/>
              </a:lnSpc>
            </a:pPr>
            <a:r>
              <a:rPr lang="en-US" sz="3603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I. ĐẠI CɈƠNG Vɽ TRUYɽN ĐỘNG BÁNH RĂNG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735324" y="1454172"/>
            <a:ext cx="1451653" cy="659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8"/>
              </a:lnSpc>
            </a:pPr>
            <a:r>
              <a:rPr lang="en-US" sz="3600">
                <a:solidFill>
                  <a:srgbClr val="FF0000"/>
                </a:solidFill>
                <a:latin typeface="Arab Times"/>
                <a:ea typeface="Arab Times"/>
                <a:cs typeface="Arab Times"/>
                <a:sym typeface="Arab Times"/>
              </a:rPr>
              <a:t>1.</a:t>
            </a:r>
            <a:r>
              <a:rPr lang="en-US" sz="3600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 </a:t>
            </a:r>
            <a:r>
              <a:rPr lang="en-US" sz="3600">
                <a:solidFill>
                  <a:srgbClr val="FF0000"/>
                </a:solidFill>
                <a:latin typeface="Arab Times"/>
                <a:ea typeface="Arab Times"/>
                <a:cs typeface="Arab Times"/>
                <a:sym typeface="Arab Times"/>
              </a:rPr>
              <a:t>Khái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471373" y="2202871"/>
            <a:ext cx="102013" cy="555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28"/>
              </a:lnSpc>
            </a:pPr>
            <a:r>
              <a:rPr lang="en-US" sz="3150" spc="-25">
                <a:solidFill>
                  <a:srgbClr val="333399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350879" y="1454172"/>
            <a:ext cx="1594542" cy="659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8"/>
              </a:lnSpc>
            </a:pPr>
            <a:r>
              <a:rPr lang="en-US" sz="3600">
                <a:solidFill>
                  <a:srgbClr val="FF0000"/>
                </a:solidFill>
                <a:latin typeface="Arab Times"/>
                <a:ea typeface="Arab Times"/>
                <a:cs typeface="Arab Times"/>
                <a:sym typeface="Arab Times"/>
              </a:rPr>
              <a:t>và</a:t>
            </a:r>
            <a:r>
              <a:rPr lang="en-US" sz="3600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 </a:t>
            </a:r>
            <a:r>
              <a:rPr lang="en-US" sz="3600">
                <a:solidFill>
                  <a:srgbClr val="FF0000"/>
                </a:solidFill>
                <a:latin typeface="Arab Times"/>
                <a:ea typeface="Arab Times"/>
                <a:cs typeface="Arab Times"/>
                <a:sym typeface="Arab Times"/>
              </a:rPr>
              <a:t>phân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186287" y="2153079"/>
            <a:ext cx="102013" cy="573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28"/>
              </a:lnSpc>
            </a:pPr>
            <a:r>
              <a:rPr lang="en-US" sz="3150">
                <a:solidFill>
                  <a:srgbClr val="333399"/>
                </a:solidFill>
                <a:latin typeface="Arab Times"/>
                <a:ea typeface="Arab Times"/>
                <a:cs typeface="Arab Times"/>
                <a:sym typeface="Arab Times"/>
              </a:rPr>
              <a:t>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271887" y="1427074"/>
            <a:ext cx="984452" cy="728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8"/>
              </a:lnSpc>
            </a:pPr>
            <a:r>
              <a:rPr lang="en-US" sz="3600">
                <a:solidFill>
                  <a:srgbClr val="FF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niệm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374472" y="2121037"/>
            <a:ext cx="102013" cy="642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28"/>
              </a:lnSpc>
            </a:pPr>
            <a:r>
              <a:rPr lang="en-US" b="true" sz="3150" i="true">
                <a:solidFill>
                  <a:srgbClr val="333399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029389" y="1474699"/>
            <a:ext cx="725634" cy="680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FF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loại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572371" y="2244862"/>
            <a:ext cx="1644448" cy="518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1"/>
              </a:lnSpc>
            </a:pPr>
            <a:r>
              <a:rPr lang="en-US" b="true" sz="3150" i="true">
                <a:solidFill>
                  <a:srgbClr val="333399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Phânloại: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840719" y="2722945"/>
            <a:ext cx="126616" cy="622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0"/>
              </a:lnSpc>
            </a:pPr>
            <a:r>
              <a:rPr lang="en-US" b="true" sz="3909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138131" y="2326696"/>
            <a:ext cx="339900" cy="431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1"/>
              </a:lnSpc>
            </a:pPr>
            <a:r>
              <a:rPr lang="en-US" sz="3150" spc="-25">
                <a:solidFill>
                  <a:srgbClr val="333399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b)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423160" y="2722945"/>
            <a:ext cx="7915918" cy="1207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0"/>
              </a:lnSpc>
            </a:pPr>
            <a:r>
              <a:rPr lang="en-US" b="true" sz="3909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+ Theo hìnhdạngBR: BR trụ, BR côn</a:t>
            </a:r>
            <a:r>
              <a:rPr lang="en-US" sz="390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</a:p>
          <a:p>
            <a:pPr algn="l">
              <a:lnSpc>
                <a:spcPts val="3780"/>
              </a:lnSpc>
            </a:pPr>
            <a:r>
              <a:rPr lang="en-US" sz="2700">
                <a:solidFill>
                  <a:srgbClr val="0066FF"/>
                </a:solidFill>
                <a:latin typeface="Tahoma"/>
                <a:ea typeface="Tahoma"/>
                <a:cs typeface="Tahoma"/>
                <a:sym typeface="Tahoma"/>
              </a:rPr>
              <a:t>BR</a:t>
            </a:r>
            <a:r>
              <a:rPr lang="en-US" sz="27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700">
                <a:solidFill>
                  <a:srgbClr val="0066FF"/>
                </a:solidFill>
                <a:latin typeface="Tahoma"/>
                <a:ea typeface="Tahoma"/>
                <a:cs typeface="Tahoma"/>
                <a:sym typeface="Tahoma"/>
              </a:rPr>
              <a:t>trụ</a:t>
            </a:r>
            <a:r>
              <a:rPr lang="en-US" sz="27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700">
                <a:solidFill>
                  <a:srgbClr val="0066FF"/>
                </a:solidFill>
                <a:latin typeface="Tahoma"/>
                <a:ea typeface="Tahoma"/>
                <a:cs typeface="Tahoma"/>
                <a:sym typeface="Tahoma"/>
              </a:rPr>
              <a:t>chéo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882717" y="5964169"/>
            <a:ext cx="2059372" cy="459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700">
                <a:solidFill>
                  <a:srgbClr val="0066FF"/>
                </a:solidFill>
                <a:latin typeface="Tahoma"/>
                <a:ea typeface="Tahoma"/>
                <a:cs typeface="Tahoma"/>
                <a:sym typeface="Tahoma"/>
              </a:rPr>
              <a:t>BR nón chéo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312660" y="2191298"/>
            <a:ext cx="1221710" cy="459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700">
                <a:solidFill>
                  <a:srgbClr val="0066FF"/>
                </a:solidFill>
                <a:latin typeface="Tahoma"/>
                <a:ea typeface="Tahoma"/>
                <a:cs typeface="Tahoma"/>
                <a:sym typeface="Tahoma"/>
              </a:rPr>
              <a:t>BR nón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623946" y="8936455"/>
            <a:ext cx="2901277" cy="463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5"/>
              </a:lnSpc>
            </a:pPr>
            <a:r>
              <a:rPr lang="en-US" sz="2703">
                <a:solidFill>
                  <a:srgbClr val="0066FF"/>
                </a:solidFill>
                <a:latin typeface="Tahoma"/>
                <a:ea typeface="Tahoma"/>
                <a:cs typeface="Tahoma"/>
                <a:sym typeface="Tahoma"/>
              </a:rPr>
              <a:t>Trục vít – bánh vít 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81255" y="247645"/>
            <a:ext cx="13030200" cy="1771650"/>
          </a:xfrm>
          <a:custGeom>
            <a:avLst/>
            <a:gdLst/>
            <a:ahLst/>
            <a:cxnLst/>
            <a:rect r="r" b="b" t="t" l="l"/>
            <a:pathLst>
              <a:path h="1771650" w="13030200">
                <a:moveTo>
                  <a:pt x="0" y="0"/>
                </a:moveTo>
                <a:lnTo>
                  <a:pt x="13030200" y="0"/>
                </a:lnTo>
                <a:lnTo>
                  <a:pt x="13030200" y="1771650"/>
                </a:lnTo>
                <a:lnTo>
                  <a:pt x="0" y="17716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16100" y="71"/>
            <a:ext cx="1485900" cy="1464469"/>
          </a:xfrm>
          <a:custGeom>
            <a:avLst/>
            <a:gdLst/>
            <a:ahLst/>
            <a:cxnLst/>
            <a:rect r="r" b="b" t="t" l="l"/>
            <a:pathLst>
              <a:path h="1464469" w="1485900">
                <a:moveTo>
                  <a:pt x="0" y="0"/>
                </a:moveTo>
                <a:lnTo>
                  <a:pt x="1485900" y="0"/>
                </a:lnTo>
                <a:lnTo>
                  <a:pt x="1485900" y="1464469"/>
                </a:lnTo>
                <a:lnTo>
                  <a:pt x="0" y="14644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261311" y="2714425"/>
            <a:ext cx="6164070" cy="6771289"/>
          </a:xfrm>
          <a:custGeom>
            <a:avLst/>
            <a:gdLst/>
            <a:ahLst/>
            <a:cxnLst/>
            <a:rect r="r" b="b" t="t" l="l"/>
            <a:pathLst>
              <a:path h="6771289" w="6164070">
                <a:moveTo>
                  <a:pt x="0" y="0"/>
                </a:moveTo>
                <a:lnTo>
                  <a:pt x="6164071" y="0"/>
                </a:lnTo>
                <a:lnTo>
                  <a:pt x="6164071" y="6771289"/>
                </a:lnTo>
                <a:lnTo>
                  <a:pt x="0" y="67712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2005815" y="2193017"/>
            <a:ext cx="513421" cy="22246"/>
            <a:chOff x="0" y="0"/>
            <a:chExt cx="342278" cy="1483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42265" cy="14859"/>
            </a:xfrm>
            <a:custGeom>
              <a:avLst/>
              <a:gdLst/>
              <a:ahLst/>
              <a:cxnLst/>
              <a:rect r="r" b="b" t="t" l="l"/>
              <a:pathLst>
                <a:path h="14859" w="342265">
                  <a:moveTo>
                    <a:pt x="0" y="0"/>
                  </a:moveTo>
                  <a:lnTo>
                    <a:pt x="342265" y="0"/>
                  </a:lnTo>
                  <a:lnTo>
                    <a:pt x="342265" y="14859"/>
                  </a:lnTo>
                  <a:lnTo>
                    <a:pt x="0" y="14859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13002539" y="2193017"/>
            <a:ext cx="800186" cy="22246"/>
            <a:chOff x="0" y="0"/>
            <a:chExt cx="533464" cy="1483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33400" cy="14859"/>
            </a:xfrm>
            <a:custGeom>
              <a:avLst/>
              <a:gdLst/>
              <a:ahLst/>
              <a:cxnLst/>
              <a:rect r="r" b="b" t="t" l="l"/>
              <a:pathLst>
                <a:path h="14859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14859"/>
                  </a:lnTo>
                  <a:lnTo>
                    <a:pt x="0" y="14859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2423160" y="9746351"/>
            <a:ext cx="2873773" cy="314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Ths. Trương Quang Trường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483460" y="9336776"/>
            <a:ext cx="3134920" cy="793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Khoa Cơ Khí – Công Nghệ Trường ĐH Nông Lâm TPHCM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863208" y="9864571"/>
            <a:ext cx="642395" cy="36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8"/>
              </a:lnSpc>
            </a:pPr>
            <a:r>
              <a:rPr lang="en-US" sz="2106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- 11 -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807104" y="686076"/>
            <a:ext cx="10824839" cy="620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5"/>
              </a:lnSpc>
            </a:pPr>
            <a:r>
              <a:rPr lang="en-US" sz="3603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I. ĐẠI CɈƠNG Vɽ TRUYɽN ĐỘNG BÁNH RĂNG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735324" y="1501797"/>
            <a:ext cx="349758" cy="6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FF0000"/>
                </a:solidFill>
                <a:latin typeface="Arab Times"/>
                <a:ea typeface="Arab Times"/>
                <a:cs typeface="Arab Times"/>
                <a:sym typeface="Arab Times"/>
              </a:rPr>
              <a:t>2.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274173" y="1501797"/>
            <a:ext cx="363745" cy="6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spc="7">
                <a:solidFill>
                  <a:srgbClr val="FF0000"/>
                </a:solidFill>
                <a:latin typeface="Arab Times"/>
                <a:ea typeface="Arab Times"/>
                <a:cs typeface="Arab Times"/>
                <a:sym typeface="Arab Times"/>
              </a:rPr>
              <a:t>lý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192895" y="1474699"/>
            <a:ext cx="984923" cy="680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FF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Định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742803" y="1474699"/>
            <a:ext cx="1648520" cy="680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spc="3">
                <a:solidFill>
                  <a:srgbClr val="FF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ĕn</a:t>
            </a:r>
            <a:r>
              <a:rPr lang="en-US" sz="3600" spc="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3600" spc="3">
                <a:solidFill>
                  <a:srgbClr val="FF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khớp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002561" y="5050141"/>
            <a:ext cx="309896" cy="744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06"/>
              </a:lnSpc>
            </a:pPr>
            <a:r>
              <a:rPr lang="en-US" sz="268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2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906420" y="6333015"/>
            <a:ext cx="309939" cy="744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06"/>
              </a:lnSpc>
            </a:pPr>
            <a:r>
              <a:rPr lang="en-US" sz="268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1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548697" y="8170840"/>
            <a:ext cx="324040" cy="477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5"/>
              </a:lnSpc>
            </a:pPr>
            <a:r>
              <a:rPr lang="en-US" sz="2682" spc="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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595146" y="3432805"/>
            <a:ext cx="323226" cy="477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5"/>
              </a:lnSpc>
            </a:pPr>
            <a:r>
              <a:rPr lang="en-US" sz="268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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433365" y="7459180"/>
            <a:ext cx="189767" cy="477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5"/>
              </a:lnSpc>
            </a:pPr>
            <a:r>
              <a:rPr lang="en-US" sz="268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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119951" y="3990132"/>
            <a:ext cx="189767" cy="477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5"/>
              </a:lnSpc>
            </a:pPr>
            <a:r>
              <a:rPr lang="en-US" sz="268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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221228" y="6592410"/>
            <a:ext cx="120486" cy="296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8"/>
              </a:lnSpc>
            </a:pPr>
            <a:r>
              <a:rPr lang="en-US" sz="1870" spc="-1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2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619045" y="7647241"/>
            <a:ext cx="120486" cy="296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8"/>
              </a:lnSpc>
            </a:pPr>
            <a:r>
              <a:rPr lang="en-US" sz="1870" spc="-1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2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084389" y="3078985"/>
            <a:ext cx="120486" cy="296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8"/>
              </a:lnSpc>
            </a:pPr>
            <a:r>
              <a:rPr lang="en-US" sz="1870" spc="-1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120922" y="8376175"/>
            <a:ext cx="120486" cy="296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8"/>
              </a:lnSpc>
            </a:pPr>
            <a:r>
              <a:rPr lang="en-US" sz="1870" spc="-1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2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306788" y="4178208"/>
            <a:ext cx="120486" cy="296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8"/>
              </a:lnSpc>
            </a:pPr>
            <a:r>
              <a:rPr lang="en-US" sz="1870" spc="-1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941439" y="7457170"/>
            <a:ext cx="172836" cy="431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5"/>
              </a:lnSpc>
            </a:pPr>
            <a:r>
              <a:rPr lang="en-US" sz="2682" spc="-2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444059" y="4164430"/>
            <a:ext cx="373075" cy="717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06"/>
              </a:lnSpc>
            </a:pPr>
            <a:r>
              <a:rPr lang="en-US" sz="2682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K2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970325" y="5092832"/>
            <a:ext cx="373089" cy="717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06"/>
              </a:lnSpc>
            </a:pPr>
            <a:r>
              <a:rPr lang="en-US" sz="2682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K1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3971968" y="6490992"/>
            <a:ext cx="249574" cy="431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5"/>
              </a:lnSpc>
            </a:pPr>
            <a:r>
              <a:rPr lang="en-US" sz="2682" spc="-2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914825" y="2977553"/>
            <a:ext cx="172836" cy="431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5"/>
              </a:lnSpc>
            </a:pPr>
            <a:r>
              <a:rPr lang="en-US" sz="2682" spc="-2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0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951344" y="8274744"/>
            <a:ext cx="172836" cy="431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5"/>
              </a:lnSpc>
            </a:pPr>
            <a:r>
              <a:rPr lang="en-US" sz="2682" spc="-2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0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941068" y="4789637"/>
            <a:ext cx="374947" cy="345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9"/>
              </a:lnSpc>
            </a:pPr>
            <a:r>
              <a:rPr lang="en-US" sz="2682" spc="1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N1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6428746" y="5156483"/>
            <a:ext cx="249574" cy="345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9"/>
              </a:lnSpc>
            </a:pPr>
            <a:r>
              <a:rPr lang="en-US" sz="2682" spc="-2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K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378694" y="5525286"/>
            <a:ext cx="294122" cy="345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9"/>
              </a:lnSpc>
            </a:pPr>
            <a:r>
              <a:rPr lang="en-US" sz="2682" spc="-1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b1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5898509" y="5882245"/>
            <a:ext cx="192195" cy="202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41"/>
              </a:lnSpc>
            </a:pPr>
            <a:r>
              <a:rPr lang="en-US" sz="2682" spc="-2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6482567" y="5888374"/>
            <a:ext cx="295108" cy="717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06"/>
              </a:lnSpc>
            </a:pPr>
            <a:r>
              <a:rPr lang="en-US" sz="2682" spc="-8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b2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7484693" y="3661410"/>
            <a:ext cx="172836" cy="431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5"/>
              </a:lnSpc>
            </a:pPr>
            <a:r>
              <a:rPr lang="en-US" sz="2682" spc="-2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4456293" y="1833977"/>
            <a:ext cx="1190249" cy="601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81"/>
              </a:lnSpc>
            </a:pPr>
            <a:r>
              <a:rPr lang="en-US" sz="3558" spc="-28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const?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3016627" y="1785652"/>
            <a:ext cx="342771" cy="357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5"/>
              </a:lnSpc>
            </a:pPr>
            <a:r>
              <a:rPr lang="en-US" sz="3558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O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2638851" y="2038683"/>
            <a:ext cx="273863" cy="1152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55"/>
              </a:lnSpc>
            </a:pPr>
            <a:r>
              <a:rPr lang="en-US" sz="3558" spc="25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</a:t>
            </a:r>
          </a:p>
          <a:p>
            <a:pPr algn="r">
              <a:lnSpc>
                <a:spcPts val="3746"/>
              </a:lnSpc>
            </a:pPr>
            <a:r>
              <a:rPr lang="en-US" sz="3153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3325923" y="1804702"/>
            <a:ext cx="464801" cy="1059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55"/>
              </a:lnSpc>
            </a:pPr>
            <a:r>
              <a:rPr lang="en-US" sz="3558" spc="23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2P</a:t>
            </a:r>
          </a:p>
          <a:p>
            <a:pPr algn="just">
              <a:lnSpc>
                <a:spcPts val="1779"/>
              </a:lnSpc>
            </a:pPr>
            <a:r>
              <a:rPr lang="en-US" sz="3558" spc="7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1P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3041058" y="2321471"/>
            <a:ext cx="342771" cy="462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9"/>
              </a:lnSpc>
            </a:pPr>
            <a:r>
              <a:rPr lang="en-US" sz="3558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O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1996242" y="1733440"/>
            <a:ext cx="519536" cy="392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5"/>
              </a:lnSpc>
            </a:pPr>
            <a:r>
              <a:rPr lang="en-US" sz="3762" i="true">
                <a:solidFill>
                  <a:srgbClr val="000000"/>
                </a:solidFill>
                <a:latin typeface="Arimo Italics"/>
                <a:ea typeface="Arimo Italics"/>
                <a:cs typeface="Arimo Italics"/>
                <a:sym typeface="Arimo Italics"/>
              </a:rPr>
              <a:t>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1643741" y="2010108"/>
            <a:ext cx="260633" cy="402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2"/>
              </a:lnSpc>
            </a:pPr>
            <a:r>
              <a:rPr lang="en-US" sz="3558" spc="284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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1971811" y="2034235"/>
            <a:ext cx="519536" cy="839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51"/>
              </a:lnSpc>
            </a:pPr>
            <a:r>
              <a:rPr lang="en-US" sz="2055" spc="164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</a:t>
            </a:r>
          </a:p>
          <a:p>
            <a:pPr algn="r">
              <a:lnSpc>
                <a:spcPts val="2655"/>
              </a:lnSpc>
            </a:pPr>
            <a:r>
              <a:rPr lang="en-US" sz="3762" i="true">
                <a:solidFill>
                  <a:srgbClr val="000000"/>
                </a:solidFill>
                <a:latin typeface="Arimo Italics"/>
                <a:ea typeface="Arimo Italics"/>
                <a:cs typeface="Arimo Italics"/>
                <a:sym typeface="Arimo Italics"/>
              </a:rPr>
              <a:t></a:t>
            </a:r>
          </a:p>
          <a:p>
            <a:pPr algn="r">
              <a:lnSpc>
                <a:spcPts val="1027"/>
              </a:lnSpc>
            </a:pPr>
            <a:r>
              <a:rPr lang="en-US" sz="2055" spc="-1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2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1590977" y="2789482"/>
            <a:ext cx="127873" cy="405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3153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8482017" y="1642177"/>
            <a:ext cx="2419560" cy="741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07"/>
              </a:lnSpc>
            </a:pPr>
            <a:r>
              <a:rPr lang="en-US" sz="3150">
                <a:solidFill>
                  <a:srgbClr val="1021A0"/>
                </a:solidFill>
                <a:latin typeface="Tahoma"/>
                <a:ea typeface="Tahoma"/>
                <a:cs typeface="Tahoma"/>
                <a:sym typeface="Tahoma"/>
              </a:rPr>
              <a:t>Tỉ s ͑truỜɾố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8634608" y="2410901"/>
            <a:ext cx="263104" cy="833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14"/>
              </a:lnSpc>
            </a:pPr>
            <a:r>
              <a:rPr lang="en-US" sz="3153" spc="-2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- 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8634608" y="5050212"/>
            <a:ext cx="3621224" cy="1073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2"/>
              </a:lnSpc>
            </a:pPr>
            <a:r>
              <a:rPr lang="en-US" sz="315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- Vòng lăn + P là tâm ăn khớp 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8986709" y="6103596"/>
            <a:ext cx="1419706" cy="584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06"/>
              </a:lnSpc>
            </a:pPr>
            <a:r>
              <a:rPr lang="en-US" sz="3789" spc="24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v</a:t>
            </a:r>
            <a:r>
              <a:rPr lang="en-US" sz="3789" i="true" spc="242">
                <a:solidFill>
                  <a:srgbClr val="000000"/>
                </a:solidFill>
                <a:latin typeface="Arimo Italics"/>
                <a:ea typeface="Arimo Italics"/>
                <a:cs typeface="Arimo Italics"/>
                <a:sym typeface="Arimo Italics"/>
              </a:rPr>
              <a:t>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0178272" y="6379821"/>
            <a:ext cx="3468162" cy="384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4"/>
              </a:lnSpc>
            </a:pPr>
            <a:r>
              <a:rPr lang="en-US" sz="3789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1.OP</a:t>
            </a:r>
            <a:r>
              <a:rPr lang="en-US" sz="3789" i="true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</a:t>
            </a:r>
            <a:r>
              <a:rPr lang="en-US" sz="3789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.OPv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9193863" y="6602387"/>
            <a:ext cx="202554" cy="230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34"/>
              </a:lnSpc>
            </a:pPr>
            <a:r>
              <a:rPr lang="en-US" sz="2068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P</a:t>
            </a:r>
          </a:p>
          <a:p>
            <a:pPr algn="r">
              <a:lnSpc>
                <a:spcPts val="748"/>
              </a:lnSpc>
            </a:pPr>
            <a:r>
              <a:rPr lang="en-US" sz="1497" spc="-1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0693065" y="6635091"/>
            <a:ext cx="141989" cy="162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4"/>
              </a:lnSpc>
            </a:pPr>
            <a:r>
              <a:rPr lang="en-US" sz="2068" spc="-1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1886328" y="6635091"/>
            <a:ext cx="141989" cy="162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4"/>
              </a:lnSpc>
            </a:pPr>
            <a:r>
              <a:rPr lang="en-US" sz="2068" spc="-1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2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2450399" y="6635091"/>
            <a:ext cx="141989" cy="162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4"/>
              </a:lnSpc>
            </a:pPr>
            <a:r>
              <a:rPr lang="en-US" sz="2068" spc="-1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2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3574482" y="6602387"/>
            <a:ext cx="224900" cy="230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4"/>
              </a:lnSpc>
            </a:pPr>
            <a:r>
              <a:rPr lang="en-US" sz="2068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P2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8851392" y="6687355"/>
            <a:ext cx="6252481" cy="705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98"/>
              </a:lnSpc>
            </a:pPr>
            <a:r>
              <a:rPr lang="en-US" sz="4452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+ Hai vòng tròn  O1,OP và O2,O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2744950" y="7154108"/>
            <a:ext cx="125601" cy="270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6"/>
              </a:lnSpc>
            </a:pPr>
            <a:r>
              <a:rPr lang="en-US" sz="1892" spc="-1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4957569" y="6687355"/>
            <a:ext cx="611619" cy="702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98"/>
              </a:lnSpc>
            </a:pPr>
            <a:r>
              <a:rPr lang="en-US" sz="4452" spc="-3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2P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8839591" y="7410488"/>
            <a:ext cx="6847070" cy="1084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5"/>
              </a:lnSpc>
            </a:pPr>
            <a:r>
              <a:rPr lang="en-US" sz="315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lăn không trượt lên nhau, gọi là vòng </a:t>
            </a:r>
          </a:p>
          <a:p>
            <a:pPr algn="l">
              <a:lnSpc>
                <a:spcPts val="2554"/>
              </a:lnSpc>
            </a:pPr>
            <a:r>
              <a:rPr lang="en-US" sz="3150" spc="3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lăn, các bán kính được ký hiệu 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9980333" y="8989609"/>
            <a:ext cx="105370" cy="430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19"/>
              </a:lnSpc>
            </a:pPr>
            <a:r>
              <a:rPr lang="en-US" sz="1607" spc="-1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1141635" y="1995902"/>
            <a:ext cx="131988" cy="434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1"/>
              </a:lnSpc>
            </a:pPr>
            <a:r>
              <a:rPr lang="en-US" sz="3558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i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1230046" y="2359700"/>
            <a:ext cx="271434" cy="160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7"/>
              </a:lnSpc>
            </a:pPr>
            <a:r>
              <a:rPr lang="en-US" sz="2055" spc="-1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12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8892926" y="2322757"/>
            <a:ext cx="5175118" cy="875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84"/>
              </a:lnSpc>
            </a:pPr>
            <a:r>
              <a:rPr lang="en-US" sz="3153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Định</a:t>
            </a:r>
            <a:r>
              <a:rPr lang="en-US" sz="3153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3153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lý</a:t>
            </a:r>
            <a:r>
              <a:rPr lang="en-US" sz="3153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3153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cơ</a:t>
            </a:r>
            <a:r>
              <a:rPr lang="en-US" sz="3153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3153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bản</a:t>
            </a:r>
            <a:r>
              <a:rPr lang="en-US" sz="3153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3153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về</a:t>
            </a:r>
            <a:r>
              <a:rPr lang="en-US" sz="3153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3153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ăn</a:t>
            </a:r>
            <a:r>
              <a:rPr lang="en-US" sz="3153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3153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khớp: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3907653" y="1619583"/>
            <a:ext cx="468587" cy="792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355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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8605918" y="2503789"/>
            <a:ext cx="7394496" cy="2614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66"/>
              </a:lnSpc>
            </a:pPr>
            <a:r>
              <a:rPr lang="en-US" sz="3324" i="tru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Để tỉ số </a:t>
            </a:r>
          </a:p>
          <a:p>
            <a:pPr algn="l">
              <a:lnSpc>
                <a:spcPts val="3778"/>
              </a:lnSpc>
            </a:pPr>
            <a:r>
              <a:rPr lang="en-US" sz="3320" i="tru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truyền cố định, đường pháp tuyến chung của một cặp biên dạng phải luôn cắt đường nối tâm tại một điểm cố định 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9836601" y="8513674"/>
            <a:ext cx="195224" cy="76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33"/>
              </a:lnSpc>
            </a:pPr>
            <a:r>
              <a:rPr lang="en-US" sz="3829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r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9836601" y="9330433"/>
            <a:ext cx="195224" cy="76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33"/>
              </a:lnSpc>
            </a:pPr>
            <a:r>
              <a:rPr lang="en-US" sz="3829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r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9980347" y="10013680"/>
            <a:ext cx="145061" cy="173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6"/>
              </a:lnSpc>
            </a:pPr>
            <a:r>
              <a:rPr lang="en-US" sz="2213" spc="-17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2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0628771" y="8942299"/>
            <a:ext cx="382419" cy="1148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914"/>
              </a:lnSpc>
            </a:pPr>
            <a:r>
              <a:rPr lang="en-US" sz="3829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O</a:t>
            </a:r>
          </a:p>
          <a:p>
            <a:pPr algn="just">
              <a:lnSpc>
                <a:spcPts val="8971"/>
              </a:lnSpc>
            </a:pPr>
            <a:r>
              <a:rPr lang="en-US" sz="3829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O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0934452" y="8961349"/>
            <a:ext cx="467601" cy="399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4"/>
              </a:lnSpc>
            </a:pPr>
            <a:r>
              <a:rPr lang="en-US" sz="3829" spc="9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1P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0985559" y="9778108"/>
            <a:ext cx="489761" cy="399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4"/>
              </a:lnSpc>
            </a:pPr>
            <a:r>
              <a:rPr lang="en-US" sz="3829" spc="26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2P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9582098" y="8849663"/>
            <a:ext cx="247931" cy="1347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79"/>
              </a:lnSpc>
            </a:pPr>
            <a:r>
              <a:rPr lang="en-US" sz="382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 </a:t>
            </a:r>
          </a:p>
          <a:p>
            <a:pPr algn="just">
              <a:lnSpc>
                <a:spcPts val="4235"/>
              </a:lnSpc>
            </a:pPr>
            <a:r>
              <a:rPr lang="en-US" sz="382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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0262768" y="8468173"/>
            <a:ext cx="295894" cy="1603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433"/>
              </a:lnSpc>
            </a:pPr>
            <a:r>
              <a:rPr lang="en-US" sz="382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 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81255" y="247645"/>
            <a:ext cx="13030200" cy="1771650"/>
          </a:xfrm>
          <a:custGeom>
            <a:avLst/>
            <a:gdLst/>
            <a:ahLst/>
            <a:cxnLst/>
            <a:rect r="r" b="b" t="t" l="l"/>
            <a:pathLst>
              <a:path h="1771650" w="13030200">
                <a:moveTo>
                  <a:pt x="0" y="0"/>
                </a:moveTo>
                <a:lnTo>
                  <a:pt x="13030200" y="0"/>
                </a:lnTo>
                <a:lnTo>
                  <a:pt x="13030200" y="1771650"/>
                </a:lnTo>
                <a:lnTo>
                  <a:pt x="0" y="17716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16100" y="71"/>
            <a:ext cx="1485900" cy="1464469"/>
          </a:xfrm>
          <a:custGeom>
            <a:avLst/>
            <a:gdLst/>
            <a:ahLst/>
            <a:cxnLst/>
            <a:rect r="r" b="b" t="t" l="l"/>
            <a:pathLst>
              <a:path h="1464469" w="1485900">
                <a:moveTo>
                  <a:pt x="0" y="0"/>
                </a:moveTo>
                <a:lnTo>
                  <a:pt x="1485900" y="0"/>
                </a:lnTo>
                <a:lnTo>
                  <a:pt x="1485900" y="1464469"/>
                </a:lnTo>
                <a:lnTo>
                  <a:pt x="0" y="14644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029200" y="2171700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423160" y="9746351"/>
            <a:ext cx="2873773" cy="314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Ths. Trương Quang Trường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483460" y="9336776"/>
            <a:ext cx="3134920" cy="793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Khoa Cơ Khí – Công Nghệ Trường ĐH Nông Lâm TPHCM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807104" y="686076"/>
            <a:ext cx="10824839" cy="620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5"/>
              </a:lnSpc>
            </a:pPr>
            <a:r>
              <a:rPr lang="en-US" sz="3603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I. ĐẠI CɈƠNG Vɽ TRUYɽN ĐỘNG BÁNH RĂNG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735324" y="1501797"/>
            <a:ext cx="349758" cy="6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FF0000"/>
                </a:solidFill>
                <a:latin typeface="Arab Times"/>
                <a:ea typeface="Arab Times"/>
                <a:cs typeface="Arab Times"/>
                <a:sym typeface="Arab Times"/>
              </a:rPr>
              <a:t>2.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274173" y="1501797"/>
            <a:ext cx="363745" cy="6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spc="7">
                <a:solidFill>
                  <a:srgbClr val="FF0000"/>
                </a:solidFill>
                <a:latin typeface="Arab Times"/>
                <a:ea typeface="Arab Times"/>
                <a:cs typeface="Arab Times"/>
                <a:sym typeface="Arab Times"/>
              </a:rPr>
              <a:t>lý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192895" y="1474699"/>
            <a:ext cx="984923" cy="680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FF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Định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742803" y="1474699"/>
            <a:ext cx="1648520" cy="680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spc="3">
                <a:solidFill>
                  <a:srgbClr val="FF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ĕn</a:t>
            </a:r>
            <a:r>
              <a:rPr lang="en-US" sz="3600" spc="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3600" spc="3">
                <a:solidFill>
                  <a:srgbClr val="FF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khớp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854064" y="9864571"/>
            <a:ext cx="658711" cy="36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8"/>
              </a:lnSpc>
            </a:pPr>
            <a:r>
              <a:rPr lang="en-US" sz="2106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- 12 - 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81255" y="247645"/>
            <a:ext cx="13030200" cy="1771650"/>
          </a:xfrm>
          <a:custGeom>
            <a:avLst/>
            <a:gdLst/>
            <a:ahLst/>
            <a:cxnLst/>
            <a:rect r="r" b="b" t="t" l="l"/>
            <a:pathLst>
              <a:path h="1771650" w="13030200">
                <a:moveTo>
                  <a:pt x="0" y="0"/>
                </a:moveTo>
                <a:lnTo>
                  <a:pt x="13030200" y="0"/>
                </a:lnTo>
                <a:lnTo>
                  <a:pt x="13030200" y="1771650"/>
                </a:lnTo>
                <a:lnTo>
                  <a:pt x="0" y="17716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16100" y="71"/>
            <a:ext cx="1485900" cy="1464469"/>
          </a:xfrm>
          <a:custGeom>
            <a:avLst/>
            <a:gdLst/>
            <a:ahLst/>
            <a:cxnLst/>
            <a:rect r="r" b="b" t="t" l="l"/>
            <a:pathLst>
              <a:path h="1464469" w="1485900">
                <a:moveTo>
                  <a:pt x="0" y="0"/>
                </a:moveTo>
                <a:lnTo>
                  <a:pt x="1485900" y="0"/>
                </a:lnTo>
                <a:lnTo>
                  <a:pt x="1485900" y="1464469"/>
                </a:lnTo>
                <a:lnTo>
                  <a:pt x="0" y="14644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286000" y="8710603"/>
            <a:ext cx="13716000" cy="1576397"/>
          </a:xfrm>
          <a:custGeom>
            <a:avLst/>
            <a:gdLst/>
            <a:ahLst/>
            <a:cxnLst/>
            <a:rect r="r" b="b" t="t" l="l"/>
            <a:pathLst>
              <a:path h="1576397" w="13716000">
                <a:moveTo>
                  <a:pt x="0" y="0"/>
                </a:moveTo>
                <a:lnTo>
                  <a:pt x="13716000" y="0"/>
                </a:lnTo>
                <a:lnTo>
                  <a:pt x="13716000" y="1576397"/>
                </a:lnTo>
                <a:lnTo>
                  <a:pt x="0" y="15763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286000" y="2171500"/>
            <a:ext cx="6858000" cy="5307906"/>
          </a:xfrm>
          <a:custGeom>
            <a:avLst/>
            <a:gdLst/>
            <a:ahLst/>
            <a:cxnLst/>
            <a:rect r="r" b="b" t="t" l="l"/>
            <a:pathLst>
              <a:path h="5307906" w="6858000">
                <a:moveTo>
                  <a:pt x="0" y="0"/>
                </a:moveTo>
                <a:lnTo>
                  <a:pt x="6858000" y="0"/>
                </a:lnTo>
                <a:lnTo>
                  <a:pt x="6858000" y="5307906"/>
                </a:lnTo>
                <a:lnTo>
                  <a:pt x="0" y="530790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935224" y="9401013"/>
            <a:ext cx="106799" cy="433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8"/>
              </a:lnSpc>
            </a:pPr>
            <a:r>
              <a:rPr lang="en-US" sz="3297" spc="-2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423160" y="9710309"/>
            <a:ext cx="2408658" cy="617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7"/>
              </a:lnSpc>
            </a:pPr>
            <a:r>
              <a:rPr lang="en-US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Ths. Trương Quang Trư</a:t>
            </a:r>
          </a:p>
          <a:p>
            <a:pPr algn="l">
              <a:lnSpc>
                <a:spcPts val="3959"/>
              </a:lnSpc>
            </a:pPr>
            <a:r>
              <a:rPr lang="en-US" b="true" sz="3294" i="true" spc="3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chắn</a:t>
            </a:r>
            <a:r>
              <a:rPr lang="en-US" sz="3294" spc="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b="true" sz="3294" i="true" spc="3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giữa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716389" y="9852017"/>
            <a:ext cx="534667" cy="485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"/>
              </a:lnSpc>
            </a:pPr>
            <a:r>
              <a:rPr lang="en-US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ờng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093837" y="8859893"/>
            <a:ext cx="106670" cy="471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5"/>
              </a:lnSpc>
            </a:pPr>
            <a:r>
              <a:rPr lang="en-US" sz="3294" spc="-2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483475" y="9134313"/>
            <a:ext cx="2736199" cy="700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Koa C ơ Khí – C ông Ngh ệ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483460" y="9910181"/>
            <a:ext cx="3134920" cy="219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8"/>
              </a:lnSpc>
            </a:pPr>
            <a:r>
              <a:rPr lang="en-US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Trường ĐH Nông Lâm TPHCM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807104" y="686076"/>
            <a:ext cx="10824839" cy="620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5"/>
              </a:lnSpc>
            </a:pPr>
            <a:r>
              <a:rPr lang="en-US" sz="3603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I. ĐẠI CɈƠNG Vɽ TRUYɽN ĐỘNG BÁNH RĂNG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735324" y="1501797"/>
            <a:ext cx="349758" cy="6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FF0000"/>
                </a:solidFill>
                <a:latin typeface="Arab Times"/>
                <a:ea typeface="Arab Times"/>
                <a:cs typeface="Arab Times"/>
                <a:sym typeface="Arab Times"/>
              </a:rPr>
              <a:t>3.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023981" y="1501797"/>
            <a:ext cx="1909324" cy="6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FF0000"/>
                </a:solidFill>
                <a:latin typeface="Arab Times"/>
                <a:ea typeface="Arab Times"/>
                <a:cs typeface="Arab Times"/>
                <a:sym typeface="Arab Times"/>
              </a:rPr>
              <a:t>thân</a:t>
            </a:r>
            <a:r>
              <a:rPr lang="en-US" sz="3600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 </a:t>
            </a:r>
            <a:r>
              <a:rPr lang="en-US" sz="3600">
                <a:solidFill>
                  <a:srgbClr val="FF0000"/>
                </a:solidFill>
                <a:latin typeface="Arab Times"/>
                <a:ea typeface="Arab Times"/>
                <a:cs typeface="Arab Times"/>
                <a:sym typeface="Arab Times"/>
              </a:rPr>
              <a:t>khai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192895" y="1474699"/>
            <a:ext cx="1751119" cy="680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FF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Ĕn</a:t>
            </a:r>
            <a:r>
              <a:rPr lang="en-US" sz="3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3600">
                <a:solidFill>
                  <a:srgbClr val="FF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khớp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389559" y="1692983"/>
            <a:ext cx="1242627" cy="613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1"/>
              </a:lnSpc>
            </a:pPr>
            <a:r>
              <a:rPr lang="en-US" b="true" sz="3150" i="true">
                <a:solidFill>
                  <a:srgbClr val="1021A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Đường</a:t>
            </a:r>
            <a:r>
              <a:rPr lang="en-US" sz="3150">
                <a:solidFill>
                  <a:srgbClr val="1021A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333867" y="1552746"/>
            <a:ext cx="2700523" cy="735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2"/>
              </a:lnSpc>
            </a:pPr>
            <a:r>
              <a:rPr lang="en-US" b="true" sz="3600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đường</a:t>
            </a:r>
            <a:r>
              <a:rPr lang="en-US" sz="3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b="true" sz="3600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thẳng</a:t>
            </a:r>
            <a:r>
              <a:rPr lang="en-US" sz="3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3600">
                <a:solidFill>
                  <a:srgbClr val="0066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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389559" y="2184473"/>
            <a:ext cx="603333" cy="613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1"/>
              </a:lnSpc>
            </a:pPr>
            <a:r>
              <a:rPr lang="en-US" b="true" sz="3150" i="true" spc="3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lăn</a:t>
            </a:r>
            <a:r>
              <a:rPr lang="en-US" sz="3150" spc="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081599" y="2184473"/>
            <a:ext cx="904127" cy="613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1"/>
              </a:lnSpc>
            </a:pPr>
            <a:r>
              <a:rPr lang="en-US" b="true" sz="3150" i="true" spc="3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trượt</a:t>
            </a:r>
            <a:r>
              <a:rPr lang="en-US" sz="3150" spc="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089515" y="2285357"/>
            <a:ext cx="374818" cy="577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3"/>
              </a:lnSpc>
            </a:pPr>
            <a:r>
              <a:rPr lang="en-US" sz="2106" spc="-14">
                <a:solidFill>
                  <a:srgbClr val="0066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0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442137" y="2933138"/>
            <a:ext cx="2051342" cy="891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16"/>
              </a:lnSpc>
            </a:pPr>
            <a:r>
              <a:rPr lang="en-US" b="true" sz="3150" i="true" spc="15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bất</a:t>
            </a:r>
            <a:r>
              <a:rPr lang="en-US" sz="3150" spc="15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b="true" sz="3150" i="true" spc="15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kỳ</a:t>
            </a:r>
            <a:r>
              <a:rPr lang="en-US" sz="3150" spc="15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b="true" sz="3150" i="true" spc="15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điểm</a:t>
            </a:r>
            <a:r>
              <a:rPr lang="en-US" sz="3150" spc="15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</a:p>
          <a:p>
            <a:pPr algn="just">
              <a:lnSpc>
                <a:spcPts val="5112"/>
              </a:lnSpc>
            </a:pPr>
            <a:r>
              <a:rPr lang="en-US" b="true" sz="3150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một</a:t>
            </a:r>
            <a:r>
              <a:rPr lang="en-US" sz="315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b="true" sz="3150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đường</a:t>
            </a:r>
            <a:r>
              <a:rPr lang="en-US" sz="315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608633" y="2851256"/>
            <a:ext cx="2721126" cy="973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6"/>
              </a:lnSpc>
            </a:pPr>
            <a:r>
              <a:rPr lang="en-US" b="true" sz="3150" i="true" spc="15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thuộc</a:t>
            </a:r>
            <a:r>
              <a:rPr lang="en-US" sz="3150" spc="15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 </a:t>
            </a:r>
            <a:r>
              <a:rPr lang="en-US" b="true" sz="3150" i="true" spc="15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sẽ</a:t>
            </a:r>
            <a:r>
              <a:rPr lang="en-US" sz="3150" spc="15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b="true" sz="3150" i="true" spc="15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vạch</a:t>
            </a:r>
            <a:r>
              <a:rPr lang="en-US" sz="3150" spc="15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</a:p>
          <a:p>
            <a:pPr algn="l">
              <a:lnSpc>
                <a:spcPts val="5112"/>
              </a:lnSpc>
            </a:pPr>
            <a:r>
              <a:rPr lang="en-US" b="true" sz="3150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gọi</a:t>
            </a:r>
            <a:r>
              <a:rPr lang="en-US" sz="315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900223" y="3154137"/>
            <a:ext cx="1151873" cy="670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12"/>
              </a:lnSpc>
            </a:pPr>
            <a:r>
              <a:rPr lang="en-US" b="true" sz="3150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đường</a:t>
            </a:r>
            <a:r>
              <a:rPr lang="en-US" sz="315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621163" y="3854139"/>
            <a:ext cx="1056546" cy="518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6"/>
              </a:lnSpc>
            </a:pPr>
            <a:r>
              <a:rPr lang="en-US" sz="4245" spc="-33">
                <a:solidFill>
                  <a:srgbClr val="0000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</a:t>
            </a:r>
            <a:r>
              <a:rPr lang="en-US" sz="4245" spc="-3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4245" spc="-33">
                <a:solidFill>
                  <a:srgbClr val="0000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</a:t>
            </a:r>
            <a:r>
              <a:rPr lang="en-US" sz="4245" spc="-3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4245" spc="-33">
                <a:solidFill>
                  <a:srgbClr val="0000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,</a:t>
            </a:r>
            <a:r>
              <a:rPr lang="en-US" sz="4245" spc="-3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4245" spc="-33">
                <a:solidFill>
                  <a:srgbClr val="0000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</a:t>
            </a:r>
            <a:r>
              <a:rPr lang="en-US" sz="4245" spc="-3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4245" spc="-33">
                <a:solidFill>
                  <a:srgbClr val="0000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0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025953" y="3872322"/>
            <a:ext cx="523823" cy="432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1"/>
              </a:lnSpc>
            </a:pPr>
            <a:r>
              <a:rPr lang="en-US" b="true" sz="3150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gọi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442123" y="4352382"/>
            <a:ext cx="978737" cy="432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1"/>
              </a:lnSpc>
            </a:pPr>
            <a:r>
              <a:rPr lang="en-US" b="true" sz="3150" i="true" spc="6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cơ</a:t>
            </a:r>
            <a:r>
              <a:rPr lang="en-US" sz="3150" spc="6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b="true" sz="3150" i="true" spc="6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sở</a:t>
            </a:r>
            <a:r>
              <a:rPr lang="en-US" sz="3150" spc="6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396789" y="4766862"/>
            <a:ext cx="5440751" cy="748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50"/>
              </a:lnSpc>
            </a:pPr>
            <a:r>
              <a:rPr lang="en-US" sz="27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Tính chất cͧa đɉ͝ốg thân khai 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739067" y="5767978"/>
            <a:ext cx="1244956" cy="442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0"/>
              </a:lnSpc>
            </a:pPr>
            <a:r>
              <a:rPr lang="en-US" b="true" sz="3150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Đường</a:t>
            </a:r>
            <a:r>
              <a:rPr lang="en-US" sz="315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307467" y="5767978"/>
            <a:ext cx="918115" cy="442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0"/>
              </a:lnSpc>
            </a:pPr>
            <a:r>
              <a:rPr lang="en-US" b="true" sz="3150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điểm</a:t>
            </a:r>
            <a:r>
              <a:rPr lang="en-US" sz="315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962531" y="5834653"/>
            <a:ext cx="1809212" cy="1335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40"/>
              </a:lnSpc>
            </a:pPr>
            <a:r>
              <a:rPr lang="en-US" b="true" sz="3150" i="true" spc="-25">
                <a:solidFill>
                  <a:srgbClr val="000000"/>
                </a:solidFill>
                <a:latin typeface="IBM Plex Sans Condensed Bold Italics"/>
                <a:ea typeface="IBM Plex Sans Condensed Bold Italics"/>
                <a:cs typeface="IBM Plex Sans Condensed Bold Italics"/>
                <a:sym typeface="IBM Plex Sans Condensed Bold Italics"/>
              </a:rPr>
              <a:t>nằm</a:t>
            </a:r>
            <a:r>
              <a:rPr lang="en-US" sz="3150" spc="-2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trong </a:t>
            </a:r>
          </a:p>
          <a:p>
            <a:pPr algn="just">
              <a:lnSpc>
                <a:spcPts val="2740"/>
              </a:lnSpc>
            </a:pPr>
            <a:r>
              <a:rPr lang="en-US" b="true" sz="3150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tiếp</a:t>
            </a:r>
            <a:r>
              <a:rPr lang="en-US" sz="315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b="true" sz="3150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tuyến</a:t>
            </a:r>
            <a:r>
              <a:rPr lang="en-US" sz="315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8639751" y="6048013"/>
            <a:ext cx="1079406" cy="642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19"/>
              </a:lnSpc>
            </a:pPr>
            <a:r>
              <a:rPr lang="en-US" b="true" sz="3150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cơ</a:t>
            </a:r>
            <a:r>
              <a:rPr lang="en-US" sz="315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b="true" sz="3150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sở</a:t>
            </a:r>
            <a:r>
              <a:rPr lang="en-US" sz="315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722047" y="6728098"/>
            <a:ext cx="3001332" cy="442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0"/>
              </a:lnSpc>
            </a:pPr>
            <a:r>
              <a:rPr lang="en-US" b="true" sz="3150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tuyến</a:t>
            </a:r>
            <a:r>
              <a:rPr lang="en-US" sz="315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b="true" sz="3150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của</a:t>
            </a:r>
            <a:r>
              <a:rPr lang="en-US" sz="315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b="true" sz="3150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đường</a:t>
            </a:r>
            <a:r>
              <a:rPr lang="en-US" sz="315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739067" y="7008505"/>
            <a:ext cx="670955" cy="642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22"/>
              </a:lnSpc>
            </a:pPr>
            <a:r>
              <a:rPr lang="en-US" b="true" sz="3150" i="true" spc="6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của</a:t>
            </a:r>
            <a:r>
              <a:rPr lang="en-US" sz="3150" spc="6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296233" y="7008505"/>
            <a:ext cx="978737" cy="642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22"/>
              </a:lnSpc>
            </a:pPr>
            <a:r>
              <a:rPr lang="en-US" b="true" sz="3150" i="true" spc="6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cơ</a:t>
            </a:r>
            <a:r>
              <a:rPr lang="en-US" sz="3150" spc="6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b="true" sz="3150" i="true" spc="6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sở</a:t>
            </a:r>
            <a:r>
              <a:rPr lang="en-US" sz="3150" spc="6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731841" y="7008505"/>
            <a:ext cx="1643863" cy="642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22"/>
              </a:lnSpc>
            </a:pPr>
            <a:r>
              <a:rPr lang="en-US" b="true" sz="3150" i="true" spc="6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ngược</a:t>
            </a:r>
            <a:r>
              <a:rPr lang="en-US" sz="3150" spc="6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b="true" sz="3150" i="true" spc="6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lại</a:t>
            </a:r>
            <a:r>
              <a:rPr lang="en-US" sz="3150" spc="6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497387" y="7688590"/>
            <a:ext cx="1846145" cy="442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7"/>
              </a:lnSpc>
            </a:pPr>
            <a:r>
              <a:rPr lang="en-US" b="true" sz="3150" i="true" spc="22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của</a:t>
            </a:r>
            <a:r>
              <a:rPr lang="en-US" sz="3150" spc="22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b="true" sz="3150" i="true" spc="22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đường</a:t>
            </a:r>
            <a:r>
              <a:rPr lang="en-US" sz="3150" spc="22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952119" y="7688590"/>
            <a:ext cx="2839841" cy="442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7"/>
              </a:lnSpc>
            </a:pPr>
            <a:r>
              <a:rPr lang="en-US" b="true" sz="3150" i="true" spc="22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tại</a:t>
            </a:r>
            <a:r>
              <a:rPr lang="en-US" sz="3150" spc="22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b="true" sz="3150" i="true" spc="22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một</a:t>
            </a:r>
            <a:r>
              <a:rPr lang="en-US" sz="3150" spc="22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b="true" sz="3150" i="true" spc="22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điểm</a:t>
            </a:r>
            <a:r>
              <a:rPr lang="en-US" sz="3150" spc="22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b="true" sz="3150" i="true" spc="22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bất</a:t>
            </a:r>
            <a:r>
              <a:rPr lang="en-US" sz="3150" spc="22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739067" y="7968725"/>
            <a:ext cx="510064" cy="642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25"/>
              </a:lnSpc>
            </a:pPr>
            <a:r>
              <a:rPr lang="en-US" b="true" sz="3150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kỳ</a:t>
            </a:r>
            <a:r>
              <a:rPr lang="en-US" sz="315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085921" y="7968725"/>
            <a:ext cx="915786" cy="642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25"/>
              </a:lnSpc>
            </a:pPr>
            <a:r>
              <a:rPr lang="en-US" b="true" sz="3150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điểm</a:t>
            </a:r>
            <a:r>
              <a:rPr lang="en-US" sz="315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0375225" y="7968725"/>
            <a:ext cx="801529" cy="642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25"/>
              </a:lnSpc>
            </a:pPr>
            <a:r>
              <a:rPr lang="en-US" b="true" sz="3150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nằm</a:t>
            </a:r>
            <a:r>
              <a:rPr lang="en-US" sz="315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2789813" y="7968725"/>
            <a:ext cx="978737" cy="642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25"/>
              </a:lnSpc>
            </a:pPr>
            <a:r>
              <a:rPr lang="en-US" b="true" sz="3150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cơ</a:t>
            </a:r>
            <a:r>
              <a:rPr lang="en-US" sz="315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b="true" sz="3150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sở</a:t>
            </a:r>
            <a:r>
              <a:rPr lang="en-US" sz="315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4238308" y="7968534"/>
            <a:ext cx="1747490" cy="567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63"/>
              </a:lnSpc>
            </a:pPr>
            <a:r>
              <a:rPr lang="en-US" sz="2782">
                <a:solidFill>
                  <a:srgbClr val="0000FF"/>
                </a:solidFill>
                <a:latin typeface="Arab Times"/>
                <a:ea typeface="Arab Times"/>
                <a:cs typeface="Arab Times"/>
                <a:sym typeface="Arab Times"/>
              </a:rPr>
              <a:t>NMNMO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0971857" y="8631293"/>
            <a:ext cx="106670" cy="699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57"/>
              </a:lnSpc>
            </a:pPr>
            <a:r>
              <a:rPr lang="en-US" sz="3294" spc="-2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7224717" y="5754562"/>
            <a:ext cx="409223" cy="450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3150" spc="5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1.</a:t>
            </a:r>
            <a:r>
              <a:rPr lang="en-US" sz="3150" spc="5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8996753" y="5754562"/>
            <a:ext cx="3337860" cy="450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3150" spc="5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thân</a:t>
            </a:r>
            <a:r>
              <a:rPr lang="en-US" sz="3150" spc="5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150" spc="5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khai</a:t>
            </a:r>
            <a:r>
              <a:rPr lang="en-US" sz="3150" spc="5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150" spc="5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không</a:t>
            </a:r>
            <a:r>
              <a:rPr lang="en-US" sz="3150" spc="5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150" spc="5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có</a:t>
            </a:r>
            <a:r>
              <a:rPr lang="en-US" sz="3150" spc="5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3247013" y="5754562"/>
            <a:ext cx="590860" cy="450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3150" spc="5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nào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7224717" y="6234622"/>
            <a:ext cx="1446252" cy="930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80"/>
              </a:lnSpc>
            </a:pPr>
            <a:r>
              <a:rPr lang="en-US" sz="3150" spc="-1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vòng</a:t>
            </a:r>
            <a:r>
              <a:rPr lang="en-US" sz="3150" spc="-1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150" spc="-1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2.</a:t>
            </a:r>
            <a:r>
              <a:rPr lang="en-US" sz="3150" spc="-1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150" spc="-1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Pháp</a:t>
            </a:r>
            <a:r>
              <a:rPr lang="en-US" sz="3150" spc="-1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9497401" y="6234622"/>
            <a:ext cx="102013" cy="450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3150" spc="-1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.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1747397" y="6714682"/>
            <a:ext cx="2074531" cy="450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3150" spc="11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thân</a:t>
            </a:r>
            <a:r>
              <a:rPr lang="en-US" sz="3150" spc="11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150" spc="11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khai</a:t>
            </a:r>
            <a:r>
              <a:rPr lang="en-US" sz="3150" spc="11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150" spc="11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là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8395149" y="7195114"/>
            <a:ext cx="921615" cy="450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3150" spc="-1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vòng</a:t>
            </a:r>
            <a:r>
              <a:rPr lang="en-US" sz="3150" spc="-1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0254067" y="7195114"/>
            <a:ext cx="386363" cy="450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3150" spc="-1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và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7224717" y="7675174"/>
            <a:ext cx="2293601" cy="450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3150" spc="7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3.</a:t>
            </a:r>
            <a:r>
              <a:rPr lang="en-US" sz="3150" spc="7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150" spc="7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Tâm</a:t>
            </a:r>
            <a:r>
              <a:rPr lang="en-US" sz="3150" spc="7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150" spc="7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cong</a:t>
            </a:r>
            <a:r>
              <a:rPr lang="en-US" sz="3150" spc="7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1328473" y="7675174"/>
            <a:ext cx="1531006" cy="450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3150" spc="7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thân</a:t>
            </a:r>
            <a:r>
              <a:rPr lang="en-US" sz="3150" spc="7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150" spc="7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khai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8239701" y="8155319"/>
            <a:ext cx="861451" cy="450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3150" spc="59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Mlà</a:t>
            </a:r>
            <a:r>
              <a:rPr lang="en-US" sz="3150" spc="59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9986605" y="8155319"/>
            <a:ext cx="396621" cy="450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3150" spc="59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</a:t>
            </a:r>
            <a:r>
              <a:rPr lang="en-US" sz="3150" spc="59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1166181" y="8155319"/>
            <a:ext cx="1661350" cy="450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3150" spc="59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trên</a:t>
            </a:r>
            <a:r>
              <a:rPr lang="en-US" sz="3150" spc="59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150" spc="59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vòng</a:t>
            </a:r>
            <a:r>
              <a:rPr lang="en-US" sz="3150" spc="59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3747647" y="8155319"/>
            <a:ext cx="386363" cy="450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3150" spc="59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và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7224717" y="8635379"/>
            <a:ext cx="102013" cy="450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3150" spc="-2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0674691" y="1841492"/>
            <a:ext cx="2541618" cy="460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1"/>
              </a:lnSpc>
            </a:pPr>
            <a:r>
              <a:rPr lang="en-US" sz="3150" spc="-22">
                <a:solidFill>
                  <a:srgbClr val="1021A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thân</a:t>
            </a:r>
            <a:r>
              <a:rPr lang="en-US" sz="3150" spc="-2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150" spc="-22">
                <a:solidFill>
                  <a:srgbClr val="1021A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khai:</a:t>
            </a:r>
            <a:r>
              <a:rPr lang="en-US" sz="3150" spc="-2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150" spc="-2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Cho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9979347" y="2332982"/>
            <a:ext cx="1126798" cy="460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1"/>
              </a:lnSpc>
            </a:pPr>
            <a:r>
              <a:rPr lang="en-US" sz="3150" spc="-2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không</a:t>
            </a:r>
            <a:r>
              <a:rPr lang="en-US" sz="3150" spc="-2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1966281" y="2332982"/>
            <a:ext cx="3459161" cy="460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1"/>
              </a:lnSpc>
            </a:pPr>
            <a:r>
              <a:rPr lang="en-US" sz="3150" spc="-2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trên</a:t>
            </a:r>
            <a:r>
              <a:rPr lang="en-US" sz="3150" spc="-2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150" spc="-2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vòngtròn</a:t>
            </a:r>
            <a:r>
              <a:rPr lang="en-US" sz="3150" spc="-25">
                <a:solidFill>
                  <a:srgbClr val="0066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(O,r</a:t>
            </a:r>
            <a:r>
              <a:rPr lang="en-US" sz="3150" spc="-2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150" spc="-25">
                <a:solidFill>
                  <a:srgbClr val="0066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)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1465247" y="2795897"/>
            <a:ext cx="1065290" cy="1024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69"/>
              </a:lnSpc>
            </a:pPr>
            <a:r>
              <a:rPr lang="en-US" sz="3150" spc="-2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Mnào</a:t>
            </a:r>
          </a:p>
          <a:p>
            <a:pPr algn="ctr">
              <a:lnSpc>
                <a:spcPts val="2759"/>
              </a:lnSpc>
            </a:pPr>
            <a:r>
              <a:rPr lang="en-US" sz="3150" spc="-2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cong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4659747" y="2795897"/>
            <a:ext cx="1333167" cy="1504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769"/>
              </a:lnSpc>
            </a:pPr>
            <a:r>
              <a:rPr lang="en-US" sz="3150" spc="-2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nên </a:t>
            </a:r>
          </a:p>
          <a:p>
            <a:pPr algn="r">
              <a:lnSpc>
                <a:spcPts val="2759"/>
              </a:lnSpc>
            </a:pPr>
            <a:r>
              <a:rPr lang="en-US" sz="3150" spc="-2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thân </a:t>
            </a:r>
          </a:p>
          <a:p>
            <a:pPr algn="r">
              <a:lnSpc>
                <a:spcPts val="4800"/>
              </a:lnSpc>
            </a:pPr>
            <a:r>
              <a:rPr lang="en-US" sz="3150" spc="-2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làvòng 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3367585" y="3464571"/>
            <a:ext cx="295423" cy="355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59"/>
              </a:lnSpc>
            </a:pPr>
            <a:r>
              <a:rPr lang="en-US" sz="3150" spc="-2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là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9442123" y="3744606"/>
            <a:ext cx="2614498" cy="555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3150" spc="-2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khai.Vòngtròn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4291193" y="8859893"/>
            <a:ext cx="5689797" cy="471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9"/>
              </a:lnSpc>
            </a:pPr>
            <a:r>
              <a:rPr lang="en-US" sz="3294" spc="2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thân khai vòng tròn là 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4170135" y="9315407"/>
            <a:ext cx="5654850" cy="556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297" spc="-2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khítlên nhau. </a:t>
            </a:r>
            <a:r>
              <a:rPr lang="en-US" b="true" sz="3297" i="true" spc="-26">
                <a:solidFill>
                  <a:srgbClr val="000000"/>
                </a:solidFill>
                <a:latin typeface="IBM Plex Sans Condensed Bold Italics"/>
                <a:ea typeface="IBM Plex Sans Condensed Bold Italics"/>
                <a:cs typeface="IBM Plex Sans Condensed Bold Italics"/>
                <a:sym typeface="IBM Plex Sans Condensed Bold Italics"/>
              </a:rPr>
              <a:t>Khoảng</a:t>
            </a:r>
            <a:r>
              <a:rPr lang="en-US" sz="3297" spc="-2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cách </a:t>
            </a:r>
            <a:r>
              <a:rPr lang="en-US" b="true" sz="3297" i="true" spc="-26">
                <a:solidFill>
                  <a:srgbClr val="000000"/>
                </a:solidFill>
                <a:latin typeface="IBM Plex Sans Condensed Bold Italics"/>
                <a:ea typeface="IBM Plex Sans Condensed Bold Italics"/>
                <a:cs typeface="IBM Plex Sans Condensed Bold Italics"/>
                <a:sym typeface="IBM Plex Sans Condensed Bold Italics"/>
              </a:rPr>
              <a:t>giữa</a:t>
            </a:r>
            <a:r>
              <a:rPr lang="en-US" sz="3297" spc="-2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4160991" y="9866190"/>
            <a:ext cx="5445652" cy="471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9"/>
              </a:lnSpc>
            </a:pPr>
            <a:r>
              <a:rPr lang="en-US" sz="3294" spc="-2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các thân khai trên vòn- 1g3 - 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2328027" y="8793218"/>
            <a:ext cx="779969" cy="537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11"/>
              </a:lnSpc>
            </a:pPr>
            <a:r>
              <a:rPr lang="en-US" sz="3294" spc="-2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cách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3978904" y="8859893"/>
            <a:ext cx="1922512" cy="471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9"/>
              </a:lnSpc>
            </a:pPr>
            <a:r>
              <a:rPr lang="en-US" sz="3294" spc="-2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nhau</a:t>
            </a:r>
            <a:r>
              <a:rPr lang="en-US" sz="3294" spc="-2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294" spc="-2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và</a:t>
            </a:r>
            <a:r>
              <a:rPr lang="en-US" sz="3294" spc="-2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294" spc="-2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có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5864840" y="9362913"/>
            <a:ext cx="106799" cy="471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297" spc="-2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2423160" y="8745769"/>
            <a:ext cx="1903638" cy="622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9"/>
              </a:lnSpc>
            </a:pPr>
            <a:r>
              <a:rPr lang="en-US" sz="3294" spc="36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Các </a:t>
            </a:r>
            <a:r>
              <a:rPr lang="en-US" b="true" sz="3294" i="true" spc="36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đường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2423160" y="9280365"/>
            <a:ext cx="1675281" cy="559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b="true" sz="3297" i="true" spc="3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thể</a:t>
            </a:r>
            <a:r>
              <a:rPr lang="en-US" b="true" sz="3297" i="true" spc="3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 </a:t>
            </a:r>
            <a:r>
              <a:rPr lang="en-US" b="true" sz="3297" i="true" spc="3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chồng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6151997" y="8396359"/>
            <a:ext cx="1397932" cy="939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2"/>
              </a:lnSpc>
            </a:pPr>
            <a:r>
              <a:rPr lang="en-US" b="true" sz="3294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của</a:t>
            </a:r>
            <a:r>
              <a:rPr lang="en-US" b="true" sz="3294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 </a:t>
            </a:r>
            <a:r>
              <a:rPr lang="en-US" b="true" sz="3294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một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4823831" y="9402670"/>
            <a:ext cx="1099195" cy="939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2"/>
              </a:lnSpc>
            </a:pPr>
            <a:r>
              <a:rPr lang="en-US" b="true" sz="3294" i="true" spc="3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đường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9904295" y="8767834"/>
            <a:ext cx="2327777" cy="568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5"/>
              </a:lnSpc>
            </a:pPr>
            <a:r>
              <a:rPr lang="en-US" b="true" sz="3294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những</a:t>
            </a:r>
            <a:r>
              <a:rPr lang="en-US" b="true" sz="3294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 </a:t>
            </a:r>
            <a:r>
              <a:rPr lang="en-US" b="true" sz="3294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đường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9714557" y="9305882"/>
            <a:ext cx="1881821" cy="565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9"/>
              </a:lnSpc>
            </a:pPr>
            <a:r>
              <a:rPr lang="en-US" sz="3297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các </a:t>
            </a:r>
            <a:r>
              <a:rPr lang="en-US" b="true" sz="3297" i="true">
                <a:solidFill>
                  <a:srgbClr val="000000"/>
                </a:solidFill>
                <a:latin typeface="IBM Plex Sans Condensed Bold Italics"/>
                <a:ea typeface="IBM Plex Sans Condensed Bold Italics"/>
                <a:cs typeface="IBM Plex Sans Condensed Bold Italics"/>
                <a:sym typeface="IBM Plex Sans Condensed Bold Italics"/>
              </a:rPr>
              <a:t>đường</a:t>
            </a:r>
            <a:r>
              <a:rPr lang="en-US" sz="3297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9357941" y="9746042"/>
            <a:ext cx="2950997" cy="596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5"/>
              </a:lnSpc>
            </a:pPr>
            <a:r>
              <a:rPr lang="en-US" b="true" sz="3294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cơsở</a:t>
            </a:r>
            <a:r>
              <a:rPr lang="en-US" sz="3294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3294">
                <a:solidFill>
                  <a:srgbClr val="0000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MKMK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13233283" y="8710684"/>
            <a:ext cx="616163" cy="625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11"/>
              </a:lnSpc>
            </a:pPr>
            <a:r>
              <a:rPr lang="en-US" b="true" sz="3294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đều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13214995" y="9213690"/>
            <a:ext cx="1766435" cy="626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16"/>
              </a:lnSpc>
            </a:pPr>
            <a:r>
              <a:rPr lang="en-US" b="true" sz="3297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bằng</a:t>
            </a:r>
            <a:r>
              <a:rPr lang="en-US" b="true" sz="3297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 </a:t>
            </a:r>
            <a:r>
              <a:rPr lang="en-US" b="true" sz="3297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đoạn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11559931" y="9296238"/>
            <a:ext cx="1580955" cy="538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16"/>
              </a:lnSpc>
            </a:pPr>
            <a:r>
              <a:rPr lang="en-US" sz="3297" spc="-2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thân</a:t>
            </a:r>
            <a:r>
              <a:rPr lang="en-US" sz="3297" spc="-2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297" spc="-2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khai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15053310" y="9296238"/>
            <a:ext cx="830418" cy="538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16"/>
              </a:lnSpc>
            </a:pPr>
            <a:r>
              <a:rPr lang="en-US" sz="3297" spc="-2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cung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81255" y="247645"/>
            <a:ext cx="13030200" cy="1771650"/>
          </a:xfrm>
          <a:custGeom>
            <a:avLst/>
            <a:gdLst/>
            <a:ahLst/>
            <a:cxnLst/>
            <a:rect r="r" b="b" t="t" l="l"/>
            <a:pathLst>
              <a:path h="1771650" w="13030200">
                <a:moveTo>
                  <a:pt x="0" y="0"/>
                </a:moveTo>
                <a:lnTo>
                  <a:pt x="13030200" y="0"/>
                </a:lnTo>
                <a:lnTo>
                  <a:pt x="13030200" y="1771650"/>
                </a:lnTo>
                <a:lnTo>
                  <a:pt x="0" y="17716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16100" y="71"/>
            <a:ext cx="1485900" cy="1464469"/>
          </a:xfrm>
          <a:custGeom>
            <a:avLst/>
            <a:gdLst/>
            <a:ahLst/>
            <a:cxnLst/>
            <a:rect r="r" b="b" t="t" l="l"/>
            <a:pathLst>
              <a:path h="1464469" w="1485900">
                <a:moveTo>
                  <a:pt x="0" y="0"/>
                </a:moveTo>
                <a:lnTo>
                  <a:pt x="1485900" y="0"/>
                </a:lnTo>
                <a:lnTo>
                  <a:pt x="1485900" y="1464469"/>
                </a:lnTo>
                <a:lnTo>
                  <a:pt x="0" y="14644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12260718" y="7428828"/>
            <a:ext cx="1018170" cy="19731"/>
            <a:chOff x="0" y="0"/>
            <a:chExt cx="678777" cy="1315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78815" cy="13208"/>
            </a:xfrm>
            <a:custGeom>
              <a:avLst/>
              <a:gdLst/>
              <a:ahLst/>
              <a:cxnLst/>
              <a:rect r="r" b="b" t="t" l="l"/>
              <a:pathLst>
                <a:path h="13208" w="678815">
                  <a:moveTo>
                    <a:pt x="0" y="0"/>
                  </a:moveTo>
                  <a:lnTo>
                    <a:pt x="678815" y="0"/>
                  </a:lnTo>
                  <a:lnTo>
                    <a:pt x="678815" y="13208"/>
                  </a:lnTo>
                  <a:lnTo>
                    <a:pt x="0" y="13208"/>
                  </a:lnTo>
                  <a:close/>
                </a:path>
              </a:pathLst>
            </a:custGeom>
            <a:solidFill>
              <a:srgbClr val="0000FF"/>
            </a:solid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4072145" y="4739721"/>
            <a:ext cx="542568" cy="16431"/>
            <a:chOff x="0" y="0"/>
            <a:chExt cx="361709" cy="1094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1696" cy="10922"/>
            </a:xfrm>
            <a:custGeom>
              <a:avLst/>
              <a:gdLst/>
              <a:ahLst/>
              <a:cxnLst/>
              <a:rect r="r" b="b" t="t" l="l"/>
              <a:pathLst>
                <a:path h="10922" w="361696">
                  <a:moveTo>
                    <a:pt x="0" y="0"/>
                  </a:moveTo>
                  <a:lnTo>
                    <a:pt x="361696" y="0"/>
                  </a:lnTo>
                  <a:lnTo>
                    <a:pt x="361696" y="10922"/>
                  </a:lnTo>
                  <a:lnTo>
                    <a:pt x="0" y="10922"/>
                  </a:lnTo>
                  <a:close/>
                </a:path>
              </a:pathLst>
            </a:custGeom>
            <a:solidFill>
              <a:srgbClr val="0000FF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2447920" y="3586077"/>
            <a:ext cx="6912864" cy="5345997"/>
          </a:xfrm>
          <a:custGeom>
            <a:avLst/>
            <a:gdLst/>
            <a:ahLst/>
            <a:cxnLst/>
            <a:rect r="r" b="b" t="t" l="l"/>
            <a:pathLst>
              <a:path h="5345997" w="6912864">
                <a:moveTo>
                  <a:pt x="0" y="0"/>
                </a:moveTo>
                <a:lnTo>
                  <a:pt x="6912864" y="0"/>
                </a:lnTo>
                <a:lnTo>
                  <a:pt x="6912864" y="5345997"/>
                </a:lnTo>
                <a:lnTo>
                  <a:pt x="0" y="53459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423160" y="9746351"/>
            <a:ext cx="2873773" cy="314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Ths. Trương Quang Trường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483460" y="9336776"/>
            <a:ext cx="3134920" cy="793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Khoa Cơ Khí – Công Nghệ Trường ĐH Nông Lâm TPHCM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854064" y="9864571"/>
            <a:ext cx="658711" cy="36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8"/>
              </a:lnSpc>
            </a:pPr>
            <a:r>
              <a:rPr lang="en-US" sz="2106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- 14 -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807104" y="686076"/>
            <a:ext cx="10824839" cy="620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5"/>
              </a:lnSpc>
            </a:pPr>
            <a:r>
              <a:rPr lang="en-US" sz="3603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I. ĐẠI CɈƠNG Vɽ TRUYɽN ĐỘNG BÁNH RĂNG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735324" y="1501797"/>
            <a:ext cx="349758" cy="6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FF0000"/>
                </a:solidFill>
                <a:latin typeface="Arab Times"/>
                <a:ea typeface="Arab Times"/>
                <a:cs typeface="Arab Times"/>
                <a:sym typeface="Arab Times"/>
              </a:rPr>
              <a:t>3.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023981" y="1501797"/>
            <a:ext cx="1909324" cy="6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FF0000"/>
                </a:solidFill>
                <a:latin typeface="Arab Times"/>
                <a:ea typeface="Arab Times"/>
                <a:cs typeface="Arab Times"/>
                <a:sym typeface="Arab Times"/>
              </a:rPr>
              <a:t>thân</a:t>
            </a:r>
            <a:r>
              <a:rPr lang="en-US" sz="3600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 </a:t>
            </a:r>
            <a:r>
              <a:rPr lang="en-US" sz="3600">
                <a:solidFill>
                  <a:srgbClr val="FF0000"/>
                </a:solidFill>
                <a:latin typeface="Arab Times"/>
                <a:ea typeface="Arab Times"/>
                <a:cs typeface="Arab Times"/>
                <a:sym typeface="Arab Times"/>
              </a:rPr>
              <a:t>khai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192895" y="1474699"/>
            <a:ext cx="1751119" cy="680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FF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Ĕn</a:t>
            </a:r>
            <a:r>
              <a:rPr lang="en-US" sz="3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3600">
                <a:solidFill>
                  <a:srgbClr val="FF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khớp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799436" y="2142096"/>
            <a:ext cx="5979462" cy="693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38"/>
              </a:lnSpc>
            </a:pPr>
            <a:r>
              <a:rPr lang="en-US" sz="3456">
                <a:solidFill>
                  <a:srgbClr val="33339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Phѭѫngătrìnhăđѭờngăthơnăkhai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131009" y="4324093"/>
            <a:ext cx="286364" cy="241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4"/>
              </a:lnSpc>
            </a:pPr>
            <a:r>
              <a:rPr lang="en-US" sz="2648">
                <a:solidFill>
                  <a:srgbClr val="0000FF"/>
                </a:solidFill>
                <a:latin typeface="Arab Times"/>
                <a:ea typeface="Arab Times"/>
                <a:cs typeface="Arab Times"/>
                <a:sym typeface="Arab Times"/>
              </a:rPr>
              <a:t>M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441376" y="4324093"/>
            <a:ext cx="634665" cy="301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4"/>
              </a:lnSpc>
            </a:pPr>
            <a:r>
              <a:rPr lang="en-US" sz="2648" spc="2">
                <a:solidFill>
                  <a:srgbClr val="0000FF"/>
                </a:solidFill>
                <a:latin typeface="Arab Times"/>
                <a:ea typeface="Arab Times"/>
                <a:cs typeface="Arab Times"/>
                <a:sym typeface="Arab Times"/>
              </a:rPr>
              <a:t>0OM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055842" y="4417404"/>
            <a:ext cx="530795" cy="727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35"/>
              </a:lnSpc>
            </a:pPr>
            <a:r>
              <a:rPr lang="en-US" sz="2648">
                <a:solidFill>
                  <a:srgbClr val="0000FF"/>
                </a:solidFill>
                <a:latin typeface="Arab Times"/>
                <a:ea typeface="Arab Times"/>
                <a:cs typeface="Arab Times"/>
                <a:sym typeface="Arab Times"/>
              </a:rPr>
              <a:t>OM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799653" y="3207268"/>
            <a:ext cx="106670" cy="718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74"/>
              </a:lnSpc>
            </a:pPr>
            <a:r>
              <a:rPr lang="en-US" sz="3294" spc="-2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664508" y="3822954"/>
            <a:ext cx="393449" cy="782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45"/>
              </a:lnSpc>
            </a:pPr>
            <a:r>
              <a:rPr lang="en-US" sz="2648">
                <a:solidFill>
                  <a:srgbClr val="0000FF"/>
                </a:solidFill>
                <a:latin typeface="Arimo"/>
                <a:ea typeface="Arimo"/>
                <a:cs typeface="Arimo"/>
                <a:sym typeface="Arimo"/>
              </a:rPr>
              <a:t>x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806311" y="4868766"/>
            <a:ext cx="188738" cy="262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14"/>
              </a:lnSpc>
            </a:pPr>
            <a:r>
              <a:rPr lang="en-US" sz="2648">
                <a:solidFill>
                  <a:srgbClr val="0000FF"/>
                </a:solidFill>
                <a:latin typeface="Arimo"/>
                <a:ea typeface="Arimo"/>
                <a:cs typeface="Arimo"/>
                <a:sym typeface="Arimo"/>
              </a:rPr>
              <a:t>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331741" y="6232222"/>
            <a:ext cx="500177" cy="1175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942"/>
              </a:lnSpc>
            </a:pPr>
            <a:r>
              <a:rPr lang="en-US" sz="3157" spc="-25">
                <a:solidFill>
                  <a:srgbClr val="0000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tan</a:t>
            </a:r>
          </a:p>
          <a:p>
            <a:pPr algn="r">
              <a:lnSpc>
                <a:spcPts val="4503"/>
              </a:lnSpc>
            </a:pPr>
            <a:r>
              <a:rPr lang="en-US" sz="3157">
                <a:solidFill>
                  <a:srgbClr val="0000FF"/>
                </a:solidFill>
                <a:latin typeface="Arab Times"/>
                <a:ea typeface="Arab Times"/>
                <a:cs typeface="Arab Times"/>
                <a:sym typeface="Arab Times"/>
              </a:rPr>
              <a:t>r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752037" y="6981396"/>
            <a:ext cx="460315" cy="985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sz="1823" spc="-14">
                <a:solidFill>
                  <a:srgbClr val="0000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0</a:t>
            </a:r>
          </a:p>
          <a:p>
            <a:pPr algn="l">
              <a:lnSpc>
                <a:spcPts val="8329"/>
              </a:lnSpc>
            </a:pPr>
            <a:r>
              <a:rPr lang="en-US" sz="3331" i="true">
                <a:solidFill>
                  <a:srgbClr val="0000FF"/>
                </a:solidFill>
                <a:latin typeface="Arimo Italics"/>
                <a:ea typeface="Arimo Italics"/>
                <a:cs typeface="Arimo Italics"/>
                <a:sym typeface="Arimo Italics"/>
              </a:rPr>
              <a:t>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454814" y="7742434"/>
            <a:ext cx="365203" cy="242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8"/>
              </a:lnSpc>
            </a:pPr>
            <a:r>
              <a:rPr lang="en-US" sz="3157" spc="-25">
                <a:solidFill>
                  <a:srgbClr val="0000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279749" y="7406764"/>
            <a:ext cx="183237" cy="546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3"/>
              </a:lnSpc>
            </a:pPr>
            <a:r>
              <a:rPr lang="en-US" sz="3157">
                <a:solidFill>
                  <a:srgbClr val="0000FF"/>
                </a:solidFill>
                <a:latin typeface="Arab Times"/>
                <a:ea typeface="Arab Times"/>
                <a:cs typeface="Arab Times"/>
                <a:sym typeface="Arab Times"/>
              </a:rPr>
              <a:t>c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109017" y="5796153"/>
            <a:ext cx="106670" cy="528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42"/>
              </a:lnSpc>
            </a:pPr>
            <a:r>
              <a:rPr lang="en-US" sz="3294" spc="-2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363977" y="6200480"/>
            <a:ext cx="528595" cy="1839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94"/>
              </a:lnSpc>
            </a:pPr>
            <a:r>
              <a:rPr lang="en-US" sz="3331">
                <a:solidFill>
                  <a:srgbClr val="0000FF"/>
                </a:solidFill>
                <a:latin typeface="Arimo"/>
                <a:ea typeface="Arimo"/>
                <a:cs typeface="Arimo"/>
                <a:sym typeface="Arimo"/>
              </a:rPr>
              <a:t></a:t>
            </a:r>
            <a:r>
              <a:rPr lang="en-US" sz="3331" i="true">
                <a:solidFill>
                  <a:srgbClr val="0000FF"/>
                </a:solidFill>
                <a:latin typeface="Arimo Italics"/>
                <a:ea typeface="Arimo Italics"/>
                <a:cs typeface="Arimo Italics"/>
                <a:sym typeface="Arimo Italics"/>
              </a:rPr>
              <a:t></a:t>
            </a:r>
            <a:r>
              <a:rPr lang="en-US" sz="3331">
                <a:solidFill>
                  <a:srgbClr val="0000FF"/>
                </a:solidFill>
                <a:latin typeface="Arimo"/>
                <a:ea typeface="Arimo"/>
                <a:cs typeface="Arimo"/>
                <a:sym typeface="Arimo"/>
              </a:rPr>
              <a:t>x</a:t>
            </a:r>
          </a:p>
          <a:p>
            <a:pPr algn="just">
              <a:lnSpc>
                <a:spcPts val="1578"/>
              </a:lnSpc>
            </a:pPr>
            <a:r>
              <a:rPr lang="en-US" sz="3157">
                <a:solidFill>
                  <a:srgbClr val="0000FF"/>
                </a:solidFill>
                <a:latin typeface="Arimo"/>
                <a:ea typeface="Arimo"/>
                <a:cs typeface="Arimo"/>
                <a:sym typeface="Arimo"/>
              </a:rPr>
              <a:t></a:t>
            </a:r>
          </a:p>
          <a:p>
            <a:pPr algn="just">
              <a:lnSpc>
                <a:spcPts val="3034"/>
              </a:lnSpc>
            </a:pPr>
            <a:r>
              <a:rPr lang="en-US" sz="3157">
                <a:solidFill>
                  <a:srgbClr val="0000FF"/>
                </a:solidFill>
                <a:latin typeface="Arimo"/>
                <a:ea typeface="Arimo"/>
                <a:cs typeface="Arimo"/>
                <a:sym typeface="Arimo"/>
              </a:rPr>
              <a:t></a:t>
            </a:r>
          </a:p>
          <a:p>
            <a:pPr algn="just">
              <a:lnSpc>
                <a:spcPts val="3034"/>
              </a:lnSpc>
            </a:pPr>
            <a:r>
              <a:rPr lang="en-US" sz="3157">
                <a:solidFill>
                  <a:srgbClr val="0000FF"/>
                </a:solidFill>
                <a:latin typeface="Arab Times"/>
                <a:ea typeface="Arab Times"/>
                <a:cs typeface="Arab Times"/>
                <a:sym typeface="Arab Times"/>
              </a:rPr>
              <a:t>rx</a:t>
            </a:r>
          </a:p>
          <a:p>
            <a:pPr algn="just">
              <a:lnSpc>
                <a:spcPts val="1578"/>
              </a:lnSpc>
            </a:pPr>
            <a:r>
              <a:rPr lang="en-US" sz="3157">
                <a:solidFill>
                  <a:srgbClr val="0000FF"/>
                </a:solidFill>
                <a:latin typeface="Arimo"/>
                <a:ea typeface="Arimo"/>
                <a:cs typeface="Arimo"/>
                <a:sym typeface="Arimo"/>
              </a:rPr>
              <a:t>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202157" y="7776334"/>
            <a:ext cx="106670" cy="930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56"/>
              </a:lnSpc>
            </a:pPr>
            <a:r>
              <a:rPr lang="en-US" b="true" sz="3294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 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005701" y="5853303"/>
            <a:ext cx="233186" cy="947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3"/>
              </a:lnSpc>
            </a:pPr>
            <a:r>
              <a:rPr lang="en-US" sz="3294" spc="-2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</a:p>
          <a:p>
            <a:pPr algn="l">
              <a:lnSpc>
                <a:spcPts val="3761"/>
              </a:lnSpc>
            </a:pPr>
            <a:r>
              <a:rPr lang="en-US" sz="3157">
                <a:solidFill>
                  <a:srgbClr val="0000FF"/>
                </a:solidFill>
                <a:latin typeface="Arimo"/>
                <a:ea typeface="Arimo"/>
                <a:cs typeface="Arimo"/>
                <a:sym typeface="Arimo"/>
              </a:rPr>
              <a:t>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941192" y="6729489"/>
            <a:ext cx="226571" cy="893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94"/>
              </a:lnSpc>
            </a:pPr>
            <a:r>
              <a:rPr lang="en-US" sz="3157">
                <a:solidFill>
                  <a:srgbClr val="0000FF"/>
                </a:solidFill>
                <a:latin typeface="Arimo"/>
                <a:ea typeface="Arimo"/>
                <a:cs typeface="Arimo"/>
                <a:sym typeface="Arimo"/>
              </a:rPr>
              <a:t>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187563" y="5872353"/>
            <a:ext cx="106670" cy="452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35"/>
              </a:lnSpc>
            </a:pPr>
            <a:r>
              <a:rPr lang="en-US" sz="3294" spc="-2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828460" y="6276665"/>
            <a:ext cx="1204736" cy="537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78"/>
              </a:lnSpc>
            </a:pPr>
            <a:r>
              <a:rPr lang="en-US" sz="3331" i="true" spc="39">
                <a:solidFill>
                  <a:srgbClr val="0000FF"/>
                </a:solidFill>
                <a:latin typeface="Arimo Italics"/>
                <a:ea typeface="Arimo Italics"/>
                <a:cs typeface="Arimo Italics"/>
                <a:sym typeface="Arimo Italics"/>
              </a:rPr>
              <a:t></a:t>
            </a:r>
            <a:r>
              <a:rPr lang="en-US" sz="3331" spc="39">
                <a:solidFill>
                  <a:srgbClr val="0000FF"/>
                </a:solidFill>
                <a:latin typeface="Arimo"/>
                <a:ea typeface="Arimo"/>
                <a:cs typeface="Arimo"/>
                <a:sym typeface="Arimo"/>
              </a:rPr>
              <a:t></a:t>
            </a:r>
            <a:r>
              <a:rPr lang="en-US" sz="3331" i="true" spc="39">
                <a:solidFill>
                  <a:srgbClr val="0000FF"/>
                </a:solidFill>
                <a:latin typeface="Arimo Italics"/>
                <a:ea typeface="Arimo Italics"/>
                <a:cs typeface="Arimo Italics"/>
                <a:sym typeface="Arimo Italics"/>
              </a:rPr>
              <a:t></a:t>
            </a:r>
          </a:p>
          <a:p>
            <a:pPr algn="r">
              <a:lnSpc>
                <a:spcPts val="911"/>
              </a:lnSpc>
            </a:pPr>
            <a:r>
              <a:rPr lang="en-US" sz="1823" spc="1459">
                <a:solidFill>
                  <a:srgbClr val="0000FF"/>
                </a:solidFill>
                <a:latin typeface="Arab Times"/>
                <a:ea typeface="Arab Times"/>
                <a:cs typeface="Arab Times"/>
                <a:sym typeface="Arab Times"/>
              </a:rPr>
              <a:t>x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145629" y="6661066"/>
            <a:ext cx="105828" cy="166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"/>
              </a:lnSpc>
            </a:pPr>
            <a:r>
              <a:rPr lang="en-US" sz="1823" spc="1459">
                <a:solidFill>
                  <a:srgbClr val="0000FF"/>
                </a:solidFill>
                <a:latin typeface="Arab Times"/>
                <a:ea typeface="Arab Times"/>
                <a:cs typeface="Arab Times"/>
                <a:sym typeface="Arab Times"/>
              </a:rPr>
              <a:t>x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093908" y="7895339"/>
            <a:ext cx="119186" cy="137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"/>
              </a:lnSpc>
            </a:pPr>
            <a:r>
              <a:rPr lang="en-US" sz="1823" spc="-14">
                <a:solidFill>
                  <a:srgbClr val="0000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x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027814" y="7891829"/>
            <a:ext cx="483146" cy="730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85"/>
              </a:lnSpc>
            </a:pPr>
            <a:r>
              <a:rPr lang="en-US" sz="3669" i="true">
                <a:solidFill>
                  <a:srgbClr val="0000FF"/>
                </a:solidFill>
                <a:latin typeface="Arimo Italics"/>
                <a:ea typeface="Arimo Italics"/>
                <a:cs typeface="Arimo Italics"/>
                <a:sym typeface="Arimo Italics"/>
              </a:rPr>
              <a:t>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3382001" y="8524194"/>
            <a:ext cx="119286" cy="183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2"/>
              </a:lnSpc>
            </a:pPr>
            <a:r>
              <a:rPr lang="en-US" sz="2004" spc="1212">
                <a:solidFill>
                  <a:srgbClr val="0000FF"/>
                </a:solidFill>
                <a:latin typeface="Arab Times"/>
                <a:ea typeface="Arab Times"/>
                <a:cs typeface="Arab Times"/>
                <a:sym typeface="Arab Times"/>
              </a:rPr>
              <a:t>x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3837629" y="8319064"/>
            <a:ext cx="146218" cy="408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3"/>
              </a:lnSpc>
            </a:pPr>
            <a:r>
              <a:rPr lang="en-US" sz="4407" spc="2666">
                <a:solidFill>
                  <a:srgbClr val="0000FF"/>
                </a:solidFill>
                <a:latin typeface="Arimo"/>
                <a:ea typeface="Arimo"/>
                <a:cs typeface="Arimo"/>
                <a:sym typeface="Arimo"/>
              </a:rPr>
              <a:t>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869162" y="8296546"/>
            <a:ext cx="499262" cy="425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3"/>
              </a:lnSpc>
            </a:pPr>
            <a:r>
              <a:rPr lang="en-US" sz="3570" i="true">
                <a:solidFill>
                  <a:srgbClr val="0000FF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</a:t>
            </a:r>
            <a:r>
              <a:rPr lang="en-US" sz="357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0147640" y="8636403"/>
            <a:ext cx="108699" cy="169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4"/>
              </a:lnSpc>
            </a:pPr>
            <a:r>
              <a:rPr lang="en-US" sz="1968">
                <a:solidFill>
                  <a:srgbClr val="0000FF"/>
                </a:solidFill>
                <a:latin typeface="Arab Times"/>
                <a:ea typeface="Arab Times"/>
                <a:cs typeface="Arab Times"/>
                <a:sym typeface="Arab Times"/>
              </a:rPr>
              <a:t>x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2545082" y="8048001"/>
            <a:ext cx="562027" cy="592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56"/>
              </a:lnSpc>
            </a:pPr>
            <a:r>
              <a:rPr lang="en-US" sz="3469">
                <a:solidFill>
                  <a:srgbClr val="0000FF"/>
                </a:solidFill>
                <a:latin typeface="Arab Times"/>
                <a:ea typeface="Arab Times"/>
                <a:cs typeface="Arab Times"/>
                <a:sym typeface="Arab Times"/>
              </a:rPr>
              <a:t>inv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3999393" y="8099184"/>
            <a:ext cx="1393846" cy="585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07"/>
              </a:lnSpc>
            </a:pPr>
            <a:r>
              <a:rPr lang="en-US" sz="3362">
                <a:solidFill>
                  <a:srgbClr val="0000FF"/>
                </a:solidFill>
                <a:latin typeface="Arab Times"/>
                <a:ea typeface="Arab Times"/>
                <a:cs typeface="Arab Times"/>
                <a:sym typeface="Arab Times"/>
              </a:rPr>
              <a:t>involute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5291940" y="8372623"/>
            <a:ext cx="463129" cy="295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76"/>
              </a:lnSpc>
            </a:pPr>
            <a:r>
              <a:rPr lang="en-US" sz="3552" i="true">
                <a:solidFill>
                  <a:srgbClr val="0000FF"/>
                </a:solidFill>
                <a:latin typeface="Arimo Italics"/>
                <a:ea typeface="Arimo Italics"/>
                <a:cs typeface="Arimo Italics"/>
                <a:sym typeface="Arimo Italics"/>
              </a:rPr>
              <a:t>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5627482" y="8319064"/>
            <a:ext cx="333270" cy="416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3"/>
              </a:lnSpc>
            </a:pPr>
            <a:r>
              <a:rPr lang="en-US" sz="4407" spc="559">
                <a:solidFill>
                  <a:srgbClr val="0000FF"/>
                </a:solidFill>
                <a:latin typeface="Arimo"/>
                <a:ea typeface="Arimo"/>
                <a:cs typeface="Arimo"/>
                <a:sym typeface="Arimo"/>
              </a:rPr>
              <a:t>x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9946757" y="8921234"/>
            <a:ext cx="3557888" cy="537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11"/>
              </a:lnSpc>
            </a:pPr>
            <a:r>
              <a:rPr lang="en-US" sz="3294" spc="-2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hay là hàm thânkhai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3923097" y="3388243"/>
            <a:ext cx="1179847" cy="537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11"/>
              </a:lnSpc>
            </a:pPr>
            <a:r>
              <a:rPr lang="en-US" sz="3294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 làm 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3290433" y="5786628"/>
            <a:ext cx="1580969" cy="537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11"/>
              </a:lnSpc>
            </a:pPr>
            <a:r>
              <a:rPr lang="en-US" sz="3294" spc="-2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thân</a:t>
            </a:r>
            <a:r>
              <a:rPr lang="en-US" sz="3294" spc="-2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294" spc="-2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khai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0359209" y="8081134"/>
            <a:ext cx="1927427" cy="625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11"/>
              </a:lnSpc>
            </a:pPr>
            <a:r>
              <a:rPr lang="en-US" b="true" sz="3294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đượcgọi</a:t>
            </a:r>
            <a:r>
              <a:rPr lang="en-US" b="true" sz="3294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 </a:t>
            </a:r>
            <a:r>
              <a:rPr lang="en-US" b="true" sz="3294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là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9556423" y="3245544"/>
            <a:ext cx="4327455" cy="1977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57"/>
              </a:lnSpc>
            </a:pPr>
            <a:r>
              <a:rPr lang="en-US" sz="3294" spc="32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- </a:t>
            </a:r>
            <a:r>
              <a:rPr lang="en-US" b="true" sz="3294" i="true" spc="32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Chọn</a:t>
            </a:r>
            <a:r>
              <a:rPr lang="en-US" sz="3294" spc="32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b="true" sz="3294" i="true" spc="32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hệ</a:t>
            </a:r>
            <a:r>
              <a:rPr lang="en-US" sz="3294" spc="32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b="true" sz="3294" i="true" spc="32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tọa</a:t>
            </a:r>
            <a:r>
              <a:rPr lang="en-US" sz="3294" spc="32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b="true" sz="3294" i="true" spc="32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độ</a:t>
            </a:r>
            <a:r>
              <a:rPr lang="en-US" sz="3294" spc="32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b="true" sz="3294" i="true" spc="32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cực</a:t>
            </a:r>
            <a:r>
              <a:rPr lang="en-US" sz="3294" spc="32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b="true" sz="3294" i="true" spc="32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với điểm</a:t>
            </a:r>
            <a:r>
              <a:rPr lang="en-US" sz="3294" spc="32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M </a:t>
            </a:r>
            <a:r>
              <a:rPr lang="en-US" b="true" sz="3294" i="true" spc="32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thuộc</a:t>
            </a:r>
            <a:r>
              <a:rPr lang="en-US" sz="3294" spc="32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3294" spc="32">
                <a:solidFill>
                  <a:srgbClr val="0066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 </a:t>
            </a:r>
          </a:p>
          <a:p>
            <a:pPr algn="l">
              <a:lnSpc>
                <a:spcPts val="8040"/>
              </a:lnSpc>
            </a:pPr>
            <a:r>
              <a:rPr lang="en-US" b="true" sz="3294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được xác định bởi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3326080" y="3987846"/>
            <a:ext cx="439726" cy="614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85"/>
              </a:lnSpc>
            </a:pPr>
            <a:r>
              <a:rPr lang="en-US" sz="2648" spc="2">
                <a:solidFill>
                  <a:srgbClr val="0000FF"/>
                </a:solidFill>
                <a:latin typeface="Arimo"/>
                <a:ea typeface="Arimo"/>
                <a:cs typeface="Arimo"/>
                <a:sym typeface="Arimo"/>
              </a:rPr>
              <a:t></a:t>
            </a:r>
          </a:p>
          <a:p>
            <a:pPr algn="l">
              <a:lnSpc>
                <a:spcPts val="1396"/>
              </a:lnSpc>
            </a:pPr>
            <a:r>
              <a:rPr lang="en-US" sz="2792">
                <a:solidFill>
                  <a:srgbClr val="0000FF"/>
                </a:solidFill>
                <a:latin typeface="Arimo"/>
                <a:ea typeface="Arimo"/>
                <a:cs typeface="Arimo"/>
                <a:sym typeface="Arimo"/>
              </a:rPr>
              <a:t></a:t>
            </a:r>
            <a:r>
              <a:rPr lang="en-US" sz="2792" i="true">
                <a:solidFill>
                  <a:srgbClr val="0000FF"/>
                </a:solidFill>
                <a:latin typeface="Arimo Italics"/>
                <a:ea typeface="Arimo Italics"/>
                <a:cs typeface="Arimo Italics"/>
                <a:sym typeface="Arimo Italics"/>
              </a:rPr>
              <a:t>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3326080" y="4116338"/>
            <a:ext cx="373218" cy="1105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64"/>
              </a:lnSpc>
            </a:pPr>
            <a:r>
              <a:rPr lang="en-US" sz="2648">
                <a:solidFill>
                  <a:srgbClr val="0000FF"/>
                </a:solidFill>
                <a:latin typeface="Arimo"/>
                <a:ea typeface="Arimo"/>
                <a:cs typeface="Arimo"/>
                <a:sym typeface="Arimo"/>
              </a:rPr>
              <a:t>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2614148" y="4324350"/>
            <a:ext cx="106670" cy="861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40"/>
              </a:lnSpc>
            </a:pPr>
            <a:r>
              <a:rPr lang="en-US" sz="3294" spc="-2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9282503" y="5339453"/>
            <a:ext cx="3981783" cy="989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40"/>
              </a:lnSpc>
            </a:pPr>
            <a:r>
              <a:rPr lang="en-US" sz="3294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 </a:t>
            </a:r>
            <a:r>
              <a:rPr lang="en-US" b="true" sz="3294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Phương</a:t>
            </a:r>
            <a:r>
              <a:rPr lang="en-US" sz="3294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trình</a:t>
            </a:r>
            <a:r>
              <a:rPr lang="en-US" b="true" sz="3294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đường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5098673" y="3305708"/>
            <a:ext cx="836505" cy="625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11"/>
              </a:lnSpc>
            </a:pPr>
            <a:r>
              <a:rPr lang="en-US" b="true" sz="3294" i="true" spc="13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gốc,</a:t>
            </a:r>
            <a:r>
              <a:rPr lang="en-US" sz="3294" spc="1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81255" y="247645"/>
            <a:ext cx="13030200" cy="1771650"/>
          </a:xfrm>
          <a:custGeom>
            <a:avLst/>
            <a:gdLst/>
            <a:ahLst/>
            <a:cxnLst/>
            <a:rect r="r" b="b" t="t" l="l"/>
            <a:pathLst>
              <a:path h="1771650" w="13030200">
                <a:moveTo>
                  <a:pt x="0" y="0"/>
                </a:moveTo>
                <a:lnTo>
                  <a:pt x="13030200" y="0"/>
                </a:lnTo>
                <a:lnTo>
                  <a:pt x="13030200" y="1771650"/>
                </a:lnTo>
                <a:lnTo>
                  <a:pt x="0" y="17716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16100" y="71"/>
            <a:ext cx="1485900" cy="1464469"/>
          </a:xfrm>
          <a:custGeom>
            <a:avLst/>
            <a:gdLst/>
            <a:ahLst/>
            <a:cxnLst/>
            <a:rect r="r" b="b" t="t" l="l"/>
            <a:pathLst>
              <a:path h="1464469" w="1485900">
                <a:moveTo>
                  <a:pt x="0" y="0"/>
                </a:moveTo>
                <a:lnTo>
                  <a:pt x="1485900" y="0"/>
                </a:lnTo>
                <a:lnTo>
                  <a:pt x="1485900" y="1464469"/>
                </a:lnTo>
                <a:lnTo>
                  <a:pt x="0" y="14644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152005" y="2281099"/>
            <a:ext cx="7337703" cy="6611526"/>
          </a:xfrm>
          <a:custGeom>
            <a:avLst/>
            <a:gdLst/>
            <a:ahLst/>
            <a:cxnLst/>
            <a:rect r="r" b="b" t="t" l="l"/>
            <a:pathLst>
              <a:path h="6611526" w="7337703">
                <a:moveTo>
                  <a:pt x="0" y="0"/>
                </a:moveTo>
                <a:lnTo>
                  <a:pt x="7337702" y="0"/>
                </a:lnTo>
                <a:lnTo>
                  <a:pt x="7337702" y="6611527"/>
                </a:lnTo>
                <a:lnTo>
                  <a:pt x="0" y="66115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423160" y="9746351"/>
            <a:ext cx="2873773" cy="314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Ths. Trương Quang Trường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483460" y="9336776"/>
            <a:ext cx="3134920" cy="793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Khoa Cơ Khí – Công Nghệ Trường ĐH Nông Lâm TPHCM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129888" y="255922"/>
            <a:ext cx="10131809" cy="616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II. CÁC THÔNG S͐ HÌNH HỌC CƠ BẢN CͦA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724219" y="775916"/>
            <a:ext cx="8783041" cy="645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6"/>
              </a:lnSpc>
            </a:pPr>
            <a:r>
              <a:rPr lang="en-US" sz="3603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BÁNH</a:t>
            </a:r>
            <a:r>
              <a:rPr lang="en-US" sz="3603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3603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RĂNG</a:t>
            </a:r>
            <a:r>
              <a:rPr lang="en-US" sz="3603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3603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THÂN</a:t>
            </a:r>
            <a:r>
              <a:rPr lang="en-US" sz="3603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3603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KHAI</a:t>
            </a:r>
            <a:r>
              <a:rPr lang="en-US" sz="3603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3603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TIÊU</a:t>
            </a:r>
            <a:r>
              <a:rPr lang="en-US" sz="3603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3603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CHUẨN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059289" y="1473222"/>
            <a:ext cx="116586" cy="6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0"/>
              </a:lnSpc>
            </a:pPr>
            <a:r>
              <a:rPr lang="en-US" sz="3600">
                <a:solidFill>
                  <a:srgbClr val="FF0000"/>
                </a:solidFill>
                <a:latin typeface="Arab Times"/>
                <a:ea typeface="Arab Times"/>
                <a:cs typeface="Arab Times"/>
                <a:sym typeface="Arab Times"/>
              </a:rPr>
              <a:t>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854064" y="9864571"/>
            <a:ext cx="658711" cy="36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8"/>
              </a:lnSpc>
            </a:pPr>
            <a:r>
              <a:rPr lang="en-US" sz="2106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- 15 -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735324" y="1320822"/>
            <a:ext cx="2472009" cy="838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2"/>
              </a:lnSpc>
            </a:pPr>
            <a:r>
              <a:rPr lang="en-US" sz="3600" spc="3">
                <a:solidFill>
                  <a:srgbClr val="FF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1. Giớithiệu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931006" y="2180325"/>
            <a:ext cx="3099516" cy="726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8"/>
              </a:lnSpc>
            </a:pPr>
            <a:r>
              <a:rPr lang="en-US" sz="3603">
                <a:solidFill>
                  <a:srgbClr val="FF0000"/>
                </a:solidFill>
                <a:latin typeface="Arab Times"/>
                <a:ea typeface="Arab Times"/>
                <a:cs typeface="Arab Times"/>
                <a:sym typeface="Arab Times"/>
              </a:rPr>
              <a:t>Các vòng tròn: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651760" y="2916164"/>
            <a:ext cx="3769028" cy="1887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3600" spc="-28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- Vòng tròn </a:t>
            </a:r>
            <a:r>
              <a:rPr lang="en-US" b="true" sz="3600" i="true" spc="-28">
                <a:solidFill>
                  <a:srgbClr val="000000"/>
                </a:solidFill>
                <a:latin typeface="IBM Plex Sans Condensed Bold Italics"/>
                <a:ea typeface="IBM Plex Sans Condensed Bold Italics"/>
                <a:cs typeface="IBM Plex Sans Condensed Bold Italics"/>
                <a:sym typeface="IBM Plex Sans Condensed Bold Italics"/>
              </a:rPr>
              <a:t>lăn</a:t>
            </a:r>
            <a:r>
              <a:rPr lang="en-US" sz="3600" spc="-28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: </a:t>
            </a:r>
          </a:p>
          <a:p>
            <a:pPr algn="l">
              <a:lnSpc>
                <a:spcPts val="3967"/>
              </a:lnSpc>
            </a:pPr>
            <a:r>
              <a:rPr lang="en-US" sz="3600" spc="-28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(vòng tròn ban </a:t>
            </a:r>
            <a:r>
              <a:rPr lang="en-US" b="true" sz="3600" i="true" spc="-28">
                <a:solidFill>
                  <a:srgbClr val="000000"/>
                </a:solidFill>
                <a:latin typeface="IBM Plex Sans Condensed Bold Italics"/>
                <a:ea typeface="IBM Plex Sans Condensed Bold Italics"/>
                <a:cs typeface="IBM Plex Sans Condensed Bold Italics"/>
                <a:sym typeface="IBM Plex Sans Condensed Bold Italics"/>
              </a:rPr>
              <a:t>đầu,</a:t>
            </a:r>
            <a:r>
              <a:rPr lang="en-US" sz="3600" spc="-28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651760" y="4505320"/>
            <a:ext cx="3531627" cy="1121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92"/>
              </a:lnSpc>
            </a:pPr>
            <a:r>
              <a:rPr lang="en-US" sz="3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- </a:t>
            </a:r>
            <a:r>
              <a:rPr lang="en-US" b="true" sz="3600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Vòng tròn cơ sở: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651760" y="5804687"/>
            <a:ext cx="4304667" cy="645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71"/>
              </a:lnSpc>
            </a:pPr>
            <a:r>
              <a:rPr lang="en-US" sz="360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- </a:t>
            </a:r>
            <a:r>
              <a:rPr lang="en-US" b="true" sz="3603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Vòng tròn đỉnh răng: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910078" y="6186345"/>
            <a:ext cx="4092640" cy="1052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92"/>
              </a:lnSpc>
            </a:pPr>
            <a:r>
              <a:rPr lang="en-US" b="true" sz="3600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Vòng tròn chân răng: </a:t>
            </a:r>
          </a:p>
        </p:txBody>
      </p:sp>
      <p:sp>
        <p:nvSpPr>
          <p:cNvPr name="TextBox 17" id="17"/>
          <p:cNvSpPr txBox="true"/>
          <p:nvPr/>
        </p:nvSpPr>
        <p:spPr>
          <a:xfrm rot="-1197900">
            <a:off x="13443953" y="6925197"/>
            <a:ext cx="391892" cy="525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87"/>
              </a:lnSpc>
            </a:pPr>
            <a:r>
              <a:rPr lang="en-US" sz="3276" i="true" spc="-16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Di</a:t>
            </a:r>
          </a:p>
        </p:txBody>
      </p:sp>
      <p:sp>
        <p:nvSpPr>
          <p:cNvPr name="TextBox 18" id="18"/>
          <p:cNvSpPr txBox="true"/>
          <p:nvPr/>
        </p:nvSpPr>
        <p:spPr>
          <a:xfrm rot="-1988940">
            <a:off x="13714520" y="6211541"/>
            <a:ext cx="307496" cy="526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89"/>
              </a:lnSpc>
            </a:pPr>
            <a:r>
              <a:rPr lang="en-US" sz="3277" i="true" spc="-26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D</a:t>
            </a:r>
          </a:p>
        </p:txBody>
      </p:sp>
      <p:sp>
        <p:nvSpPr>
          <p:cNvPr name="TextBox 19" id="19"/>
          <p:cNvSpPr txBox="true"/>
          <p:nvPr/>
        </p:nvSpPr>
        <p:spPr>
          <a:xfrm rot="-2510700">
            <a:off x="14381765" y="5310779"/>
            <a:ext cx="213155" cy="526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0"/>
              </a:lnSpc>
            </a:pPr>
            <a:r>
              <a:rPr lang="en-US" sz="3278" i="true" spc="-26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h</a:t>
            </a:r>
          </a:p>
        </p:txBody>
      </p:sp>
      <p:sp>
        <p:nvSpPr>
          <p:cNvPr name="TextBox 20" id="20"/>
          <p:cNvSpPr txBox="true"/>
          <p:nvPr/>
        </p:nvSpPr>
        <p:spPr>
          <a:xfrm rot="-3092760">
            <a:off x="13015795" y="5986566"/>
            <a:ext cx="307353" cy="526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1"/>
              </a:lnSpc>
            </a:pPr>
            <a:r>
              <a:rPr lang="en-US" sz="3279" i="true" spc="-26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D</a:t>
            </a:r>
          </a:p>
        </p:txBody>
      </p:sp>
      <p:sp>
        <p:nvSpPr>
          <p:cNvPr name="TextBox 21" id="21"/>
          <p:cNvSpPr txBox="true"/>
          <p:nvPr/>
        </p:nvSpPr>
        <p:spPr>
          <a:xfrm rot="-3092760">
            <a:off x="13262255" y="5913652"/>
            <a:ext cx="132645" cy="376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7"/>
              </a:lnSpc>
            </a:pPr>
            <a:r>
              <a:rPr lang="en-US" sz="2298" i="true" spc="-18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046731" y="4021507"/>
            <a:ext cx="290122" cy="649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28"/>
              </a:lnSpc>
            </a:pPr>
            <a:r>
              <a:rPr lang="en-US" sz="3276" spc="-19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h'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435794" y="4761843"/>
            <a:ext cx="386405" cy="649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28"/>
              </a:lnSpc>
            </a:pPr>
            <a:r>
              <a:rPr lang="en-US" sz="3276" spc="-2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h"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105188" y="8387634"/>
            <a:ext cx="212598" cy="525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86"/>
              </a:lnSpc>
            </a:pPr>
            <a:r>
              <a:rPr lang="en-US" sz="3276" spc="-2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0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972714" y="3669401"/>
            <a:ext cx="410794" cy="525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86"/>
              </a:lnSpc>
            </a:pPr>
            <a:r>
              <a:rPr lang="en-US" sz="3276" spc="-19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S"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301523" y="4243730"/>
            <a:ext cx="118200" cy="525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86"/>
              </a:lnSpc>
            </a:pPr>
            <a:r>
              <a:rPr lang="en-US" sz="3276" spc="-2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</a:t>
            </a:r>
          </a:p>
        </p:txBody>
      </p:sp>
      <p:sp>
        <p:nvSpPr>
          <p:cNvPr name="TextBox 27" id="27"/>
          <p:cNvSpPr txBox="true"/>
          <p:nvPr/>
        </p:nvSpPr>
        <p:spPr>
          <a:xfrm rot="1365660">
            <a:off x="12950972" y="3886953"/>
            <a:ext cx="314296" cy="525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87"/>
              </a:lnSpc>
            </a:pPr>
            <a:r>
              <a:rPr lang="en-US" sz="3276" i="true" spc="-22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S'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651760" y="6508461"/>
            <a:ext cx="272806" cy="724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3600" spc="-2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- 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651760" y="7331435"/>
            <a:ext cx="3062940" cy="724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3600" spc="-28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- Vòngtrònchia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922965" y="6641811"/>
            <a:ext cx="812359" cy="669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spc="194">
                <a:solidFill>
                  <a:srgbClr val="0066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D, r</a:t>
            </a:r>
          </a:p>
          <a:p>
            <a:pPr algn="ctr">
              <a:lnSpc>
                <a:spcPts val="5985"/>
              </a:lnSpc>
            </a:pPr>
            <a:r>
              <a:rPr lang="en-US" sz="2394" spc="-19">
                <a:solidFill>
                  <a:srgbClr val="0066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767517" y="3625253"/>
            <a:ext cx="726562" cy="315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4"/>
              </a:lnSpc>
            </a:pPr>
            <a:r>
              <a:rPr lang="en-US" sz="3600" spc="-25">
                <a:solidFill>
                  <a:srgbClr val="0066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D, r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480749" y="3792850"/>
            <a:ext cx="77524" cy="20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19"/>
              </a:lnSpc>
            </a:pPr>
            <a:r>
              <a:rPr lang="en-US" sz="2394" spc="-19">
                <a:solidFill>
                  <a:srgbClr val="0066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346893" y="3819935"/>
            <a:ext cx="1517947" cy="943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98"/>
              </a:lnSpc>
            </a:pPr>
            <a:r>
              <a:rPr lang="en-US" sz="3600" spc="-28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r=OP) 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767517" y="5081045"/>
            <a:ext cx="880453" cy="584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1"/>
              </a:lnSpc>
            </a:pPr>
            <a:r>
              <a:rPr lang="en-US" sz="3600" spc="-28">
                <a:solidFill>
                  <a:srgbClr val="0066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D, r</a:t>
            </a:r>
          </a:p>
          <a:p>
            <a:pPr algn="ctr">
              <a:lnSpc>
                <a:spcPts val="5985"/>
              </a:lnSpc>
            </a:pPr>
            <a:r>
              <a:rPr lang="en-US" sz="2394" spc="-19">
                <a:solidFill>
                  <a:srgbClr val="0066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0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7199571" y="5834063"/>
            <a:ext cx="137689" cy="63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85"/>
              </a:lnSpc>
            </a:pPr>
            <a:r>
              <a:rPr lang="en-US" sz="2394" spc="-19">
                <a:solidFill>
                  <a:srgbClr val="0066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631625" y="5010531"/>
            <a:ext cx="233758" cy="63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85"/>
              </a:lnSpc>
            </a:pPr>
            <a:r>
              <a:rPr lang="en-US" sz="2394" spc="-9">
                <a:solidFill>
                  <a:srgbClr val="0066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0 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720779" y="5834063"/>
            <a:ext cx="215098" cy="63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85"/>
              </a:lnSpc>
            </a:pPr>
            <a:r>
              <a:rPr lang="en-US" sz="2394" spc="-19">
                <a:solidFill>
                  <a:srgbClr val="0066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 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720779" y="6657023"/>
            <a:ext cx="163806" cy="63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85"/>
              </a:lnSpc>
            </a:pPr>
            <a:r>
              <a:rPr lang="en-US" sz="2394" spc="-19">
                <a:solidFill>
                  <a:srgbClr val="0066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 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6870387" y="5818494"/>
            <a:ext cx="865937" cy="591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5"/>
              </a:lnSpc>
            </a:pPr>
            <a:r>
              <a:rPr lang="en-US" sz="3603" spc="962">
                <a:solidFill>
                  <a:srgbClr val="0066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D,r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81255" y="247645"/>
            <a:ext cx="13030200" cy="1771650"/>
          </a:xfrm>
          <a:custGeom>
            <a:avLst/>
            <a:gdLst/>
            <a:ahLst/>
            <a:cxnLst/>
            <a:rect r="r" b="b" t="t" l="l"/>
            <a:pathLst>
              <a:path h="1771650" w="13030200">
                <a:moveTo>
                  <a:pt x="0" y="0"/>
                </a:moveTo>
                <a:lnTo>
                  <a:pt x="13030200" y="0"/>
                </a:lnTo>
                <a:lnTo>
                  <a:pt x="13030200" y="1771650"/>
                </a:lnTo>
                <a:lnTo>
                  <a:pt x="0" y="17716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16100" y="71"/>
            <a:ext cx="1485900" cy="1464469"/>
          </a:xfrm>
          <a:custGeom>
            <a:avLst/>
            <a:gdLst/>
            <a:ahLst/>
            <a:cxnLst/>
            <a:rect r="r" b="b" t="t" l="l"/>
            <a:pathLst>
              <a:path h="1464469" w="1485900">
                <a:moveTo>
                  <a:pt x="0" y="0"/>
                </a:moveTo>
                <a:lnTo>
                  <a:pt x="1485900" y="0"/>
                </a:lnTo>
                <a:lnTo>
                  <a:pt x="1485900" y="1464469"/>
                </a:lnTo>
                <a:lnTo>
                  <a:pt x="0" y="14644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552055" y="2076345"/>
            <a:ext cx="7337731" cy="6611498"/>
          </a:xfrm>
          <a:custGeom>
            <a:avLst/>
            <a:gdLst/>
            <a:ahLst/>
            <a:cxnLst/>
            <a:rect r="r" b="b" t="t" l="l"/>
            <a:pathLst>
              <a:path h="6611498" w="7337731">
                <a:moveTo>
                  <a:pt x="0" y="0"/>
                </a:moveTo>
                <a:lnTo>
                  <a:pt x="7337731" y="0"/>
                </a:lnTo>
                <a:lnTo>
                  <a:pt x="7337731" y="6611498"/>
                </a:lnTo>
                <a:lnTo>
                  <a:pt x="0" y="66114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423160" y="9746351"/>
            <a:ext cx="2873773" cy="314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Ths. Trương Quang Trường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483460" y="9336776"/>
            <a:ext cx="3134920" cy="793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Khoa Cơ Khí – Công Nghệ Trường ĐH Nông Lâm TPHCM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854064" y="9864571"/>
            <a:ext cx="658711" cy="36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8"/>
              </a:lnSpc>
            </a:pPr>
            <a:r>
              <a:rPr lang="en-US" sz="2106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- 16 -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129888" y="255922"/>
            <a:ext cx="10131809" cy="616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II. CÁC THÔNG S͐ HÌNH HỌC CƠ BẢN CͦA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724219" y="775916"/>
            <a:ext cx="8783041" cy="645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6"/>
              </a:lnSpc>
            </a:pPr>
            <a:r>
              <a:rPr lang="en-US" sz="3603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BÁNH</a:t>
            </a:r>
            <a:r>
              <a:rPr lang="en-US" sz="3603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3603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RĂNG</a:t>
            </a:r>
            <a:r>
              <a:rPr lang="en-US" sz="3603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3603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THÂN</a:t>
            </a:r>
            <a:r>
              <a:rPr lang="en-US" sz="3603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3603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KHAI</a:t>
            </a:r>
            <a:r>
              <a:rPr lang="en-US" sz="3603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3603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TIÊU</a:t>
            </a:r>
            <a:r>
              <a:rPr lang="en-US" sz="3603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3603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CHUẨN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954133" y="1473222"/>
            <a:ext cx="116586" cy="6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0"/>
              </a:lnSpc>
            </a:pPr>
            <a:r>
              <a:rPr lang="en-US" sz="3600">
                <a:solidFill>
                  <a:srgbClr val="FF0000"/>
                </a:solidFill>
                <a:latin typeface="Arab Times"/>
                <a:ea typeface="Arab Times"/>
                <a:cs typeface="Arab Times"/>
                <a:sym typeface="Arab Times"/>
              </a:rPr>
              <a:t>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735324" y="1501797"/>
            <a:ext cx="2499984" cy="6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FF0000"/>
                </a:solidFill>
                <a:latin typeface="Arab Times"/>
                <a:ea typeface="Arab Times"/>
                <a:cs typeface="Arab Times"/>
                <a:sym typeface="Arab Times"/>
              </a:rPr>
              <a:t>2. Cácthông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824667" y="1501797"/>
            <a:ext cx="907499" cy="6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FF0000"/>
                </a:solidFill>
                <a:latin typeface="Arab Times"/>
                <a:ea typeface="Arab Times"/>
                <a:cs typeface="Arab Times"/>
                <a:sym typeface="Arab Times"/>
              </a:rPr>
              <a:t>hình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302888" y="1474699"/>
            <a:ext cx="415052" cy="680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spc="3">
                <a:solidFill>
                  <a:srgbClr val="FF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số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423160" y="3151484"/>
            <a:ext cx="272934" cy="525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1"/>
              </a:lnSpc>
            </a:pPr>
            <a:r>
              <a:rPr lang="en-US" sz="3603" spc="-28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-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640966" y="3151484"/>
            <a:ext cx="792899" cy="525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1"/>
              </a:lnSpc>
            </a:pPr>
            <a:r>
              <a:rPr lang="en-US" sz="3603" spc="-28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: t -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007547" y="3151484"/>
            <a:ext cx="972450" cy="525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1"/>
              </a:lnSpc>
            </a:pPr>
            <a:r>
              <a:rPr lang="en-US" sz="3603" spc="-28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cách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423174" y="3648632"/>
            <a:ext cx="6597810" cy="1713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7"/>
              </a:lnSpc>
            </a:pPr>
            <a:r>
              <a:rPr lang="en-US" sz="3600" spc="79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2 biên hình liên </a:t>
            </a:r>
            <a:r>
              <a:rPr lang="en-US" b="true" sz="3600" i="true" spc="79">
                <a:solidFill>
                  <a:srgbClr val="000000"/>
                </a:solidFill>
                <a:latin typeface="IBM Plex Sans Condensed Bold Italics"/>
                <a:ea typeface="IBM Plex Sans Condensed Bold Italics"/>
                <a:cs typeface="IBM Plex Sans Condensed Bold Italics"/>
                <a:sym typeface="IBM Plex Sans Condensed Bold Italics"/>
              </a:rPr>
              <a:t>tiếp</a:t>
            </a:r>
            <a:r>
              <a:rPr lang="en-US" sz="3600" spc="79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b="true" sz="3600" i="true" spc="79">
                <a:solidFill>
                  <a:srgbClr val="000000"/>
                </a:solidFill>
                <a:latin typeface="IBM Plex Sans Condensed Bold Italics"/>
                <a:ea typeface="IBM Plex Sans Condensed Bold Italics"/>
                <a:cs typeface="IBM Plex Sans Condensed Bold Italics"/>
                <a:sym typeface="IBM Plex Sans Condensed Bold Italics"/>
              </a:rPr>
              <a:t>của</a:t>
            </a:r>
            <a:r>
              <a:rPr lang="en-US" sz="3600" spc="79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b="true" sz="3600" i="true" spc="79">
                <a:solidFill>
                  <a:srgbClr val="000000"/>
                </a:solidFill>
                <a:latin typeface="IBM Plex Sans Condensed Bold Italics"/>
                <a:ea typeface="IBM Plex Sans Condensed Bold Italics"/>
                <a:cs typeface="IBM Plex Sans Condensed Bold Italics"/>
                <a:sym typeface="IBM Plex Sans Condensed Bold Italics"/>
              </a:rPr>
              <a:t>răng</a:t>
            </a:r>
            <a:r>
              <a:rPr lang="en-US" sz="3600" spc="79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b="true" sz="3600" i="true" spc="79">
                <a:solidFill>
                  <a:srgbClr val="000000"/>
                </a:solidFill>
                <a:latin typeface="IBM Plex Sans Condensed Bold Italics"/>
                <a:ea typeface="IBM Plex Sans Condensed Bold Italics"/>
                <a:cs typeface="IBM Plex Sans Condensed Bold Italics"/>
                <a:sym typeface="IBM Plex Sans Condensed Bold Italics"/>
              </a:rPr>
              <a:t>đo</a:t>
            </a:r>
            <a:r>
              <a:rPr lang="en-US" sz="3600" spc="79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theo vòng tròn </a:t>
            </a:r>
            <a:r>
              <a:rPr lang="en-US" b="true" sz="3600" i="true" spc="79">
                <a:solidFill>
                  <a:srgbClr val="000000"/>
                </a:solidFill>
                <a:latin typeface="IBM Plex Sans Condensed Bold Italics"/>
                <a:ea typeface="IBM Plex Sans Condensed Bold Italics"/>
                <a:cs typeface="IBM Plex Sans Condensed Bold Italics"/>
                <a:sym typeface="IBM Plex Sans Condensed Bold Italics"/>
              </a:rPr>
              <a:t>lăn</a:t>
            </a:r>
            <a:r>
              <a:rPr lang="en-US" sz="3600" spc="79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. </a:t>
            </a:r>
          </a:p>
          <a:p>
            <a:pPr algn="l">
              <a:lnSpc>
                <a:spcPts val="4327"/>
              </a:lnSpc>
            </a:pPr>
            <a:r>
              <a:rPr lang="en-US" sz="3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- </a:t>
            </a:r>
            <a:r>
              <a:rPr lang="en-US" b="true" sz="3600" i="true">
                <a:solidFill>
                  <a:srgbClr val="00B05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Mođun</a:t>
            </a:r>
            <a:r>
              <a:rPr lang="en-US" sz="3600">
                <a:solidFill>
                  <a:srgbClr val="00B05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b="true" sz="3600" i="true">
                <a:solidFill>
                  <a:srgbClr val="00B05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của</a:t>
            </a:r>
            <a:r>
              <a:rPr lang="en-US" sz="3600">
                <a:solidFill>
                  <a:srgbClr val="00B05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b="true" sz="3600" i="true">
                <a:solidFill>
                  <a:srgbClr val="00B05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răng</a:t>
            </a:r>
            <a:r>
              <a:rPr lang="en-US" sz="3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: m </a:t>
            </a:r>
            <a:r>
              <a:rPr lang="en-US" sz="3600">
                <a:solidFill>
                  <a:srgbClr val="0066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(tiêu chuẩn)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049142" y="5239041"/>
            <a:ext cx="371446" cy="580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1"/>
              </a:lnSpc>
            </a:pPr>
            <a:r>
              <a:rPr lang="en-US" sz="3603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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830507" y="1474699"/>
            <a:ext cx="2148454" cy="680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FF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học</a:t>
            </a:r>
            <a:r>
              <a:rPr lang="en-US" sz="3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3600">
                <a:solidFill>
                  <a:srgbClr val="FF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cѫ</a:t>
            </a:r>
            <a:r>
              <a:rPr lang="en-US" sz="3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3600">
                <a:solidFill>
                  <a:srgbClr val="FF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bҧn</a:t>
            </a:r>
          </a:p>
        </p:txBody>
      </p:sp>
      <p:sp>
        <p:nvSpPr>
          <p:cNvPr name="TextBox 20" id="20"/>
          <p:cNvSpPr txBox="true"/>
          <p:nvPr/>
        </p:nvSpPr>
        <p:spPr>
          <a:xfrm rot="-1197900">
            <a:off x="13844003" y="6720428"/>
            <a:ext cx="391892" cy="525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87"/>
              </a:lnSpc>
            </a:pPr>
            <a:r>
              <a:rPr lang="en-US" sz="3276" i="true" spc="-16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Di</a:t>
            </a:r>
          </a:p>
        </p:txBody>
      </p:sp>
      <p:sp>
        <p:nvSpPr>
          <p:cNvPr name="TextBox 21" id="21"/>
          <p:cNvSpPr txBox="true"/>
          <p:nvPr/>
        </p:nvSpPr>
        <p:spPr>
          <a:xfrm rot="-1988940">
            <a:off x="14114570" y="6006744"/>
            <a:ext cx="307496" cy="526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89"/>
              </a:lnSpc>
            </a:pPr>
            <a:r>
              <a:rPr lang="en-US" sz="3277" i="true" spc="-26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D</a:t>
            </a:r>
          </a:p>
        </p:txBody>
      </p:sp>
      <p:sp>
        <p:nvSpPr>
          <p:cNvPr name="TextBox 22" id="22"/>
          <p:cNvSpPr txBox="true"/>
          <p:nvPr/>
        </p:nvSpPr>
        <p:spPr>
          <a:xfrm rot="-2510700">
            <a:off x="14781815" y="5105997"/>
            <a:ext cx="213155" cy="526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0"/>
              </a:lnSpc>
            </a:pPr>
            <a:r>
              <a:rPr lang="en-US" sz="3278" i="true" spc="-26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h</a:t>
            </a:r>
          </a:p>
        </p:txBody>
      </p:sp>
      <p:sp>
        <p:nvSpPr>
          <p:cNvPr name="TextBox 23" id="23"/>
          <p:cNvSpPr txBox="true"/>
          <p:nvPr/>
        </p:nvSpPr>
        <p:spPr>
          <a:xfrm rot="-3092760">
            <a:off x="13415845" y="5781769"/>
            <a:ext cx="307353" cy="526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1"/>
              </a:lnSpc>
            </a:pPr>
            <a:r>
              <a:rPr lang="en-US" sz="3279" i="true" spc="-26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D</a:t>
            </a:r>
          </a:p>
        </p:txBody>
      </p:sp>
      <p:sp>
        <p:nvSpPr>
          <p:cNvPr name="TextBox 24" id="24"/>
          <p:cNvSpPr txBox="true"/>
          <p:nvPr/>
        </p:nvSpPr>
        <p:spPr>
          <a:xfrm rot="-3092760">
            <a:off x="13662305" y="5708854"/>
            <a:ext cx="132645" cy="376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7"/>
              </a:lnSpc>
            </a:pPr>
            <a:r>
              <a:rPr lang="en-US" sz="2298" i="true" spc="-18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446781" y="3816710"/>
            <a:ext cx="290122" cy="649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28"/>
              </a:lnSpc>
            </a:pPr>
            <a:r>
              <a:rPr lang="en-US" sz="3276" spc="-19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h'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835844" y="4557060"/>
            <a:ext cx="386405" cy="649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28"/>
              </a:lnSpc>
            </a:pPr>
            <a:r>
              <a:rPr lang="en-US" sz="3276" spc="-2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h"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505238" y="8182837"/>
            <a:ext cx="212598" cy="525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86"/>
              </a:lnSpc>
            </a:pPr>
            <a:r>
              <a:rPr lang="en-US" sz="3276" spc="-2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0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372764" y="3464647"/>
            <a:ext cx="410794" cy="525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86"/>
              </a:lnSpc>
            </a:pPr>
            <a:r>
              <a:rPr lang="en-US" sz="3276" spc="-19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S"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701573" y="4038919"/>
            <a:ext cx="118200" cy="525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86"/>
              </a:lnSpc>
            </a:pPr>
            <a:r>
              <a:rPr lang="en-US" sz="3276" spc="-2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</a:t>
            </a:r>
          </a:p>
        </p:txBody>
      </p:sp>
      <p:sp>
        <p:nvSpPr>
          <p:cNvPr name="TextBox 30" id="30"/>
          <p:cNvSpPr txBox="true"/>
          <p:nvPr/>
        </p:nvSpPr>
        <p:spPr>
          <a:xfrm rot="1365660">
            <a:off x="13351022" y="3682156"/>
            <a:ext cx="314296" cy="525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87"/>
              </a:lnSpc>
            </a:pPr>
            <a:r>
              <a:rPr lang="en-US" sz="3276" i="true" spc="-22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S'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704338" y="3000804"/>
            <a:ext cx="1977204" cy="681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5"/>
              </a:lnSpc>
            </a:pPr>
            <a:r>
              <a:rPr lang="en-US" b="true" sz="3603" i="true">
                <a:solidFill>
                  <a:srgbClr val="00B05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Bước</a:t>
            </a:r>
            <a:r>
              <a:rPr lang="en-US" b="true" sz="3603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 </a:t>
            </a:r>
            <a:r>
              <a:rPr lang="en-US" b="true" sz="3603" i="true">
                <a:solidFill>
                  <a:srgbClr val="00B05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răng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431922" y="3000804"/>
            <a:ext cx="1476527" cy="681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5"/>
              </a:lnSpc>
            </a:pPr>
            <a:r>
              <a:rPr lang="en-US" b="true" sz="3603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Khoảng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974525" y="3000804"/>
            <a:ext cx="821131" cy="681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5"/>
              </a:lnSpc>
            </a:pPr>
            <a:r>
              <a:rPr lang="en-US" b="true" sz="3603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giữa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598800" y="5838720"/>
            <a:ext cx="116586" cy="545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 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423160" y="6387360"/>
            <a:ext cx="6475638" cy="1648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spc="-28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 = 1; 1,25; 1,5; 2; 2,5; 3; 4; 5; 6; 8; 10; 12; 16; 20; 25; 32; 40; 50; 60; 80; 100 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4899284" y="5225277"/>
            <a:ext cx="1171218" cy="612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5"/>
              </a:lnSpc>
            </a:pPr>
            <a:r>
              <a:rPr lang="en-US" sz="3603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m=t/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81255" y="247645"/>
            <a:ext cx="13030200" cy="1771650"/>
          </a:xfrm>
          <a:custGeom>
            <a:avLst/>
            <a:gdLst/>
            <a:ahLst/>
            <a:cxnLst/>
            <a:rect r="r" b="b" t="t" l="l"/>
            <a:pathLst>
              <a:path h="1771650" w="13030200">
                <a:moveTo>
                  <a:pt x="0" y="0"/>
                </a:moveTo>
                <a:lnTo>
                  <a:pt x="13030200" y="0"/>
                </a:lnTo>
                <a:lnTo>
                  <a:pt x="13030200" y="1771650"/>
                </a:lnTo>
                <a:lnTo>
                  <a:pt x="0" y="17716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16100" y="71"/>
            <a:ext cx="1485900" cy="1464469"/>
          </a:xfrm>
          <a:custGeom>
            <a:avLst/>
            <a:gdLst/>
            <a:ahLst/>
            <a:cxnLst/>
            <a:rect r="r" b="b" t="t" l="l"/>
            <a:pathLst>
              <a:path h="1464469" w="1485900">
                <a:moveTo>
                  <a:pt x="0" y="0"/>
                </a:moveTo>
                <a:lnTo>
                  <a:pt x="1485900" y="0"/>
                </a:lnTo>
                <a:lnTo>
                  <a:pt x="1485900" y="1464469"/>
                </a:lnTo>
                <a:lnTo>
                  <a:pt x="0" y="14644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086100" y="6945354"/>
            <a:ext cx="1722387" cy="739678"/>
          </a:xfrm>
          <a:custGeom>
            <a:avLst/>
            <a:gdLst/>
            <a:ahLst/>
            <a:cxnLst/>
            <a:rect r="r" b="b" t="t" l="l"/>
            <a:pathLst>
              <a:path h="739678" w="1722387">
                <a:moveTo>
                  <a:pt x="0" y="0"/>
                </a:moveTo>
                <a:lnTo>
                  <a:pt x="1722387" y="0"/>
                </a:lnTo>
                <a:lnTo>
                  <a:pt x="1722387" y="739678"/>
                </a:lnTo>
                <a:lnTo>
                  <a:pt x="0" y="7396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780655" y="2071873"/>
            <a:ext cx="7316600" cy="6615970"/>
          </a:xfrm>
          <a:custGeom>
            <a:avLst/>
            <a:gdLst/>
            <a:ahLst/>
            <a:cxnLst/>
            <a:rect r="r" b="b" t="t" l="l"/>
            <a:pathLst>
              <a:path h="6615970" w="7316600">
                <a:moveTo>
                  <a:pt x="0" y="0"/>
                </a:moveTo>
                <a:lnTo>
                  <a:pt x="7316600" y="0"/>
                </a:lnTo>
                <a:lnTo>
                  <a:pt x="7316600" y="6615970"/>
                </a:lnTo>
                <a:lnTo>
                  <a:pt x="0" y="661597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423160" y="9746351"/>
            <a:ext cx="2873773" cy="314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Ths. Trương Quang Trường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483460" y="9336776"/>
            <a:ext cx="3134920" cy="793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Khoa Cơ Khí – Công Nghệ Trường ĐH Nông Lâm TPHCM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854064" y="9864571"/>
            <a:ext cx="658711" cy="36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8"/>
              </a:lnSpc>
            </a:pPr>
            <a:r>
              <a:rPr lang="en-US" sz="2106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- 17 -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129888" y="255922"/>
            <a:ext cx="10131809" cy="616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II. CÁC THÔNG S͐ HÌNH HỌC CƠ BẢN CͦA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724219" y="775916"/>
            <a:ext cx="8783041" cy="645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6"/>
              </a:lnSpc>
            </a:pPr>
            <a:r>
              <a:rPr lang="en-US" sz="3603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BÁNH</a:t>
            </a:r>
            <a:r>
              <a:rPr lang="en-US" sz="3603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3603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RĂNG</a:t>
            </a:r>
            <a:r>
              <a:rPr lang="en-US" sz="3603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3603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THÂN</a:t>
            </a:r>
            <a:r>
              <a:rPr lang="en-US" sz="3603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3603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KHAI</a:t>
            </a:r>
            <a:r>
              <a:rPr lang="en-US" sz="3603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3603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TIÊU</a:t>
            </a:r>
            <a:r>
              <a:rPr lang="en-US" sz="3603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3603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CHUẨN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954133" y="1473222"/>
            <a:ext cx="116586" cy="6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0"/>
              </a:lnSpc>
            </a:pPr>
            <a:r>
              <a:rPr lang="en-US" sz="3600">
                <a:solidFill>
                  <a:srgbClr val="FF0000"/>
                </a:solidFill>
                <a:latin typeface="Arab Times"/>
                <a:ea typeface="Arab Times"/>
                <a:cs typeface="Arab Times"/>
                <a:sym typeface="Arab Times"/>
              </a:rPr>
              <a:t>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735324" y="1196997"/>
            <a:ext cx="6325533" cy="962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44"/>
              </a:lnSpc>
            </a:pPr>
            <a:r>
              <a:rPr lang="en-US" sz="3600">
                <a:solidFill>
                  <a:srgbClr val="FF0000"/>
                </a:solidFill>
                <a:latin typeface="Arab Times"/>
                <a:ea typeface="Arab Times"/>
                <a:cs typeface="Arab Times"/>
                <a:sym typeface="Arab Times"/>
              </a:rPr>
              <a:t>2. Cácthôngsốhìnhhọccѫbҧn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423160" y="2249029"/>
            <a:ext cx="3341746" cy="988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44"/>
              </a:lnSpc>
            </a:pPr>
            <a:r>
              <a:rPr lang="en-US" sz="360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- </a:t>
            </a:r>
            <a:r>
              <a:rPr lang="en-US" b="true" sz="3600" i="true">
                <a:solidFill>
                  <a:srgbClr val="00B050"/>
                </a:solidFill>
                <a:latin typeface="IBM Plex Sans Condensed Bold Italics"/>
                <a:ea typeface="IBM Plex Sans Condensed Bold Italics"/>
                <a:cs typeface="IBM Plex Sans Condensed Bold Italics"/>
                <a:sym typeface="IBM Plex Sans Condensed Bold Italics"/>
              </a:rPr>
              <a:t>Chiều</a:t>
            </a:r>
            <a:r>
              <a:rPr lang="en-US" sz="3600">
                <a:solidFill>
                  <a:srgbClr val="00B05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cao </a:t>
            </a:r>
            <a:r>
              <a:rPr lang="en-US" b="true" sz="3600" i="true">
                <a:solidFill>
                  <a:srgbClr val="00B050"/>
                </a:solidFill>
                <a:latin typeface="IBM Plex Sans Condensed Bold Italics"/>
                <a:ea typeface="IBM Plex Sans Condensed Bold Italics"/>
                <a:cs typeface="IBM Plex Sans Condensed Bold Italics"/>
                <a:sym typeface="IBM Plex Sans Condensed Bold Italics"/>
              </a:rPr>
              <a:t>răng</a:t>
            </a:r>
            <a:r>
              <a:rPr lang="en-US" sz="360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: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433572" y="3340594"/>
            <a:ext cx="6098819" cy="3189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3600" spc="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+ </a:t>
            </a:r>
            <a:r>
              <a:rPr lang="en-US" b="true" sz="3600" i="true" spc="3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Chiều</a:t>
            </a:r>
            <a:r>
              <a:rPr lang="en-US" sz="3600" spc="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cao </a:t>
            </a:r>
            <a:r>
              <a:rPr lang="en-US" b="true" sz="3600" i="true" spc="3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đầu</a:t>
            </a:r>
            <a:r>
              <a:rPr lang="en-US" sz="3600" spc="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b="true" sz="3600" i="true" spc="3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răng</a:t>
            </a:r>
            <a:r>
              <a:rPr lang="en-US" sz="3600" spc="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: </a:t>
            </a:r>
            <a:r>
              <a:rPr lang="en-US" b="true" sz="3600" i="true" spc="3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h’=f’</a:t>
            </a:r>
            <a:r>
              <a:rPr lang="en-US" sz="3600" spc="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.m </a:t>
            </a:r>
          </a:p>
          <a:p>
            <a:pPr algn="l">
              <a:lnSpc>
                <a:spcPts val="6840"/>
              </a:lnSpc>
            </a:pPr>
            <a:r>
              <a:rPr lang="en-US" sz="3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(f’ă=ă1ăđ/văBRătiêuăchuẩn;ă </a:t>
            </a:r>
          </a:p>
          <a:p>
            <a:pPr algn="l">
              <a:lnSpc>
                <a:spcPts val="1807"/>
              </a:lnSpc>
            </a:pPr>
            <a:r>
              <a:rPr lang="en-US" sz="3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f’ă=ă0,85ăđ/văBRădịchăchỉnh) </a:t>
            </a:r>
          </a:p>
          <a:p>
            <a:pPr algn="l">
              <a:lnSpc>
                <a:spcPts val="6832"/>
              </a:lnSpc>
            </a:pPr>
            <a:r>
              <a:rPr lang="en-US" b="true" sz="3600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+ Chiều cao chân răng: h”=f”.m</a:t>
            </a:r>
            <a:r>
              <a:rPr lang="en-US" sz="3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</a:p>
          <a:p>
            <a:pPr algn="l">
              <a:lnSpc>
                <a:spcPts val="1807"/>
              </a:lnSpc>
            </a:pPr>
            <a:r>
              <a:rPr lang="en-US" sz="3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(f”=ă1,25ăđ/văBRătiêuăchuẩn;ă </a:t>
            </a:r>
          </a:p>
          <a:p>
            <a:pPr algn="l">
              <a:lnSpc>
                <a:spcPts val="5045"/>
              </a:lnSpc>
            </a:pPr>
            <a:r>
              <a:rPr lang="en-US" sz="360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f”ă=ă1ăđ/văBRădịchăchỉnh)</a:t>
            </a:r>
          </a:p>
        </p:txBody>
      </p:sp>
      <p:sp>
        <p:nvSpPr>
          <p:cNvPr name="TextBox 15" id="15"/>
          <p:cNvSpPr txBox="true"/>
          <p:nvPr/>
        </p:nvSpPr>
        <p:spPr>
          <a:xfrm rot="-1197900">
            <a:off x="14072603" y="6720428"/>
            <a:ext cx="391892" cy="525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87"/>
              </a:lnSpc>
            </a:pPr>
            <a:r>
              <a:rPr lang="en-US" sz="3276" i="true" spc="-16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Di</a:t>
            </a:r>
          </a:p>
        </p:txBody>
      </p:sp>
      <p:sp>
        <p:nvSpPr>
          <p:cNvPr name="TextBox 16" id="16"/>
          <p:cNvSpPr txBox="true"/>
          <p:nvPr/>
        </p:nvSpPr>
        <p:spPr>
          <a:xfrm rot="-1988940">
            <a:off x="14343170" y="6006744"/>
            <a:ext cx="307496" cy="526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89"/>
              </a:lnSpc>
            </a:pPr>
            <a:r>
              <a:rPr lang="en-US" sz="3277" i="true" spc="-26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D</a:t>
            </a:r>
          </a:p>
        </p:txBody>
      </p:sp>
      <p:sp>
        <p:nvSpPr>
          <p:cNvPr name="TextBox 17" id="17"/>
          <p:cNvSpPr txBox="true"/>
          <p:nvPr/>
        </p:nvSpPr>
        <p:spPr>
          <a:xfrm rot="-2510700">
            <a:off x="15010415" y="5105997"/>
            <a:ext cx="213155" cy="526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0"/>
              </a:lnSpc>
            </a:pPr>
            <a:r>
              <a:rPr lang="en-US" sz="3278" i="true" spc="-26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h</a:t>
            </a:r>
          </a:p>
        </p:txBody>
      </p:sp>
      <p:sp>
        <p:nvSpPr>
          <p:cNvPr name="TextBox 18" id="18"/>
          <p:cNvSpPr txBox="true"/>
          <p:nvPr/>
        </p:nvSpPr>
        <p:spPr>
          <a:xfrm rot="-3092760">
            <a:off x="13644445" y="5781769"/>
            <a:ext cx="307353" cy="526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1"/>
              </a:lnSpc>
            </a:pPr>
            <a:r>
              <a:rPr lang="en-US" sz="3279" i="true" spc="-26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D</a:t>
            </a:r>
          </a:p>
        </p:txBody>
      </p:sp>
      <p:sp>
        <p:nvSpPr>
          <p:cNvPr name="TextBox 19" id="19"/>
          <p:cNvSpPr txBox="true"/>
          <p:nvPr/>
        </p:nvSpPr>
        <p:spPr>
          <a:xfrm rot="-3092760">
            <a:off x="13890905" y="5708854"/>
            <a:ext cx="132645" cy="376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7"/>
              </a:lnSpc>
            </a:pPr>
            <a:r>
              <a:rPr lang="en-US" sz="2298" i="true" spc="-18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675381" y="3816710"/>
            <a:ext cx="290122" cy="649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28"/>
              </a:lnSpc>
            </a:pPr>
            <a:r>
              <a:rPr lang="en-US" sz="3276" spc="-19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h'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064444" y="4557060"/>
            <a:ext cx="386405" cy="649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28"/>
              </a:lnSpc>
            </a:pPr>
            <a:r>
              <a:rPr lang="en-US" sz="3276" spc="-2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h"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733838" y="8182837"/>
            <a:ext cx="212598" cy="525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86"/>
              </a:lnSpc>
            </a:pPr>
            <a:r>
              <a:rPr lang="en-US" sz="3276" spc="-2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0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601364" y="3464647"/>
            <a:ext cx="410794" cy="525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86"/>
              </a:lnSpc>
            </a:pPr>
            <a:r>
              <a:rPr lang="en-US" sz="3276" spc="-19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S"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930173" y="4038919"/>
            <a:ext cx="118200" cy="525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86"/>
              </a:lnSpc>
            </a:pPr>
            <a:r>
              <a:rPr lang="en-US" sz="3276" spc="-2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</a:t>
            </a:r>
          </a:p>
        </p:txBody>
      </p:sp>
      <p:sp>
        <p:nvSpPr>
          <p:cNvPr name="TextBox 25" id="25"/>
          <p:cNvSpPr txBox="true"/>
          <p:nvPr/>
        </p:nvSpPr>
        <p:spPr>
          <a:xfrm rot="1365660">
            <a:off x="13579622" y="3682156"/>
            <a:ext cx="314296" cy="525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87"/>
              </a:lnSpc>
            </a:pPr>
            <a:r>
              <a:rPr lang="en-US" sz="3276" i="true" spc="-22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S'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808890" y="6492007"/>
            <a:ext cx="831647" cy="696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6"/>
              </a:lnSpc>
            </a:pPr>
            <a:r>
              <a:rPr lang="en-US" sz="3534" spc="2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2,25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759984" y="7167005"/>
            <a:ext cx="774540" cy="696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6"/>
              </a:lnSpc>
            </a:pPr>
            <a:r>
              <a:rPr lang="en-US" sz="3534" spc="-28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1,85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295719" y="6871687"/>
            <a:ext cx="232172" cy="611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48"/>
              </a:lnSpc>
            </a:pPr>
            <a:r>
              <a:rPr lang="en-US" sz="3534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h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975375" y="6871687"/>
            <a:ext cx="333399" cy="611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48"/>
              </a:lnSpc>
            </a:pPr>
            <a:r>
              <a:rPr lang="en-US" sz="3534" spc="14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h'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677363" y="6871687"/>
            <a:ext cx="422553" cy="611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48"/>
              </a:lnSpc>
            </a:pPr>
            <a:r>
              <a:rPr lang="en-US" sz="3534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h"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8621935" y="6503260"/>
            <a:ext cx="335256" cy="649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6"/>
              </a:lnSpc>
            </a:pPr>
            <a:r>
              <a:rPr lang="en-US" sz="3534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m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516307" y="7178245"/>
            <a:ext cx="335256" cy="649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6"/>
              </a:lnSpc>
            </a:pPr>
            <a:r>
              <a:rPr lang="en-US" sz="3534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m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624874" y="6828944"/>
            <a:ext cx="254918" cy="636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48"/>
              </a:lnSpc>
            </a:pPr>
            <a:r>
              <a:rPr lang="en-US" sz="353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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345965" y="6828944"/>
            <a:ext cx="254918" cy="636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48"/>
              </a:lnSpc>
            </a:pPr>
            <a:r>
              <a:rPr lang="en-US" sz="353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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7223203" y="6746619"/>
            <a:ext cx="587816" cy="796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34"/>
              </a:lnSpc>
            </a:pPr>
            <a:r>
              <a:rPr lang="en-US" sz="353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 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574604" y="7466281"/>
            <a:ext cx="229386" cy="436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4"/>
              </a:lnSpc>
            </a:pPr>
            <a:r>
              <a:rPr lang="en-US" sz="353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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81255" y="247645"/>
            <a:ext cx="13030200" cy="1771650"/>
          </a:xfrm>
          <a:custGeom>
            <a:avLst/>
            <a:gdLst/>
            <a:ahLst/>
            <a:cxnLst/>
            <a:rect r="r" b="b" t="t" l="l"/>
            <a:pathLst>
              <a:path h="1771650" w="13030200">
                <a:moveTo>
                  <a:pt x="0" y="0"/>
                </a:moveTo>
                <a:lnTo>
                  <a:pt x="13030200" y="0"/>
                </a:lnTo>
                <a:lnTo>
                  <a:pt x="13030200" y="1771650"/>
                </a:lnTo>
                <a:lnTo>
                  <a:pt x="0" y="17716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16100" y="71"/>
            <a:ext cx="1485900" cy="1464469"/>
          </a:xfrm>
          <a:custGeom>
            <a:avLst/>
            <a:gdLst/>
            <a:ahLst/>
            <a:cxnLst/>
            <a:rect r="r" b="b" t="t" l="l"/>
            <a:pathLst>
              <a:path h="1464469" w="1485900">
                <a:moveTo>
                  <a:pt x="0" y="0"/>
                </a:moveTo>
                <a:lnTo>
                  <a:pt x="1485900" y="0"/>
                </a:lnTo>
                <a:lnTo>
                  <a:pt x="1485900" y="1464469"/>
                </a:lnTo>
                <a:lnTo>
                  <a:pt x="0" y="14644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780655" y="2071873"/>
            <a:ext cx="7316600" cy="6615970"/>
          </a:xfrm>
          <a:custGeom>
            <a:avLst/>
            <a:gdLst/>
            <a:ahLst/>
            <a:cxnLst/>
            <a:rect r="r" b="b" t="t" l="l"/>
            <a:pathLst>
              <a:path h="6615970" w="7316600">
                <a:moveTo>
                  <a:pt x="0" y="0"/>
                </a:moveTo>
                <a:lnTo>
                  <a:pt x="7316600" y="0"/>
                </a:lnTo>
                <a:lnTo>
                  <a:pt x="7316600" y="6615970"/>
                </a:lnTo>
                <a:lnTo>
                  <a:pt x="0" y="66159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423160" y="9746351"/>
            <a:ext cx="2873773" cy="314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Ths. Trương Quang Trường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483460" y="9336776"/>
            <a:ext cx="3134920" cy="793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Khoa Cơ Khí – Công Nghệ Trường ĐH Nông Lâm TPHCM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854064" y="9864571"/>
            <a:ext cx="658711" cy="36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8"/>
              </a:lnSpc>
            </a:pPr>
            <a:r>
              <a:rPr lang="en-US" sz="2106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- 18 -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129888" y="255922"/>
            <a:ext cx="10131809" cy="616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II. CÁC THÔNG S͐ HÌNH HỌC CƠ BẢN CͦA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724219" y="775916"/>
            <a:ext cx="8783041" cy="645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6"/>
              </a:lnSpc>
            </a:pPr>
            <a:r>
              <a:rPr lang="en-US" sz="3603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BÁNH</a:t>
            </a:r>
            <a:r>
              <a:rPr lang="en-US" sz="3603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3603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RĂNG</a:t>
            </a:r>
            <a:r>
              <a:rPr lang="en-US" sz="3603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3603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THÂN</a:t>
            </a:r>
            <a:r>
              <a:rPr lang="en-US" sz="3603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3603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KHAI</a:t>
            </a:r>
            <a:r>
              <a:rPr lang="en-US" sz="3603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3603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TIÊU</a:t>
            </a:r>
            <a:r>
              <a:rPr lang="en-US" sz="3603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3603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CHUẨN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954133" y="1473222"/>
            <a:ext cx="116586" cy="6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0"/>
              </a:lnSpc>
            </a:pPr>
            <a:r>
              <a:rPr lang="en-US" sz="3600">
                <a:solidFill>
                  <a:srgbClr val="FF0000"/>
                </a:solidFill>
                <a:latin typeface="Arab Times"/>
                <a:ea typeface="Arab Times"/>
                <a:cs typeface="Arab Times"/>
                <a:sym typeface="Arab Times"/>
              </a:rPr>
              <a:t>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735324" y="1501797"/>
            <a:ext cx="2499984" cy="6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FF0000"/>
                </a:solidFill>
                <a:latin typeface="Arab Times"/>
                <a:ea typeface="Arab Times"/>
                <a:cs typeface="Arab Times"/>
                <a:sym typeface="Arab Times"/>
              </a:rPr>
              <a:t>2. Cácthông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824667" y="1501797"/>
            <a:ext cx="907499" cy="6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FF0000"/>
                </a:solidFill>
                <a:latin typeface="Arab Times"/>
                <a:ea typeface="Arab Times"/>
                <a:cs typeface="Arab Times"/>
                <a:sym typeface="Arab Times"/>
              </a:rPr>
              <a:t>hình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423160" y="2680197"/>
            <a:ext cx="1573454" cy="1113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4"/>
              </a:lnSpc>
            </a:pPr>
            <a:r>
              <a:rPr lang="en-US" sz="3603" spc="-2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- </a:t>
            </a:r>
          </a:p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- </a:t>
            </a:r>
            <a:r>
              <a:rPr lang="en-US" b="true" sz="3600" i="true">
                <a:solidFill>
                  <a:srgbClr val="00B05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Đường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101555" y="2680197"/>
            <a:ext cx="129773" cy="525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4"/>
              </a:lnSpc>
            </a:pPr>
            <a:r>
              <a:rPr lang="en-US" sz="3603" spc="-2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: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423160" y="3720941"/>
            <a:ext cx="116586" cy="545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302888" y="1474699"/>
            <a:ext cx="415052" cy="680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spc="3">
                <a:solidFill>
                  <a:srgbClr val="FF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số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830507" y="1474699"/>
            <a:ext cx="2148454" cy="680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FF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học</a:t>
            </a:r>
            <a:r>
              <a:rPr lang="en-US" sz="3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3600">
                <a:solidFill>
                  <a:srgbClr val="FF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cѫ</a:t>
            </a:r>
            <a:r>
              <a:rPr lang="en-US" sz="3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3600">
                <a:solidFill>
                  <a:srgbClr val="FF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bҧn</a:t>
            </a:r>
          </a:p>
        </p:txBody>
      </p:sp>
      <p:sp>
        <p:nvSpPr>
          <p:cNvPr name="TextBox 18" id="18"/>
          <p:cNvSpPr txBox="true"/>
          <p:nvPr/>
        </p:nvSpPr>
        <p:spPr>
          <a:xfrm rot="-1197900">
            <a:off x="14072603" y="6720428"/>
            <a:ext cx="391892" cy="525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87"/>
              </a:lnSpc>
            </a:pPr>
            <a:r>
              <a:rPr lang="en-US" sz="3276" i="true" spc="-16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Di</a:t>
            </a:r>
          </a:p>
        </p:txBody>
      </p:sp>
      <p:sp>
        <p:nvSpPr>
          <p:cNvPr name="TextBox 19" id="19"/>
          <p:cNvSpPr txBox="true"/>
          <p:nvPr/>
        </p:nvSpPr>
        <p:spPr>
          <a:xfrm rot="-1988940">
            <a:off x="14343170" y="6006744"/>
            <a:ext cx="307496" cy="526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89"/>
              </a:lnSpc>
            </a:pPr>
            <a:r>
              <a:rPr lang="en-US" sz="3277" i="true" spc="-26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D</a:t>
            </a:r>
          </a:p>
        </p:txBody>
      </p:sp>
      <p:sp>
        <p:nvSpPr>
          <p:cNvPr name="TextBox 20" id="20"/>
          <p:cNvSpPr txBox="true"/>
          <p:nvPr/>
        </p:nvSpPr>
        <p:spPr>
          <a:xfrm rot="-2510700">
            <a:off x="15010415" y="5105997"/>
            <a:ext cx="213155" cy="526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0"/>
              </a:lnSpc>
            </a:pPr>
            <a:r>
              <a:rPr lang="en-US" sz="3278" i="true" spc="-26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h</a:t>
            </a:r>
          </a:p>
        </p:txBody>
      </p:sp>
      <p:sp>
        <p:nvSpPr>
          <p:cNvPr name="TextBox 21" id="21"/>
          <p:cNvSpPr txBox="true"/>
          <p:nvPr/>
        </p:nvSpPr>
        <p:spPr>
          <a:xfrm rot="-3092760">
            <a:off x="13644445" y="5781769"/>
            <a:ext cx="307353" cy="526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1"/>
              </a:lnSpc>
            </a:pPr>
            <a:r>
              <a:rPr lang="en-US" sz="3279" i="true" spc="-26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D</a:t>
            </a:r>
          </a:p>
        </p:txBody>
      </p:sp>
      <p:sp>
        <p:nvSpPr>
          <p:cNvPr name="TextBox 22" id="22"/>
          <p:cNvSpPr txBox="true"/>
          <p:nvPr/>
        </p:nvSpPr>
        <p:spPr>
          <a:xfrm rot="-3092760">
            <a:off x="13890905" y="5708854"/>
            <a:ext cx="132645" cy="376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7"/>
              </a:lnSpc>
            </a:pPr>
            <a:r>
              <a:rPr lang="en-US" sz="2298" i="true" spc="-18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675381" y="3816710"/>
            <a:ext cx="290122" cy="649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28"/>
              </a:lnSpc>
            </a:pPr>
            <a:r>
              <a:rPr lang="en-US" sz="3276" spc="-19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h'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064444" y="4557060"/>
            <a:ext cx="386405" cy="649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28"/>
              </a:lnSpc>
            </a:pPr>
            <a:r>
              <a:rPr lang="en-US" sz="3276" spc="-2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h"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733838" y="8182837"/>
            <a:ext cx="212598" cy="525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86"/>
              </a:lnSpc>
            </a:pPr>
            <a:r>
              <a:rPr lang="en-US" sz="3276" spc="-2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0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601364" y="3464647"/>
            <a:ext cx="410794" cy="525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86"/>
              </a:lnSpc>
            </a:pPr>
            <a:r>
              <a:rPr lang="en-US" sz="3276" spc="-19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S"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930173" y="4038919"/>
            <a:ext cx="118200" cy="525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86"/>
              </a:lnSpc>
            </a:pPr>
            <a:r>
              <a:rPr lang="en-US" sz="3276" spc="-2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</a:t>
            </a:r>
          </a:p>
        </p:txBody>
      </p:sp>
      <p:sp>
        <p:nvSpPr>
          <p:cNvPr name="TextBox 28" id="28"/>
          <p:cNvSpPr txBox="true"/>
          <p:nvPr/>
        </p:nvSpPr>
        <p:spPr>
          <a:xfrm rot="1365660">
            <a:off x="13579622" y="3682156"/>
            <a:ext cx="314296" cy="525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87"/>
              </a:lnSpc>
            </a:pPr>
            <a:r>
              <a:rPr lang="en-US" sz="3276" i="true" spc="-22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S'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690622" y="2529502"/>
            <a:ext cx="1438108" cy="681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5"/>
              </a:lnSpc>
            </a:pPr>
            <a:r>
              <a:rPr lang="en-US" b="true" sz="3603" i="true">
                <a:solidFill>
                  <a:srgbClr val="00B05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Số</a:t>
            </a:r>
            <a:r>
              <a:rPr lang="en-US" b="true" sz="3603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 </a:t>
            </a:r>
            <a:r>
              <a:rPr lang="en-US" b="true" sz="3603" i="true">
                <a:solidFill>
                  <a:srgbClr val="00B05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răng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166746" y="2689722"/>
            <a:ext cx="401179" cy="515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63"/>
              </a:lnSpc>
            </a:pPr>
            <a:r>
              <a:rPr lang="en-US" sz="3603" spc="-28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Z 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083267" y="3238719"/>
            <a:ext cx="1077163" cy="515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8"/>
              </a:lnSpc>
            </a:pPr>
            <a:r>
              <a:rPr lang="en-US" sz="3600" spc="-25">
                <a:solidFill>
                  <a:srgbClr val="00B05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kính</a:t>
            </a:r>
            <a:r>
              <a:rPr lang="en-US" sz="3600" spc="-2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: 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3433572" y="3735510"/>
            <a:ext cx="3211759" cy="607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8"/>
              </a:lnSpc>
            </a:pPr>
            <a:r>
              <a:rPr lang="en-US" sz="3600" spc="-28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+ Vòng tròn </a:t>
            </a:r>
            <a:r>
              <a:rPr lang="en-US" b="true" sz="3600" i="true" spc="-28">
                <a:solidFill>
                  <a:srgbClr val="000000"/>
                </a:solidFill>
                <a:latin typeface="IBM Plex Sans Condensed Bold Italics"/>
                <a:ea typeface="IBM Plex Sans Condensed Bold Italics"/>
                <a:cs typeface="IBM Plex Sans Condensed Bold Italics"/>
                <a:sym typeface="IBM Plex Sans Condensed Bold Italics"/>
              </a:rPr>
              <a:t>lăn</a:t>
            </a:r>
            <a:r>
              <a:rPr lang="en-US" sz="3600" spc="-28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: 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4155048" y="4238277"/>
            <a:ext cx="3611394" cy="110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9"/>
              </a:lnSpc>
            </a:pPr>
            <a:r>
              <a:rPr lang="en-US" sz="3794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Chu vi Zt = </a:t>
            </a:r>
            <a:r>
              <a:rPr lang="en-US" sz="3794" i="true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</a:t>
            </a:r>
            <a:r>
              <a:rPr lang="en-US" sz="3794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D </a:t>
            </a:r>
          </a:p>
          <a:p>
            <a:pPr algn="ctr">
              <a:lnSpc>
                <a:spcPts val="4489"/>
              </a:lnSpc>
            </a:pPr>
            <a:r>
              <a:rPr lang="en-US" sz="3794" i="true" spc="-30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</a:t>
            </a:r>
            <a:r>
              <a:rPr lang="en-US" sz="3794" spc="-3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D = Z.t/ = mZ 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3433572" y="5349673"/>
            <a:ext cx="4414923" cy="604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8"/>
              </a:lnSpc>
            </a:pPr>
            <a:r>
              <a:rPr lang="en-US" b="true" sz="3600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+ Vòng tròn đỉnh răng:</a:t>
            </a:r>
            <a:r>
              <a:rPr lang="en-US" sz="3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4695830" y="5982305"/>
            <a:ext cx="336699" cy="515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8"/>
              </a:lnSpc>
            </a:pPr>
            <a:r>
              <a:rPr lang="en-US" sz="3600" spc="-28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5025014" y="6092381"/>
            <a:ext cx="2208719" cy="483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3600" spc="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 </a:t>
            </a:r>
            <a:r>
              <a:rPr lang="en-US" b="true" sz="3600" i="true" spc="3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= D + 2h’</a:t>
            </a:r>
            <a:r>
              <a:rPr lang="en-US" sz="3600" spc="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3433572" y="6370939"/>
            <a:ext cx="4466330" cy="681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81"/>
              </a:lnSpc>
            </a:pPr>
            <a:r>
              <a:rPr lang="en-US" b="true" sz="3603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+ Vòng tròn chân răng:</a:t>
            </a:r>
            <a:r>
              <a:rPr lang="en-US" sz="360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4709546" y="7146831"/>
            <a:ext cx="336699" cy="448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4"/>
              </a:lnSpc>
            </a:pPr>
            <a:r>
              <a:rPr lang="en-US" sz="3600" spc="-28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5038730" y="7256907"/>
            <a:ext cx="2180744" cy="416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3600" spc="-2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 = D </a:t>
            </a:r>
            <a:r>
              <a:rPr lang="en-US" b="true" sz="3600" i="true" spc="-25">
                <a:solidFill>
                  <a:srgbClr val="000000"/>
                </a:solidFill>
                <a:latin typeface="IBM Plex Sans Condensed Bold Italics"/>
                <a:ea typeface="IBM Plex Sans Condensed Bold Italics"/>
                <a:cs typeface="IBM Plex Sans Condensed Bold Italics"/>
                <a:sym typeface="IBM Plex Sans Condensed Bold Italics"/>
              </a:rPr>
              <a:t>–</a:t>
            </a:r>
            <a:r>
              <a:rPr lang="en-US" sz="3600" spc="-2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b="true" sz="3600" i="true" spc="-25">
                <a:solidFill>
                  <a:srgbClr val="000000"/>
                </a:solidFill>
                <a:latin typeface="IBM Plex Sans Condensed Bold Italics"/>
                <a:ea typeface="IBM Plex Sans Condensed Bold Italics"/>
                <a:cs typeface="IBM Plex Sans Condensed Bold Italics"/>
                <a:sym typeface="IBM Plex Sans Condensed Bold Italics"/>
              </a:rPr>
              <a:t>2h”</a:t>
            </a:r>
            <a:r>
              <a:rPr lang="en-US" sz="3600" spc="-2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3433572" y="7468605"/>
            <a:ext cx="3636555" cy="680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76"/>
              </a:lnSpc>
            </a:pPr>
            <a:r>
              <a:rPr lang="en-US" b="true" sz="3600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+ Vòng tròn cơ sở: 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4730120" y="8236787"/>
            <a:ext cx="336699" cy="457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600" spc="-28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5059304" y="8262804"/>
            <a:ext cx="2138767" cy="510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3600" spc="-28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0 = D.cos 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81255" y="247645"/>
            <a:ext cx="13030200" cy="1771650"/>
          </a:xfrm>
          <a:custGeom>
            <a:avLst/>
            <a:gdLst/>
            <a:ahLst/>
            <a:cxnLst/>
            <a:rect r="r" b="b" t="t" l="l"/>
            <a:pathLst>
              <a:path h="1771650" w="13030200">
                <a:moveTo>
                  <a:pt x="0" y="0"/>
                </a:moveTo>
                <a:lnTo>
                  <a:pt x="13030200" y="0"/>
                </a:lnTo>
                <a:lnTo>
                  <a:pt x="13030200" y="1771650"/>
                </a:lnTo>
                <a:lnTo>
                  <a:pt x="0" y="17716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16100" y="71"/>
            <a:ext cx="1485900" cy="1464469"/>
          </a:xfrm>
          <a:custGeom>
            <a:avLst/>
            <a:gdLst/>
            <a:ahLst/>
            <a:cxnLst/>
            <a:rect r="r" b="b" t="t" l="l"/>
            <a:pathLst>
              <a:path h="1464469" w="1485900">
                <a:moveTo>
                  <a:pt x="0" y="0"/>
                </a:moveTo>
                <a:lnTo>
                  <a:pt x="1485900" y="0"/>
                </a:lnTo>
                <a:lnTo>
                  <a:pt x="1485900" y="1464469"/>
                </a:lnTo>
                <a:lnTo>
                  <a:pt x="0" y="14644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915400" y="2052642"/>
            <a:ext cx="7086600" cy="8234358"/>
          </a:xfrm>
          <a:custGeom>
            <a:avLst/>
            <a:gdLst/>
            <a:ahLst/>
            <a:cxnLst/>
            <a:rect r="r" b="b" t="t" l="l"/>
            <a:pathLst>
              <a:path h="8234358" w="7086600">
                <a:moveTo>
                  <a:pt x="0" y="0"/>
                </a:moveTo>
                <a:lnTo>
                  <a:pt x="7086600" y="0"/>
                </a:lnTo>
                <a:lnTo>
                  <a:pt x="7086600" y="8234358"/>
                </a:lnTo>
                <a:lnTo>
                  <a:pt x="0" y="82343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018345" y="4547654"/>
            <a:ext cx="7852010" cy="5763678"/>
          </a:xfrm>
          <a:custGeom>
            <a:avLst/>
            <a:gdLst/>
            <a:ahLst/>
            <a:cxnLst/>
            <a:rect r="r" b="b" t="t" l="l"/>
            <a:pathLst>
              <a:path h="5763678" w="7852010">
                <a:moveTo>
                  <a:pt x="0" y="0"/>
                </a:moveTo>
                <a:lnTo>
                  <a:pt x="7852010" y="0"/>
                </a:lnTo>
                <a:lnTo>
                  <a:pt x="7852010" y="5763678"/>
                </a:lnTo>
                <a:lnTo>
                  <a:pt x="0" y="576367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423160" y="9746351"/>
            <a:ext cx="2873773" cy="314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Ths. Trương Quang Trường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483460" y="9336776"/>
            <a:ext cx="3134920" cy="793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Khoa Cơ Khí – Công Nghệ Trường ĐH Nông Lâm TPHCM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854064" y="9864571"/>
            <a:ext cx="658711" cy="36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8"/>
              </a:lnSpc>
            </a:pPr>
            <a:r>
              <a:rPr lang="en-US" sz="2106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- 19 -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129888" y="255922"/>
            <a:ext cx="10131809" cy="616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II. CÁC THÔNG S͐ HÌNH HỌC CƠ BẢN CͦA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724219" y="775916"/>
            <a:ext cx="8783041" cy="645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6"/>
              </a:lnSpc>
            </a:pPr>
            <a:r>
              <a:rPr lang="en-US" sz="3603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BÁNH</a:t>
            </a:r>
            <a:r>
              <a:rPr lang="en-US" sz="3603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3603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RĂNG</a:t>
            </a:r>
            <a:r>
              <a:rPr lang="en-US" sz="3603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3603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THÂN</a:t>
            </a:r>
            <a:r>
              <a:rPr lang="en-US" sz="3603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3603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KHAI</a:t>
            </a:r>
            <a:r>
              <a:rPr lang="en-US" sz="3603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3603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TIÊU</a:t>
            </a:r>
            <a:r>
              <a:rPr lang="en-US" sz="3603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3603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CHUẨN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954133" y="1473222"/>
            <a:ext cx="116586" cy="6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0"/>
              </a:lnSpc>
            </a:pPr>
            <a:r>
              <a:rPr lang="en-US" sz="3600">
                <a:solidFill>
                  <a:srgbClr val="FF0000"/>
                </a:solidFill>
                <a:latin typeface="Arab Times"/>
                <a:ea typeface="Arab Times"/>
                <a:cs typeface="Arab Times"/>
                <a:sym typeface="Arab Times"/>
              </a:rPr>
              <a:t>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735324" y="1501797"/>
            <a:ext cx="2499984" cy="6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FF0000"/>
                </a:solidFill>
                <a:latin typeface="Arab Times"/>
                <a:ea typeface="Arab Times"/>
                <a:cs typeface="Arab Times"/>
                <a:sym typeface="Arab Times"/>
              </a:rPr>
              <a:t>2. Cácthông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824667" y="1501797"/>
            <a:ext cx="907499" cy="6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FF0000"/>
                </a:solidFill>
                <a:latin typeface="Arab Times"/>
                <a:ea typeface="Arab Times"/>
                <a:cs typeface="Arab Times"/>
                <a:sym typeface="Arab Times"/>
              </a:rPr>
              <a:t>hình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302888" y="1474699"/>
            <a:ext cx="415052" cy="680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spc="3">
                <a:solidFill>
                  <a:srgbClr val="FF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số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830507" y="1474699"/>
            <a:ext cx="2148454" cy="680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FF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học</a:t>
            </a:r>
            <a:r>
              <a:rPr lang="en-US" sz="3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3600">
                <a:solidFill>
                  <a:srgbClr val="FF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cѫ</a:t>
            </a:r>
            <a:r>
              <a:rPr lang="en-US" sz="3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3600">
                <a:solidFill>
                  <a:srgbClr val="FF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bҧn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838830" y="2458083"/>
            <a:ext cx="126502" cy="539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89"/>
              </a:lnSpc>
            </a:pPr>
            <a:r>
              <a:rPr lang="en-US" sz="3906" spc="-3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941700" y="2961070"/>
            <a:ext cx="168121" cy="428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8"/>
              </a:lnSpc>
            </a:pPr>
            <a:r>
              <a:rPr lang="en-US" sz="2595" spc="-2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432304" y="2306569"/>
            <a:ext cx="3160452" cy="734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79"/>
              </a:lnSpc>
            </a:pPr>
            <a:r>
              <a:rPr lang="en-US" sz="3906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-</a:t>
            </a:r>
            <a:r>
              <a:rPr lang="en-US" b="true" sz="3906" i="true">
                <a:solidFill>
                  <a:srgbClr val="00B05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Góc ăn khớp</a:t>
            </a:r>
            <a:r>
              <a:rPr lang="en-US" sz="3906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: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604390" y="2944592"/>
            <a:ext cx="446056" cy="589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909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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308860" y="2448558"/>
            <a:ext cx="126502" cy="549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79"/>
              </a:lnSpc>
            </a:pPr>
            <a:r>
              <a:rPr lang="en-US" sz="3906" spc="-3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432304" y="2948116"/>
            <a:ext cx="2093162" cy="65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b="true" sz="3909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tiêu</a:t>
            </a:r>
            <a:r>
              <a:rPr lang="en-US" b="true" sz="3909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 </a:t>
            </a:r>
            <a:r>
              <a:rPr lang="en-US" b="true" sz="3909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chuẩn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525648" y="2321543"/>
            <a:ext cx="319283" cy="617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79"/>
              </a:lnSpc>
            </a:pPr>
            <a:r>
              <a:rPr lang="en-US" sz="390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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041016" y="3043133"/>
            <a:ext cx="916672" cy="549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909" spc="-3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=20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81255" y="247645"/>
            <a:ext cx="13030200" cy="1771650"/>
          </a:xfrm>
          <a:custGeom>
            <a:avLst/>
            <a:gdLst/>
            <a:ahLst/>
            <a:cxnLst/>
            <a:rect r="r" b="b" t="t" l="l"/>
            <a:pathLst>
              <a:path h="1771650" w="13030200">
                <a:moveTo>
                  <a:pt x="0" y="0"/>
                </a:moveTo>
                <a:lnTo>
                  <a:pt x="13030200" y="0"/>
                </a:lnTo>
                <a:lnTo>
                  <a:pt x="13030200" y="1771650"/>
                </a:lnTo>
                <a:lnTo>
                  <a:pt x="0" y="17716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16100" y="71"/>
            <a:ext cx="1485900" cy="1464469"/>
          </a:xfrm>
          <a:custGeom>
            <a:avLst/>
            <a:gdLst/>
            <a:ahLst/>
            <a:cxnLst/>
            <a:rect r="r" b="b" t="t" l="l"/>
            <a:pathLst>
              <a:path h="1464469" w="1485900">
                <a:moveTo>
                  <a:pt x="0" y="0"/>
                </a:moveTo>
                <a:lnTo>
                  <a:pt x="1485900" y="0"/>
                </a:lnTo>
                <a:lnTo>
                  <a:pt x="1485900" y="1464469"/>
                </a:lnTo>
                <a:lnTo>
                  <a:pt x="0" y="14644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414602" y="1819270"/>
            <a:ext cx="13594513" cy="8341614"/>
          </a:xfrm>
          <a:custGeom>
            <a:avLst/>
            <a:gdLst/>
            <a:ahLst/>
            <a:cxnLst/>
            <a:rect r="r" b="b" t="t" l="l"/>
            <a:pathLst>
              <a:path h="8341614" w="13594513">
                <a:moveTo>
                  <a:pt x="0" y="0"/>
                </a:moveTo>
                <a:lnTo>
                  <a:pt x="13594513" y="0"/>
                </a:lnTo>
                <a:lnTo>
                  <a:pt x="13594513" y="8341614"/>
                </a:lnTo>
                <a:lnTo>
                  <a:pt x="0" y="83416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423160" y="9684996"/>
            <a:ext cx="2931624" cy="485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68"/>
              </a:lnSpc>
            </a:pPr>
            <a:r>
              <a:rPr lang="en-US" sz="2977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Ths. Trương Quang Trường0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483460" y="9336776"/>
            <a:ext cx="3134920" cy="793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Khoa Cơ Khí – Công Nghệ Trường ĐH Nông Lâm TPHCM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854064" y="9864571"/>
            <a:ext cx="658711" cy="36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8"/>
              </a:lnSpc>
            </a:pPr>
            <a:r>
              <a:rPr lang="en-US" sz="2106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- 20 -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129888" y="255922"/>
            <a:ext cx="10131809" cy="616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II. CÁC THÔNG S͐ HÌNH HỌC CƠ BẢN CͦA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724219" y="775916"/>
            <a:ext cx="8783041" cy="645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6"/>
              </a:lnSpc>
            </a:pPr>
            <a:r>
              <a:rPr lang="en-US" sz="3603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BÁNH</a:t>
            </a:r>
            <a:r>
              <a:rPr lang="en-US" sz="3603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3603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RĂNG</a:t>
            </a:r>
            <a:r>
              <a:rPr lang="en-US" sz="3603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3603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THÂN</a:t>
            </a:r>
            <a:r>
              <a:rPr lang="en-US" sz="3603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3603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KHAI</a:t>
            </a:r>
            <a:r>
              <a:rPr lang="en-US" sz="3603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3603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TIÊU</a:t>
            </a:r>
            <a:r>
              <a:rPr lang="en-US" sz="3603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3603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CHUẨN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954133" y="1473222"/>
            <a:ext cx="116586" cy="6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0"/>
              </a:lnSpc>
            </a:pPr>
            <a:r>
              <a:rPr lang="en-US" sz="3600">
                <a:solidFill>
                  <a:srgbClr val="FF0000"/>
                </a:solidFill>
                <a:latin typeface="Arab Times"/>
                <a:ea typeface="Arab Times"/>
                <a:cs typeface="Arab Times"/>
                <a:sym typeface="Arab Times"/>
              </a:rPr>
              <a:t>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824667" y="1501797"/>
            <a:ext cx="907499" cy="6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FF0000"/>
                </a:solidFill>
                <a:latin typeface="Arab Times"/>
                <a:ea typeface="Arab Times"/>
                <a:cs typeface="Arab Times"/>
                <a:sym typeface="Arab Times"/>
              </a:rPr>
              <a:t>hình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735324" y="1568472"/>
            <a:ext cx="3033965" cy="5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0"/>
              </a:lnSpc>
            </a:pPr>
            <a:r>
              <a:rPr lang="en-US" sz="3600">
                <a:solidFill>
                  <a:srgbClr val="FF0000"/>
                </a:solidFill>
                <a:latin typeface="Arab Times"/>
                <a:ea typeface="Arab Times"/>
                <a:cs typeface="Arab Times"/>
                <a:sym typeface="Arab Times"/>
              </a:rPr>
              <a:t>2. Cácthôngsố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423160" y="2088256"/>
            <a:ext cx="2604926" cy="683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0"/>
              </a:lnSpc>
            </a:pPr>
            <a:r>
              <a:rPr lang="en-US" sz="3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- </a:t>
            </a:r>
            <a:r>
              <a:rPr lang="en-US" b="true" sz="3600" i="true">
                <a:solidFill>
                  <a:srgbClr val="00B05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Chiều</a:t>
            </a:r>
            <a:r>
              <a:rPr lang="en-US" sz="3600">
                <a:solidFill>
                  <a:srgbClr val="00B05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b="true" sz="3600" i="true">
                <a:solidFill>
                  <a:srgbClr val="00B05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rộng</a:t>
            </a:r>
            <a:r>
              <a:rPr lang="en-US" sz="3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: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433572" y="2636896"/>
            <a:ext cx="2747158" cy="1232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0"/>
              </a:lnSpc>
            </a:pPr>
            <a:r>
              <a:rPr lang="en-US" sz="3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+ </a:t>
            </a:r>
            <a:r>
              <a:rPr lang="en-US" b="true" sz="3600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của</a:t>
            </a:r>
            <a:r>
              <a:rPr lang="en-US" sz="3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b="true" sz="3600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răng</a:t>
            </a:r>
            <a:r>
              <a:rPr lang="en-US" sz="3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: </a:t>
            </a:r>
            <a:r>
              <a:rPr lang="en-US" b="true" sz="3600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S’</a:t>
            </a:r>
            <a:r>
              <a:rPr lang="en-US" sz="3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b="true" sz="3600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+ kẻ răng: S”</a:t>
            </a:r>
            <a:r>
              <a:rPr lang="en-US" sz="3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741535" y="3769281"/>
            <a:ext cx="2448892" cy="614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0"/>
              </a:lnSpc>
            </a:pPr>
            <a:r>
              <a:rPr lang="en-US" b="true" sz="3600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S’ = S” = t/2</a:t>
            </a:r>
            <a:r>
              <a:rPr lang="en-US" sz="3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830507" y="1474699"/>
            <a:ext cx="2148454" cy="680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FF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học</a:t>
            </a:r>
            <a:r>
              <a:rPr lang="en-US" sz="3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3600">
                <a:solidFill>
                  <a:srgbClr val="FF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cѫ</a:t>
            </a:r>
            <a:r>
              <a:rPr lang="en-US" sz="3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3600">
                <a:solidFill>
                  <a:srgbClr val="FF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bҧn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484146" y="6579389"/>
            <a:ext cx="200296" cy="831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14"/>
              </a:lnSpc>
            </a:pPr>
            <a:r>
              <a:rPr lang="en-US" sz="3085" spc="-2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0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596953" y="7494427"/>
            <a:ext cx="2602682" cy="1061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b="true" sz="3600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.[(S’/2r) + inv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560363" y="8728867"/>
            <a:ext cx="2608269" cy="376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b="true" sz="3600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.[(S’/2r) + inv</a:t>
            </a:r>
          </a:p>
        </p:txBody>
      </p:sp>
      <p:sp>
        <p:nvSpPr>
          <p:cNvPr name="TextBox 20" id="20"/>
          <p:cNvSpPr txBox="true"/>
          <p:nvPr/>
        </p:nvSpPr>
        <p:spPr>
          <a:xfrm rot="-1197780">
            <a:off x="7234575" y="8367900"/>
            <a:ext cx="356273" cy="473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69"/>
              </a:lnSpc>
            </a:pPr>
            <a:r>
              <a:rPr lang="en-US" sz="2978" i="true" spc="-14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Di</a:t>
            </a:r>
          </a:p>
        </p:txBody>
      </p:sp>
      <p:sp>
        <p:nvSpPr>
          <p:cNvPr name="TextBox 21" id="21"/>
          <p:cNvSpPr txBox="true"/>
          <p:nvPr/>
        </p:nvSpPr>
        <p:spPr>
          <a:xfrm rot="-1988820">
            <a:off x="7480988" y="7718992"/>
            <a:ext cx="279549" cy="473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71"/>
              </a:lnSpc>
            </a:pPr>
            <a:r>
              <a:rPr lang="en-US" sz="2979" i="true" spc="-23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D</a:t>
            </a:r>
          </a:p>
        </p:txBody>
      </p:sp>
      <p:sp>
        <p:nvSpPr>
          <p:cNvPr name="TextBox 22" id="22"/>
          <p:cNvSpPr txBox="true"/>
          <p:nvPr/>
        </p:nvSpPr>
        <p:spPr>
          <a:xfrm rot="-2510520">
            <a:off x="8087799" y="6900057"/>
            <a:ext cx="193796" cy="474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72"/>
              </a:lnSpc>
            </a:pPr>
            <a:r>
              <a:rPr lang="en-US" sz="2980" i="true" spc="-23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h</a:t>
            </a:r>
          </a:p>
        </p:txBody>
      </p:sp>
      <p:sp>
        <p:nvSpPr>
          <p:cNvPr name="TextBox 23" id="23"/>
          <p:cNvSpPr txBox="true"/>
          <p:nvPr/>
        </p:nvSpPr>
        <p:spPr>
          <a:xfrm rot="-3092580">
            <a:off x="6846311" y="7514036"/>
            <a:ext cx="279406" cy="474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74"/>
              </a:lnSpc>
            </a:pPr>
            <a:r>
              <a:rPr lang="en-US" sz="2981" i="true" spc="-23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D</a:t>
            </a:r>
          </a:p>
        </p:txBody>
      </p:sp>
      <p:sp>
        <p:nvSpPr>
          <p:cNvPr name="TextBox 24" id="24"/>
          <p:cNvSpPr txBox="true"/>
          <p:nvPr/>
        </p:nvSpPr>
        <p:spPr>
          <a:xfrm rot="-3092580">
            <a:off x="7066981" y="7440741"/>
            <a:ext cx="120601" cy="346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2089" i="true" spc="-16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236590" y="5736522"/>
            <a:ext cx="263733" cy="578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97"/>
              </a:lnSpc>
            </a:pPr>
            <a:r>
              <a:rPr lang="en-US" sz="2977" spc="-17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h'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590263" y="6409449"/>
            <a:ext cx="351258" cy="578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97"/>
              </a:lnSpc>
            </a:pPr>
            <a:r>
              <a:rPr lang="en-US" sz="2977" spc="-2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h"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987380" y="5408728"/>
            <a:ext cx="373432" cy="473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68"/>
              </a:lnSpc>
            </a:pPr>
            <a:r>
              <a:rPr lang="en-US" sz="2977" spc="-17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S"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195331" y="5930736"/>
            <a:ext cx="107456" cy="473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68"/>
              </a:lnSpc>
            </a:pPr>
            <a:r>
              <a:rPr lang="en-US" sz="2977" spc="-2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</a:t>
            </a:r>
          </a:p>
        </p:txBody>
      </p:sp>
      <p:sp>
        <p:nvSpPr>
          <p:cNvPr name="TextBox 29" id="29"/>
          <p:cNvSpPr txBox="true"/>
          <p:nvPr/>
        </p:nvSpPr>
        <p:spPr>
          <a:xfrm rot="1365540">
            <a:off x="6784859" y="5606264"/>
            <a:ext cx="285721" cy="473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70"/>
              </a:lnSpc>
            </a:pPr>
            <a:r>
              <a:rPr lang="en-US" sz="2978" i="true" spc="-20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S'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168203" y="8264219"/>
            <a:ext cx="259290" cy="286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3600" spc="-28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421949" y="8264219"/>
            <a:ext cx="1040887" cy="365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3600" spc="-2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x = 2r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168189" y="8508059"/>
            <a:ext cx="259290" cy="591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76"/>
              </a:lnSpc>
            </a:pPr>
            <a:r>
              <a:rPr lang="en-US" sz="3600" spc="-28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421935" y="8812859"/>
            <a:ext cx="1022699" cy="365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3600" spc="-28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 = 2r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439023" y="8026094"/>
            <a:ext cx="983051" cy="524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spc="-28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- inv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407004" y="8574734"/>
            <a:ext cx="983051" cy="524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spc="-28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- inv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4845284" y="8026094"/>
            <a:ext cx="155291" cy="524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spc="-28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]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4794992" y="8574734"/>
            <a:ext cx="155291" cy="524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spc="-28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]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612876" y="1322165"/>
            <a:ext cx="347029" cy="670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26"/>
              </a:lnSpc>
            </a:pPr>
            <a:r>
              <a:rPr lang="en-US" sz="3085" spc="-2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Se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444970" y="2087589"/>
            <a:ext cx="363445" cy="1485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26"/>
              </a:lnSpc>
            </a:pPr>
            <a:r>
              <a:rPr lang="en-US" sz="3085" spc="-18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Sx</a:t>
            </a:r>
          </a:p>
          <a:p>
            <a:pPr algn="ctr">
              <a:lnSpc>
                <a:spcPts val="6810"/>
              </a:lnSpc>
            </a:pPr>
            <a:r>
              <a:rPr lang="en-US" sz="3085" spc="-2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S'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3053203" y="4500582"/>
            <a:ext cx="215698" cy="597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73"/>
              </a:lnSpc>
            </a:pPr>
            <a:r>
              <a:rPr lang="en-US" sz="2158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x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2722604" y="5173385"/>
            <a:ext cx="176794" cy="606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73"/>
              </a:lnSpc>
            </a:pPr>
            <a:r>
              <a:rPr lang="en-US" sz="215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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2421224" y="5982148"/>
            <a:ext cx="276992" cy="244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3"/>
              </a:lnSpc>
            </a:pPr>
            <a:r>
              <a:rPr lang="en-US" sz="2158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x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3419663" y="5150387"/>
            <a:ext cx="115157" cy="387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1"/>
              </a:lnSpc>
            </a:pPr>
            <a:r>
              <a:rPr lang="en-US" sz="215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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4017195" y="5347540"/>
            <a:ext cx="145975" cy="330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0"/>
              </a:lnSpc>
            </a:pPr>
            <a:r>
              <a:rPr lang="en-US" sz="215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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3807254" y="5673333"/>
            <a:ext cx="245974" cy="321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0"/>
              </a:lnSpc>
            </a:pPr>
            <a:r>
              <a:rPr lang="en-US" sz="2158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x</a:t>
            </a:r>
          </a:p>
        </p:txBody>
      </p:sp>
      <p:sp>
        <p:nvSpPr>
          <p:cNvPr name="TextBox 46" id="46"/>
          <p:cNvSpPr txBox="true"/>
          <p:nvPr/>
        </p:nvSpPr>
        <p:spPr>
          <a:xfrm rot="1976520">
            <a:off x="10288613" y="4577693"/>
            <a:ext cx="236487" cy="508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2"/>
              </a:lnSpc>
            </a:pPr>
            <a:r>
              <a:rPr lang="en-US" sz="3087" i="true" spc="-9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rx</a:t>
            </a:r>
          </a:p>
        </p:txBody>
      </p:sp>
      <p:sp>
        <p:nvSpPr>
          <p:cNvPr name="TextBox 47" id="47"/>
          <p:cNvSpPr txBox="true"/>
          <p:nvPr/>
        </p:nvSpPr>
        <p:spPr>
          <a:xfrm rot="-1988520">
            <a:off x="15202834" y="4790269"/>
            <a:ext cx="134045" cy="508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2"/>
              </a:lnSpc>
            </a:pPr>
            <a:r>
              <a:rPr lang="en-US" sz="3087" i="true" spc="-24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r</a:t>
            </a:r>
          </a:p>
        </p:txBody>
      </p:sp>
      <p:sp>
        <p:nvSpPr>
          <p:cNvPr name="TextBox 48" id="48"/>
          <p:cNvSpPr txBox="true"/>
          <p:nvPr/>
        </p:nvSpPr>
        <p:spPr>
          <a:xfrm rot="-1197540">
            <a:off x="14940389" y="5994356"/>
            <a:ext cx="236730" cy="508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1"/>
              </a:lnSpc>
            </a:pPr>
            <a:r>
              <a:rPr lang="en-US" sz="3086" i="true" spc="-6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r0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0443791" y="8127030"/>
            <a:ext cx="155062" cy="48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1"/>
              </a:lnSpc>
            </a:pPr>
            <a:r>
              <a:rPr lang="en-US" sz="2394" spc="-19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x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0425489" y="8675670"/>
            <a:ext cx="137689" cy="48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1"/>
              </a:lnSpc>
            </a:pPr>
            <a:r>
              <a:rPr lang="en-US" sz="2394" spc="-19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3150987" y="7916318"/>
            <a:ext cx="294265" cy="580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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3118968" y="8464958"/>
            <a:ext cx="294265" cy="580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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4404086" y="8125868"/>
            <a:ext cx="294265" cy="370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4"/>
              </a:lnSpc>
            </a:pPr>
            <a:r>
              <a:rPr lang="en-US" sz="3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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4692122" y="8403255"/>
            <a:ext cx="155062" cy="20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19"/>
              </a:lnSpc>
            </a:pPr>
            <a:r>
              <a:rPr lang="en-US" sz="2394" spc="-19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x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4372082" y="8455433"/>
            <a:ext cx="294265" cy="589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4"/>
              </a:lnSpc>
            </a:pPr>
            <a:r>
              <a:rPr lang="en-US" sz="3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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4660118" y="8980470"/>
            <a:ext cx="137689" cy="18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7"/>
              </a:lnSpc>
            </a:pPr>
            <a:r>
              <a:rPr lang="en-US" sz="2394" spc="-19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81255" y="247645"/>
            <a:ext cx="13030200" cy="1771650"/>
          </a:xfrm>
          <a:custGeom>
            <a:avLst/>
            <a:gdLst/>
            <a:ahLst/>
            <a:cxnLst/>
            <a:rect r="r" b="b" t="t" l="l"/>
            <a:pathLst>
              <a:path h="1771650" w="13030200">
                <a:moveTo>
                  <a:pt x="0" y="0"/>
                </a:moveTo>
                <a:lnTo>
                  <a:pt x="13030200" y="0"/>
                </a:lnTo>
                <a:lnTo>
                  <a:pt x="13030200" y="1771650"/>
                </a:lnTo>
                <a:lnTo>
                  <a:pt x="0" y="17716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16100" y="71"/>
            <a:ext cx="1485900" cy="1464469"/>
          </a:xfrm>
          <a:custGeom>
            <a:avLst/>
            <a:gdLst/>
            <a:ahLst/>
            <a:cxnLst/>
            <a:rect r="r" b="b" t="t" l="l"/>
            <a:pathLst>
              <a:path h="1464469" w="1485900">
                <a:moveTo>
                  <a:pt x="0" y="0"/>
                </a:moveTo>
                <a:lnTo>
                  <a:pt x="1485900" y="0"/>
                </a:lnTo>
                <a:lnTo>
                  <a:pt x="1485900" y="1464469"/>
                </a:lnTo>
                <a:lnTo>
                  <a:pt x="0" y="14644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2904806" y="3411526"/>
            <a:ext cx="11716" cy="537824"/>
            <a:chOff x="0" y="0"/>
            <a:chExt cx="7810" cy="35854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747" cy="358521"/>
            </a:xfrm>
            <a:custGeom>
              <a:avLst/>
              <a:gdLst/>
              <a:ahLst/>
              <a:cxnLst/>
              <a:rect r="r" b="b" t="t" l="l"/>
              <a:pathLst>
                <a:path h="358521" w="7747">
                  <a:moveTo>
                    <a:pt x="7747" y="0"/>
                  </a:moveTo>
                  <a:lnTo>
                    <a:pt x="7747" y="358521"/>
                  </a:lnTo>
                  <a:lnTo>
                    <a:pt x="0" y="3585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3393353" y="3411526"/>
            <a:ext cx="11716" cy="537824"/>
            <a:chOff x="0" y="0"/>
            <a:chExt cx="7810" cy="35854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747" cy="358521"/>
            </a:xfrm>
            <a:custGeom>
              <a:avLst/>
              <a:gdLst/>
              <a:ahLst/>
              <a:cxnLst/>
              <a:rect r="r" b="b" t="t" l="l"/>
              <a:pathLst>
                <a:path h="358521" w="7747">
                  <a:moveTo>
                    <a:pt x="7747" y="0"/>
                  </a:moveTo>
                  <a:lnTo>
                    <a:pt x="7747" y="358521"/>
                  </a:lnTo>
                  <a:lnTo>
                    <a:pt x="0" y="3585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3914332" y="3674559"/>
            <a:ext cx="524566" cy="11716"/>
            <a:chOff x="0" y="0"/>
            <a:chExt cx="349707" cy="781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49758" cy="7747"/>
            </a:xfrm>
            <a:custGeom>
              <a:avLst/>
              <a:gdLst/>
              <a:ahLst/>
              <a:cxnLst/>
              <a:rect r="r" b="b" t="t" l="l"/>
              <a:pathLst>
                <a:path h="7747" w="349758">
                  <a:moveTo>
                    <a:pt x="0" y="0"/>
                  </a:moveTo>
                  <a:lnTo>
                    <a:pt x="349758" y="0"/>
                  </a:lnTo>
                  <a:lnTo>
                    <a:pt x="349758" y="7747"/>
                  </a:lnTo>
                  <a:lnTo>
                    <a:pt x="0" y="7747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4942803" y="3674559"/>
            <a:ext cx="808744" cy="11716"/>
            <a:chOff x="0" y="0"/>
            <a:chExt cx="539166" cy="781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39115" cy="7747"/>
            </a:xfrm>
            <a:custGeom>
              <a:avLst/>
              <a:gdLst/>
              <a:ahLst/>
              <a:cxnLst/>
              <a:rect r="r" b="b" t="t" l="l"/>
              <a:pathLst>
                <a:path h="7747" w="539115">
                  <a:moveTo>
                    <a:pt x="0" y="0"/>
                  </a:moveTo>
                  <a:lnTo>
                    <a:pt x="539115" y="0"/>
                  </a:lnTo>
                  <a:lnTo>
                    <a:pt x="539115" y="7747"/>
                  </a:lnTo>
                  <a:lnTo>
                    <a:pt x="0" y="7747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6255482" y="3674559"/>
            <a:ext cx="349044" cy="11716"/>
            <a:chOff x="0" y="0"/>
            <a:chExt cx="232689" cy="781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32664" cy="7747"/>
            </a:xfrm>
            <a:custGeom>
              <a:avLst/>
              <a:gdLst/>
              <a:ahLst/>
              <a:cxnLst/>
              <a:rect r="r" b="b" t="t" l="l"/>
              <a:pathLst>
                <a:path h="7747" w="232664">
                  <a:moveTo>
                    <a:pt x="0" y="0"/>
                  </a:moveTo>
                  <a:lnTo>
                    <a:pt x="232664" y="0"/>
                  </a:lnTo>
                  <a:lnTo>
                    <a:pt x="232664" y="7747"/>
                  </a:lnTo>
                  <a:lnTo>
                    <a:pt x="0" y="7747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4672012" y="4476745"/>
            <a:ext cx="2514614" cy="1447795"/>
          </a:xfrm>
          <a:custGeom>
            <a:avLst/>
            <a:gdLst/>
            <a:ahLst/>
            <a:cxnLst/>
            <a:rect r="r" b="b" t="t" l="l"/>
            <a:pathLst>
              <a:path h="1447795" w="2514614">
                <a:moveTo>
                  <a:pt x="0" y="0"/>
                </a:moveTo>
                <a:lnTo>
                  <a:pt x="2514615" y="0"/>
                </a:lnTo>
                <a:lnTo>
                  <a:pt x="2514615" y="1447795"/>
                </a:lnTo>
                <a:lnTo>
                  <a:pt x="0" y="14477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7107774" y="3674559"/>
            <a:ext cx="481460" cy="11716"/>
            <a:chOff x="0" y="0"/>
            <a:chExt cx="320967" cy="781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20929" cy="7747"/>
            </a:xfrm>
            <a:custGeom>
              <a:avLst/>
              <a:gdLst/>
              <a:ahLst/>
              <a:cxnLst/>
              <a:rect r="r" b="b" t="t" l="l"/>
              <a:pathLst>
                <a:path h="7747" w="320929">
                  <a:moveTo>
                    <a:pt x="0" y="0"/>
                  </a:moveTo>
                  <a:lnTo>
                    <a:pt x="320929" y="0"/>
                  </a:lnTo>
                  <a:lnTo>
                    <a:pt x="320929" y="7747"/>
                  </a:lnTo>
                  <a:lnTo>
                    <a:pt x="0" y="7747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7" id="17"/>
          <p:cNvGrpSpPr>
            <a:grpSpLocks noChangeAspect="true"/>
          </p:cNvGrpSpPr>
          <p:nvPr/>
        </p:nvGrpSpPr>
        <p:grpSpPr>
          <a:xfrm rot="0">
            <a:off x="8093183" y="3674559"/>
            <a:ext cx="839519" cy="11716"/>
            <a:chOff x="0" y="0"/>
            <a:chExt cx="559676" cy="781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59689" cy="7747"/>
            </a:xfrm>
            <a:custGeom>
              <a:avLst/>
              <a:gdLst/>
              <a:ahLst/>
              <a:cxnLst/>
              <a:rect r="r" b="b" t="t" l="l"/>
              <a:pathLst>
                <a:path h="7747" w="559689">
                  <a:moveTo>
                    <a:pt x="0" y="0"/>
                  </a:moveTo>
                  <a:lnTo>
                    <a:pt x="559689" y="0"/>
                  </a:lnTo>
                  <a:lnTo>
                    <a:pt x="559689" y="7747"/>
                  </a:lnTo>
                  <a:lnTo>
                    <a:pt x="0" y="7747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19" id="19"/>
          <p:cNvSpPr/>
          <p:nvPr/>
        </p:nvSpPr>
        <p:spPr>
          <a:xfrm flipH="false" flipV="false" rot="0">
            <a:off x="3412326" y="7796217"/>
            <a:ext cx="6284014" cy="1328738"/>
          </a:xfrm>
          <a:custGeom>
            <a:avLst/>
            <a:gdLst/>
            <a:ahLst/>
            <a:cxnLst/>
            <a:rect r="r" b="b" t="t" l="l"/>
            <a:pathLst>
              <a:path h="1328738" w="6284014">
                <a:moveTo>
                  <a:pt x="0" y="0"/>
                </a:moveTo>
                <a:lnTo>
                  <a:pt x="6284014" y="0"/>
                </a:lnTo>
                <a:lnTo>
                  <a:pt x="6284014" y="1328738"/>
                </a:lnTo>
                <a:lnTo>
                  <a:pt x="0" y="13287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8780655" y="1957573"/>
            <a:ext cx="7316600" cy="6615970"/>
          </a:xfrm>
          <a:custGeom>
            <a:avLst/>
            <a:gdLst/>
            <a:ahLst/>
            <a:cxnLst/>
            <a:rect r="r" b="b" t="t" l="l"/>
            <a:pathLst>
              <a:path h="6615970" w="7316600">
                <a:moveTo>
                  <a:pt x="0" y="0"/>
                </a:moveTo>
                <a:lnTo>
                  <a:pt x="7316600" y="0"/>
                </a:lnTo>
                <a:lnTo>
                  <a:pt x="7316600" y="6615970"/>
                </a:lnTo>
                <a:lnTo>
                  <a:pt x="0" y="661597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2423160" y="9746351"/>
            <a:ext cx="2873773" cy="314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Ths. Trương Quang Trường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483460" y="9336776"/>
            <a:ext cx="3134920" cy="793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Khoa Cơ Khí – Công Nghệ Trường ĐH Nông Lâm TPHCM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129888" y="255922"/>
            <a:ext cx="10131809" cy="616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II. CÁC THÔNG S͐ HÌNH HỌC CƠ BẢN CͦA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724219" y="775916"/>
            <a:ext cx="8783041" cy="645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6"/>
              </a:lnSpc>
            </a:pPr>
            <a:r>
              <a:rPr lang="en-US" sz="3603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BÁNH</a:t>
            </a:r>
            <a:r>
              <a:rPr lang="en-US" sz="3603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3603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RĂNG</a:t>
            </a:r>
            <a:r>
              <a:rPr lang="en-US" sz="3603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3603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THÂN</a:t>
            </a:r>
            <a:r>
              <a:rPr lang="en-US" sz="3603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3603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KHAI</a:t>
            </a:r>
            <a:r>
              <a:rPr lang="en-US" sz="3603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3603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TIÊU</a:t>
            </a:r>
            <a:r>
              <a:rPr lang="en-US" sz="3603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3603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CHUẨN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954133" y="1473222"/>
            <a:ext cx="116586" cy="6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0"/>
              </a:lnSpc>
            </a:pPr>
            <a:r>
              <a:rPr lang="en-US" sz="3600">
                <a:solidFill>
                  <a:srgbClr val="FF0000"/>
                </a:solidFill>
                <a:latin typeface="Arab Times"/>
                <a:ea typeface="Arab Times"/>
                <a:cs typeface="Arab Times"/>
                <a:sym typeface="Arab Times"/>
              </a:rPr>
              <a:t>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735324" y="1463697"/>
            <a:ext cx="2499984" cy="64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3600">
                <a:solidFill>
                  <a:srgbClr val="FF0000"/>
                </a:solidFill>
                <a:latin typeface="Arab Times"/>
                <a:ea typeface="Arab Times"/>
                <a:cs typeface="Arab Times"/>
                <a:sym typeface="Arab Times"/>
              </a:rPr>
              <a:t>2. Cácthông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536828" y="2206404"/>
            <a:ext cx="293880" cy="1747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400"/>
              </a:lnSpc>
            </a:pPr>
            <a:r>
              <a:rPr lang="en-US" sz="3600" spc="-21">
                <a:solidFill>
                  <a:srgbClr val="00B05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</a:p>
          <a:p>
            <a:pPr algn="r">
              <a:lnSpc>
                <a:spcPts val="1867"/>
              </a:lnSpc>
            </a:pPr>
            <a:r>
              <a:rPr lang="en-US" sz="373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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943946" y="2206404"/>
            <a:ext cx="355430" cy="1445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3600" spc="-2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: </a:t>
            </a:r>
          </a:p>
          <a:p>
            <a:pPr algn="l">
              <a:lnSpc>
                <a:spcPts val="1867"/>
              </a:lnSpc>
            </a:pPr>
            <a:r>
              <a:rPr lang="en-US" sz="3735" spc="2988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O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824667" y="1501797"/>
            <a:ext cx="907499" cy="6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FF0000"/>
                </a:solidFill>
                <a:latin typeface="Arab Times"/>
                <a:ea typeface="Arab Times"/>
                <a:cs typeface="Arab Times"/>
                <a:sym typeface="Arab Times"/>
              </a:rPr>
              <a:t>hình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423160" y="2125966"/>
            <a:ext cx="2622742" cy="750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- </a:t>
            </a:r>
            <a:r>
              <a:rPr lang="en-US" b="true" sz="3600" i="true">
                <a:solidFill>
                  <a:srgbClr val="00B05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Tỷ</a:t>
            </a:r>
            <a:r>
              <a:rPr lang="en-US" sz="3600">
                <a:solidFill>
                  <a:srgbClr val="00B05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b="true" sz="3600" i="true">
                <a:solidFill>
                  <a:srgbClr val="00B05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sốtruyền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302888" y="1474699"/>
            <a:ext cx="415052" cy="680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spc="3">
                <a:solidFill>
                  <a:srgbClr val="FF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số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830507" y="1474699"/>
            <a:ext cx="2148454" cy="680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FF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học</a:t>
            </a:r>
            <a:r>
              <a:rPr lang="en-US" sz="3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3600">
                <a:solidFill>
                  <a:srgbClr val="FF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cѫ</a:t>
            </a:r>
            <a:r>
              <a:rPr lang="en-US" sz="3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3600">
                <a:solidFill>
                  <a:srgbClr val="FF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bҧn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394060" y="4922506"/>
            <a:ext cx="281064" cy="576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05"/>
              </a:lnSpc>
            </a:pPr>
            <a:r>
              <a:rPr lang="en-US" sz="2162" spc="-17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12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3566631" y="5503126"/>
            <a:ext cx="5016027" cy="1543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34"/>
              </a:lnSpc>
            </a:pPr>
            <a:r>
              <a:rPr lang="en-US" sz="3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Dấuă(+)ă– ĕnăkhớpătrong;ă </a:t>
            </a:r>
          </a:p>
          <a:p>
            <a:pPr algn="l">
              <a:lnSpc>
                <a:spcPts val="1800"/>
              </a:lnSpc>
            </a:pPr>
            <a:r>
              <a:rPr lang="en-US" sz="3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Dấuă(–) – ĕnăkhớpăngoài</a:t>
            </a:r>
            <a:r>
              <a:rPr lang="en-US" sz="3600" i="true">
                <a:solidFill>
                  <a:srgbClr val="000000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 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507742" y="6561182"/>
            <a:ext cx="3839808" cy="1222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3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- </a:t>
            </a:r>
            <a:r>
              <a:rPr lang="en-US" b="true" sz="3600" i="true">
                <a:solidFill>
                  <a:srgbClr val="00B05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Khoảng cách trục</a:t>
            </a:r>
            <a:r>
              <a:rPr lang="en-US" sz="3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: 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264022" y="8160449"/>
            <a:ext cx="246331" cy="305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2"/>
              </a:lnSpc>
            </a:pPr>
            <a:r>
              <a:rPr lang="en-US" sz="3731" spc="-29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3584348" y="8306953"/>
            <a:ext cx="1110467" cy="421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2"/>
              </a:lnSpc>
            </a:pPr>
            <a:r>
              <a:rPr lang="en-US" sz="3731" spc="709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AO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4620620" y="8306953"/>
            <a:ext cx="5051046" cy="500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2"/>
              </a:lnSpc>
            </a:pPr>
            <a:r>
              <a:rPr lang="en-US" sz="3731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1O2</a:t>
            </a:r>
            <a:r>
              <a:rPr lang="en-US" sz="3731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 </a:t>
            </a:r>
            <a:r>
              <a:rPr lang="en-US" sz="3731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</a:t>
            </a:r>
            <a:r>
              <a:rPr lang="en-US" sz="3731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 </a:t>
            </a:r>
            <a:r>
              <a:rPr lang="en-US" sz="3731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r1</a:t>
            </a:r>
            <a:r>
              <a:rPr lang="en-US" sz="3731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 </a:t>
            </a:r>
            <a:r>
              <a:rPr lang="en-US" sz="3731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</a:t>
            </a:r>
            <a:r>
              <a:rPr lang="en-US" sz="3731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 </a:t>
            </a:r>
            <a:r>
              <a:rPr lang="en-US" sz="3731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r2</a:t>
            </a:r>
            <a:r>
              <a:rPr lang="en-US" sz="3731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 </a:t>
            </a:r>
            <a:r>
              <a:rPr lang="en-US" sz="3731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</a:t>
            </a:r>
            <a:r>
              <a:rPr lang="en-US" sz="3731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 </a:t>
            </a:r>
            <a:r>
              <a:rPr lang="en-US" sz="3731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m(Z1</a:t>
            </a:r>
            <a:r>
              <a:rPr lang="en-US" sz="3731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 </a:t>
            </a:r>
            <a:r>
              <a:rPr lang="en-US" sz="3731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Z2</a:t>
            </a:r>
            <a:r>
              <a:rPr lang="en-US" sz="3731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 </a:t>
            </a:r>
            <a:r>
              <a:rPr lang="en-US" sz="3731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)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7271823" y="8819588"/>
            <a:ext cx="246331" cy="305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2"/>
              </a:lnSpc>
            </a:pPr>
            <a:r>
              <a:rPr lang="en-US" sz="3731" spc="-29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2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5738246" y="8773535"/>
            <a:ext cx="4998625" cy="1486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87"/>
              </a:lnSpc>
            </a:pPr>
            <a:r>
              <a:rPr lang="en-US" sz="3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Dấuă(–) – ĕnăkhớpătrong;ă </a:t>
            </a:r>
          </a:p>
          <a:p>
            <a:pPr algn="l">
              <a:lnSpc>
                <a:spcPts val="2145"/>
              </a:lnSpc>
            </a:pPr>
            <a:r>
              <a:rPr lang="en-US" sz="3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Dấuă(+)ă– ĕnăkhớ- p21ă n- goài</a:t>
            </a:r>
            <a:r>
              <a:rPr lang="en-US" sz="3600" i="true">
                <a:solidFill>
                  <a:srgbClr val="000000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 </a:t>
            </a:r>
          </a:p>
        </p:txBody>
      </p:sp>
      <p:sp>
        <p:nvSpPr>
          <p:cNvPr name="TextBox 41" id="41"/>
          <p:cNvSpPr txBox="true"/>
          <p:nvPr/>
        </p:nvSpPr>
        <p:spPr>
          <a:xfrm rot="-1197900">
            <a:off x="14072603" y="6606128"/>
            <a:ext cx="391892" cy="525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87"/>
              </a:lnSpc>
            </a:pPr>
            <a:r>
              <a:rPr lang="en-US" sz="3276" i="true" spc="-16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Di</a:t>
            </a:r>
          </a:p>
        </p:txBody>
      </p:sp>
      <p:sp>
        <p:nvSpPr>
          <p:cNvPr name="TextBox 42" id="42"/>
          <p:cNvSpPr txBox="true"/>
          <p:nvPr/>
        </p:nvSpPr>
        <p:spPr>
          <a:xfrm rot="-1988940">
            <a:off x="14343170" y="5892444"/>
            <a:ext cx="307496" cy="526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89"/>
              </a:lnSpc>
            </a:pPr>
            <a:r>
              <a:rPr lang="en-US" sz="3277" i="true" spc="-26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D</a:t>
            </a:r>
          </a:p>
        </p:txBody>
      </p:sp>
      <p:sp>
        <p:nvSpPr>
          <p:cNvPr name="TextBox 43" id="43"/>
          <p:cNvSpPr txBox="true"/>
          <p:nvPr/>
        </p:nvSpPr>
        <p:spPr>
          <a:xfrm rot="-2510700">
            <a:off x="15010415" y="4991697"/>
            <a:ext cx="213155" cy="526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0"/>
              </a:lnSpc>
            </a:pPr>
            <a:r>
              <a:rPr lang="en-US" sz="3278" i="true" spc="-26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h</a:t>
            </a:r>
          </a:p>
        </p:txBody>
      </p:sp>
      <p:sp>
        <p:nvSpPr>
          <p:cNvPr name="TextBox 44" id="44"/>
          <p:cNvSpPr txBox="true"/>
          <p:nvPr/>
        </p:nvSpPr>
        <p:spPr>
          <a:xfrm rot="-3092760">
            <a:off x="13644445" y="5667469"/>
            <a:ext cx="307353" cy="526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1"/>
              </a:lnSpc>
            </a:pPr>
            <a:r>
              <a:rPr lang="en-US" sz="3279" i="true" spc="-26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D</a:t>
            </a:r>
          </a:p>
        </p:txBody>
      </p:sp>
      <p:sp>
        <p:nvSpPr>
          <p:cNvPr name="TextBox 45" id="45"/>
          <p:cNvSpPr txBox="true"/>
          <p:nvPr/>
        </p:nvSpPr>
        <p:spPr>
          <a:xfrm rot="-3092760">
            <a:off x="13890905" y="5594554"/>
            <a:ext cx="132645" cy="376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7"/>
              </a:lnSpc>
            </a:pPr>
            <a:r>
              <a:rPr lang="en-US" sz="2298" i="true" spc="-18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e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9675381" y="3702410"/>
            <a:ext cx="290122" cy="649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28"/>
              </a:lnSpc>
            </a:pPr>
            <a:r>
              <a:rPr lang="en-US" sz="3276" spc="-19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h'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0064444" y="4442760"/>
            <a:ext cx="386405" cy="649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28"/>
              </a:lnSpc>
            </a:pPr>
            <a:r>
              <a:rPr lang="en-US" sz="3276" spc="-2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h"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1733838" y="8068537"/>
            <a:ext cx="212598" cy="525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86"/>
              </a:lnSpc>
            </a:pPr>
            <a:r>
              <a:rPr lang="en-US" sz="3276" spc="-2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0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1601364" y="3350347"/>
            <a:ext cx="410794" cy="525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86"/>
              </a:lnSpc>
            </a:pPr>
            <a:r>
              <a:rPr lang="en-US" sz="3276" spc="-19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S"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2930173" y="3924619"/>
            <a:ext cx="118200" cy="525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86"/>
              </a:lnSpc>
            </a:pPr>
            <a:r>
              <a:rPr lang="en-US" sz="3276" spc="-2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</a:t>
            </a:r>
          </a:p>
        </p:txBody>
      </p:sp>
      <p:sp>
        <p:nvSpPr>
          <p:cNvPr name="TextBox 51" id="51"/>
          <p:cNvSpPr txBox="true"/>
          <p:nvPr/>
        </p:nvSpPr>
        <p:spPr>
          <a:xfrm rot="1365660">
            <a:off x="13579622" y="3567856"/>
            <a:ext cx="314296" cy="525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87"/>
              </a:lnSpc>
            </a:pPr>
            <a:r>
              <a:rPr lang="en-US" sz="3276" i="true" spc="-22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S'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2947868" y="3466167"/>
            <a:ext cx="136860" cy="451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5"/>
              </a:lnSpc>
            </a:pPr>
            <a:r>
              <a:rPr lang="en-US" sz="3735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i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3039437" y="3846195"/>
            <a:ext cx="282307" cy="166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1"/>
              </a:lnSpc>
            </a:pPr>
            <a:r>
              <a:rPr lang="en-US" sz="2162" spc="-17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12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7259593" y="3146950"/>
            <a:ext cx="282307" cy="566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33"/>
              </a:lnSpc>
            </a:pPr>
            <a:r>
              <a:rPr lang="en-US" sz="2162" spc="-17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02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7269723" y="3811676"/>
            <a:ext cx="282150" cy="566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33"/>
              </a:lnSpc>
            </a:pPr>
            <a:r>
              <a:rPr lang="en-US" sz="2162" spc="-17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01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6270227" y="3170487"/>
            <a:ext cx="191495" cy="451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5"/>
              </a:lnSpc>
            </a:pPr>
            <a:r>
              <a:rPr lang="en-US" sz="3735" spc="2988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r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7124319" y="3167001"/>
            <a:ext cx="191495" cy="451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5"/>
              </a:lnSpc>
            </a:pPr>
            <a:r>
              <a:rPr lang="en-US" sz="3735" spc="2988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r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6411658" y="3550501"/>
            <a:ext cx="142504" cy="166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1"/>
              </a:lnSpc>
            </a:pPr>
            <a:r>
              <a:rPr lang="en-US" sz="2162" spc="-17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2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6296730" y="3574537"/>
            <a:ext cx="191495" cy="708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16"/>
              </a:lnSpc>
            </a:pPr>
            <a:r>
              <a:rPr lang="en-US" sz="3735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r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6406286" y="4211726"/>
            <a:ext cx="142504" cy="166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1"/>
              </a:lnSpc>
            </a:pPr>
            <a:r>
              <a:rPr lang="en-US" sz="2162" spc="173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7134106" y="3955537"/>
            <a:ext cx="191495" cy="327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67"/>
              </a:lnSpc>
            </a:pPr>
            <a:r>
              <a:rPr lang="en-US" sz="3735" spc="2988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r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6551376" y="4084872"/>
            <a:ext cx="271920" cy="1022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74"/>
              </a:lnSpc>
            </a:pPr>
            <a:r>
              <a:rPr lang="en-US" sz="3735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Z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6840726" y="5036387"/>
            <a:ext cx="141575" cy="166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1"/>
              </a:lnSpc>
            </a:pPr>
            <a:r>
              <a:rPr lang="en-US" sz="2162" spc="-17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2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6577193" y="5060423"/>
            <a:ext cx="271920" cy="708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16"/>
              </a:lnSpc>
            </a:pPr>
            <a:r>
              <a:rPr lang="en-US" sz="3735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Z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6836640" y="5697612"/>
            <a:ext cx="141575" cy="166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1"/>
              </a:lnSpc>
            </a:pPr>
            <a:r>
              <a:rPr lang="en-US" sz="2162" spc="-17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8107599" y="3246687"/>
            <a:ext cx="621263" cy="374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7"/>
              </a:lnSpc>
            </a:pPr>
            <a:r>
              <a:rPr lang="en-US" sz="3735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mZ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7714007" y="3497751"/>
            <a:ext cx="270262" cy="400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7"/>
              </a:lnSpc>
            </a:pPr>
            <a:r>
              <a:rPr lang="en-US" sz="3735" spc="298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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8739549" y="3521926"/>
            <a:ext cx="142504" cy="195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47"/>
              </a:lnSpc>
            </a:pPr>
            <a:r>
              <a:rPr lang="en-US" sz="2162" spc="173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2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8133645" y="3803137"/>
            <a:ext cx="621263" cy="479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9"/>
              </a:lnSpc>
            </a:pPr>
            <a:r>
              <a:rPr lang="en-US" sz="3735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mZ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8733906" y="4211726"/>
            <a:ext cx="142504" cy="166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1"/>
              </a:lnSpc>
            </a:pPr>
            <a:r>
              <a:rPr lang="en-US" sz="2162" spc="-17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3949179" y="3249697"/>
            <a:ext cx="337714" cy="353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67"/>
              </a:lnSpc>
            </a:pPr>
            <a:r>
              <a:rPr lang="en-US" sz="373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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4242187" y="3550501"/>
            <a:ext cx="142504" cy="166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1"/>
              </a:lnSpc>
            </a:pPr>
            <a:r>
              <a:rPr lang="en-US" sz="2162" spc="173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4969978" y="3322887"/>
            <a:ext cx="785727" cy="1045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67"/>
              </a:lnSpc>
            </a:pPr>
            <a:r>
              <a:rPr lang="en-US" sz="3735" spc="-29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2P</a:t>
            </a:r>
          </a:p>
          <a:p>
            <a:pPr algn="r">
              <a:lnSpc>
                <a:spcPts val="1867"/>
              </a:lnSpc>
            </a:pPr>
            <a:r>
              <a:rPr lang="en-US" sz="3735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O1P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4564828" y="3545376"/>
            <a:ext cx="270262" cy="353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67"/>
              </a:lnSpc>
            </a:pPr>
            <a:r>
              <a:rPr lang="en-US" sz="373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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5877106" y="3545376"/>
            <a:ext cx="270262" cy="353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67"/>
              </a:lnSpc>
            </a:pPr>
            <a:r>
              <a:rPr lang="en-US" sz="373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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6728941" y="3545376"/>
            <a:ext cx="270262" cy="353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67"/>
              </a:lnSpc>
            </a:pPr>
            <a:r>
              <a:rPr lang="en-US" sz="373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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3923162" y="3720422"/>
            <a:ext cx="337714" cy="543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8"/>
              </a:lnSpc>
            </a:pPr>
            <a:r>
              <a:rPr lang="en-US" sz="373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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4246316" y="4211726"/>
            <a:ext cx="142504" cy="166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1"/>
              </a:lnSpc>
            </a:pPr>
            <a:r>
              <a:rPr lang="en-US" sz="2162" spc="-17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2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4792499" y="4316887"/>
            <a:ext cx="1698555" cy="1067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39"/>
              </a:lnSpc>
            </a:pPr>
            <a:r>
              <a:rPr lang="en-US" sz="3735" spc="283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i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81255" y="247645"/>
            <a:ext cx="13030200" cy="1771650"/>
          </a:xfrm>
          <a:custGeom>
            <a:avLst/>
            <a:gdLst/>
            <a:ahLst/>
            <a:cxnLst/>
            <a:rect r="r" b="b" t="t" l="l"/>
            <a:pathLst>
              <a:path h="1771650" w="13030200">
                <a:moveTo>
                  <a:pt x="0" y="0"/>
                </a:moveTo>
                <a:lnTo>
                  <a:pt x="13030200" y="0"/>
                </a:lnTo>
                <a:lnTo>
                  <a:pt x="13030200" y="1771650"/>
                </a:lnTo>
                <a:lnTo>
                  <a:pt x="0" y="17716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16100" y="71"/>
            <a:ext cx="1485900" cy="1464469"/>
          </a:xfrm>
          <a:custGeom>
            <a:avLst/>
            <a:gdLst/>
            <a:ahLst/>
            <a:cxnLst/>
            <a:rect r="r" b="b" t="t" l="l"/>
            <a:pathLst>
              <a:path h="1464469" w="1485900">
                <a:moveTo>
                  <a:pt x="0" y="0"/>
                </a:moveTo>
                <a:lnTo>
                  <a:pt x="1485900" y="0"/>
                </a:lnTo>
                <a:lnTo>
                  <a:pt x="1485900" y="1464469"/>
                </a:lnTo>
                <a:lnTo>
                  <a:pt x="0" y="14644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276845" y="8477245"/>
            <a:ext cx="1790695" cy="1676395"/>
          </a:xfrm>
          <a:custGeom>
            <a:avLst/>
            <a:gdLst/>
            <a:ahLst/>
            <a:cxnLst/>
            <a:rect r="r" b="b" t="t" l="l"/>
            <a:pathLst>
              <a:path h="1676395" w="1790695">
                <a:moveTo>
                  <a:pt x="0" y="0"/>
                </a:moveTo>
                <a:lnTo>
                  <a:pt x="1790695" y="0"/>
                </a:lnTo>
                <a:lnTo>
                  <a:pt x="1790695" y="1676395"/>
                </a:lnTo>
                <a:lnTo>
                  <a:pt x="0" y="16763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502534" y="1823256"/>
            <a:ext cx="7435744" cy="8515550"/>
          </a:xfrm>
          <a:custGeom>
            <a:avLst/>
            <a:gdLst/>
            <a:ahLst/>
            <a:cxnLst/>
            <a:rect r="r" b="b" t="t" l="l"/>
            <a:pathLst>
              <a:path h="8515550" w="7435744">
                <a:moveTo>
                  <a:pt x="0" y="0"/>
                </a:moveTo>
                <a:lnTo>
                  <a:pt x="7435744" y="0"/>
                </a:lnTo>
                <a:lnTo>
                  <a:pt x="7435744" y="8515550"/>
                </a:lnTo>
                <a:lnTo>
                  <a:pt x="0" y="85155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423160" y="9746351"/>
            <a:ext cx="2873773" cy="314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Ths. Trương Quang Trường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483460" y="9336776"/>
            <a:ext cx="3134920" cy="793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Khoa Cơ Khí – Công Nghệ Trường ĐH Nông Lâm TPHCM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374447" y="251808"/>
            <a:ext cx="9515789" cy="620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III. ĐɈ͜NG ĂN KHỚP – CUNG ĂN KHỚP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427861" y="775916"/>
            <a:ext cx="5195164" cy="645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6"/>
              </a:lnSpc>
            </a:pPr>
            <a:r>
              <a:rPr lang="en-US" sz="3603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–</a:t>
            </a:r>
            <a:r>
              <a:rPr lang="en-US" sz="3603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3603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Hʃ</a:t>
            </a:r>
            <a:r>
              <a:rPr lang="en-US" sz="3603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3603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S͐</a:t>
            </a:r>
            <a:r>
              <a:rPr lang="en-US" sz="3603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3603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TRÙNG</a:t>
            </a:r>
            <a:r>
              <a:rPr lang="en-US" sz="3603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3603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KHỚP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129137" y="1473222"/>
            <a:ext cx="116586" cy="6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0"/>
              </a:lnSpc>
            </a:pPr>
            <a:r>
              <a:rPr lang="en-US" sz="3600">
                <a:solidFill>
                  <a:srgbClr val="FF0000"/>
                </a:solidFill>
                <a:latin typeface="Arab Times"/>
                <a:ea typeface="Arab Times"/>
                <a:cs typeface="Arab Times"/>
                <a:sym typeface="Arab Times"/>
              </a:rPr>
              <a:t>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120404" y="1959778"/>
            <a:ext cx="442298" cy="343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5"/>
              </a:lnSpc>
            </a:pPr>
            <a:r>
              <a:rPr lang="en-US" sz="3670" spc="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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854064" y="9864571"/>
            <a:ext cx="658711" cy="36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8"/>
              </a:lnSpc>
            </a:pPr>
            <a:r>
              <a:rPr lang="en-US" sz="2106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- 22 -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735324" y="1501797"/>
            <a:ext cx="466815" cy="6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spc="3">
                <a:solidFill>
                  <a:srgbClr val="FF0000"/>
                </a:solidFill>
                <a:latin typeface="Arab Times"/>
                <a:ea typeface="Arab Times"/>
                <a:cs typeface="Arab Times"/>
                <a:sym typeface="Arab Times"/>
              </a:rPr>
              <a:t>1.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192895" y="1419758"/>
            <a:ext cx="3131491" cy="735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1"/>
              </a:lnSpc>
            </a:pPr>
            <a:r>
              <a:rPr lang="en-US" sz="3600">
                <a:solidFill>
                  <a:srgbClr val="FF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Đѭờng ĕnkhớp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078413" y="2227197"/>
            <a:ext cx="126502" cy="654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30"/>
              </a:lnSpc>
            </a:pPr>
            <a:r>
              <a:rPr lang="en-US" sz="3906" spc="-3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095865" y="2744705"/>
            <a:ext cx="146461" cy="405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4"/>
              </a:lnSpc>
            </a:pPr>
            <a:r>
              <a:rPr lang="en-US" sz="2567" spc="-2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694297" y="6742862"/>
            <a:ext cx="338071" cy="405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4"/>
              </a:lnSpc>
            </a:pPr>
            <a:r>
              <a:rPr lang="en-US" sz="2567" spc="2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890218" y="4572600"/>
            <a:ext cx="260390" cy="681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19"/>
              </a:lnSpc>
            </a:pPr>
            <a:r>
              <a:rPr lang="en-US" sz="2567" spc="-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b1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829282" y="5528662"/>
            <a:ext cx="261333" cy="681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19"/>
              </a:lnSpc>
            </a:pPr>
            <a:r>
              <a:rPr lang="en-US" sz="2567" spc="-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b2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910403" y="9919987"/>
            <a:ext cx="164935" cy="405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4"/>
              </a:lnSpc>
            </a:pPr>
            <a:r>
              <a:rPr lang="en-US" sz="2567" spc="-2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358287" y="5524310"/>
            <a:ext cx="183409" cy="405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4"/>
              </a:lnSpc>
            </a:pPr>
            <a:r>
              <a:rPr lang="en-US" sz="2567" spc="-2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589616" y="2025472"/>
            <a:ext cx="164935" cy="405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4"/>
              </a:lnSpc>
            </a:pPr>
            <a:r>
              <a:rPr lang="en-US" sz="2567" spc="-2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295362" y="5220762"/>
            <a:ext cx="241516" cy="1079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60"/>
              </a:lnSpc>
            </a:pPr>
            <a:r>
              <a:rPr lang="en-US" sz="2567" spc="-1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a1 a2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762277" y="4295599"/>
            <a:ext cx="338099" cy="405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4"/>
              </a:lnSpc>
            </a:pPr>
            <a:r>
              <a:rPr lang="en-US" sz="2567" spc="2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N1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429646" y="6578055"/>
            <a:ext cx="146461" cy="405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4"/>
              </a:lnSpc>
            </a:pPr>
            <a:r>
              <a:rPr lang="en-US" sz="2567" spc="-2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343518" y="6267288"/>
            <a:ext cx="354487" cy="353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6"/>
              </a:lnSpc>
            </a:pPr>
            <a:r>
              <a:rPr lang="en-US" sz="2204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N'2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666712" y="4754356"/>
            <a:ext cx="354544" cy="353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6"/>
              </a:lnSpc>
            </a:pPr>
            <a:r>
              <a:rPr lang="en-US" sz="2204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N'1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691858" y="7734314"/>
            <a:ext cx="235744" cy="591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8"/>
              </a:lnSpc>
            </a:pPr>
            <a:r>
              <a:rPr lang="en-US" sz="3670" spc="-29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938189" y="2604359"/>
            <a:ext cx="157005" cy="591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8"/>
              </a:lnSpc>
            </a:pPr>
            <a:r>
              <a:rPr lang="en-US" sz="3670" spc="-29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748933" y="3208220"/>
            <a:ext cx="157005" cy="591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8"/>
              </a:lnSpc>
            </a:pPr>
            <a:r>
              <a:rPr lang="en-US" sz="3670" spc="-29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678517" y="9779641"/>
            <a:ext cx="235744" cy="591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8"/>
              </a:lnSpc>
            </a:pPr>
            <a:r>
              <a:rPr lang="en-US" sz="3670" spc="-29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0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356516" y="1885126"/>
            <a:ext cx="235744" cy="591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8"/>
              </a:lnSpc>
            </a:pPr>
            <a:r>
              <a:rPr lang="en-US" sz="3670" spc="-29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0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4271141" y="6437724"/>
            <a:ext cx="157005" cy="591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8"/>
              </a:lnSpc>
            </a:pPr>
            <a:r>
              <a:rPr lang="en-US" sz="3670" spc="-29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4992317" y="7032598"/>
            <a:ext cx="157005" cy="591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8"/>
              </a:lnSpc>
            </a:pPr>
            <a:r>
              <a:rPr lang="en-US" sz="3670" spc="-29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5165181" y="3098663"/>
            <a:ext cx="235744" cy="591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8"/>
              </a:lnSpc>
            </a:pPr>
            <a:r>
              <a:rPr lang="en-US" sz="3670" spc="-29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240098" y="2828496"/>
            <a:ext cx="117872" cy="291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9"/>
              </a:lnSpc>
            </a:pPr>
            <a:r>
              <a:rPr lang="en-US" sz="1835" spc="-1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905695" y="3432358"/>
            <a:ext cx="117872" cy="291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9"/>
              </a:lnSpc>
            </a:pPr>
            <a:r>
              <a:rPr lang="en-US" sz="1835" spc="-1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0687750" y="3315976"/>
            <a:ext cx="396578" cy="591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8"/>
              </a:lnSpc>
            </a:pPr>
            <a:r>
              <a:rPr lang="en-US" sz="3670" spc="-1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r01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4277242" y="8254908"/>
            <a:ext cx="398336" cy="591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8"/>
              </a:lnSpc>
            </a:pPr>
            <a:r>
              <a:rPr lang="en-US" sz="3670" spc="-7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r02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4573093" y="6661847"/>
            <a:ext cx="117872" cy="291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9"/>
              </a:lnSpc>
            </a:pPr>
            <a:r>
              <a:rPr lang="en-US" sz="1835" spc="-1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2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5149751" y="7256721"/>
            <a:ext cx="117872" cy="291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9"/>
              </a:lnSpc>
            </a:pPr>
            <a:r>
              <a:rPr lang="en-US" sz="1835" spc="-1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2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0486168" y="8994915"/>
            <a:ext cx="442255" cy="657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8"/>
              </a:lnSpc>
            </a:pPr>
            <a:r>
              <a:rPr lang="en-US" sz="3670" spc="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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1706306" y="8040195"/>
            <a:ext cx="427196" cy="628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8"/>
              </a:lnSpc>
            </a:pPr>
            <a:r>
              <a:rPr lang="en-US" sz="3670" spc="1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s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2494576" y="3281358"/>
            <a:ext cx="427882" cy="628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8"/>
              </a:lnSpc>
            </a:pPr>
            <a:r>
              <a:rPr lang="en-US" sz="3670" spc="1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s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2423160" y="2275708"/>
            <a:ext cx="6140982" cy="64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79"/>
              </a:lnSpc>
            </a:pPr>
            <a:r>
              <a:rPr lang="en-US" sz="3906" spc="-3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- Khi 2 bánh </a:t>
            </a:r>
            <a:r>
              <a:rPr lang="en-US" b="true" sz="3906" i="true" spc="-31">
                <a:solidFill>
                  <a:srgbClr val="000000"/>
                </a:solidFill>
                <a:latin typeface="IBM Plex Sans Condensed Bold Italics"/>
                <a:ea typeface="IBM Plex Sans Condensed Bold Italics"/>
                <a:cs typeface="IBM Plex Sans Condensed Bold Italics"/>
                <a:sym typeface="IBM Plex Sans Condensed Bold Italics"/>
              </a:rPr>
              <a:t>răng</a:t>
            </a:r>
            <a:r>
              <a:rPr lang="en-US" sz="3906" spc="-3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b="true" sz="3906" i="true" spc="-31">
                <a:solidFill>
                  <a:srgbClr val="000000"/>
                </a:solidFill>
                <a:latin typeface="IBM Plex Sans Condensed Bold Italics"/>
                <a:ea typeface="IBM Plex Sans Condensed Bold Italics"/>
                <a:cs typeface="IBM Plex Sans Condensed Bold Italics"/>
                <a:sym typeface="IBM Plex Sans Condensed Bold Italics"/>
              </a:rPr>
              <a:t>ănkhớp</a:t>
            </a:r>
            <a:r>
              <a:rPr lang="en-US" sz="3906" spc="-3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2423160" y="2907730"/>
            <a:ext cx="6141096" cy="2952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83"/>
              </a:lnSpc>
            </a:pPr>
            <a:r>
              <a:rPr lang="en-US" b="true" sz="3909" i="true" spc="31">
                <a:solidFill>
                  <a:srgbClr val="000000"/>
                </a:solidFill>
                <a:latin typeface="IBM Plex Sans Condensed Bold Italics"/>
                <a:ea typeface="IBM Plex Sans Condensed Bold Italics"/>
                <a:cs typeface="IBM Plex Sans Condensed Bold Italics"/>
                <a:sym typeface="IBM Plex Sans Condensed Bold Italics"/>
              </a:rPr>
              <a:t>với</a:t>
            </a:r>
            <a:r>
              <a:rPr lang="en-US" sz="3909" spc="3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nhau, </a:t>
            </a:r>
            <a:r>
              <a:rPr lang="en-US" b="true" sz="3909" i="true" spc="31">
                <a:solidFill>
                  <a:srgbClr val="000000"/>
                </a:solidFill>
                <a:latin typeface="IBM Plex Sans Condensed Bold Italics"/>
                <a:ea typeface="IBM Plex Sans Condensed Bold Italics"/>
                <a:cs typeface="IBM Plex Sans Condensed Bold Italics"/>
                <a:sym typeface="IBM Plex Sans Condensed Bold Italics"/>
              </a:rPr>
              <a:t>điểm</a:t>
            </a:r>
            <a:r>
              <a:rPr lang="en-US" sz="3909" spc="3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b="true" sz="3909" i="true" spc="31">
                <a:solidFill>
                  <a:srgbClr val="000000"/>
                </a:solidFill>
                <a:latin typeface="IBM Plex Sans Condensed Bold Italics"/>
                <a:ea typeface="IBM Plex Sans Condensed Bold Italics"/>
                <a:cs typeface="IBM Plex Sans Condensed Bold Italics"/>
                <a:sym typeface="IBM Plex Sans Condensed Bold Italics"/>
              </a:rPr>
              <a:t>ăn</a:t>
            </a:r>
            <a:r>
              <a:rPr lang="en-US" sz="3909" spc="3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b="true" sz="3909" i="true" spc="31">
                <a:solidFill>
                  <a:srgbClr val="000000"/>
                </a:solidFill>
                <a:latin typeface="IBM Plex Sans Condensed Bold Italics"/>
                <a:ea typeface="IBM Plex Sans Condensed Bold Italics"/>
                <a:cs typeface="IBM Plex Sans Condensed Bold Italics"/>
                <a:sym typeface="IBM Plex Sans Condensed Bold Italics"/>
              </a:rPr>
              <a:t>khớp</a:t>
            </a:r>
            <a:r>
              <a:rPr lang="en-US" sz="3909" spc="3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thay </a:t>
            </a:r>
            <a:r>
              <a:rPr lang="en-US" b="true" sz="3909" i="true" spc="31">
                <a:solidFill>
                  <a:srgbClr val="000000"/>
                </a:solidFill>
                <a:latin typeface="IBM Plex Sans Condensed Bold Italics"/>
                <a:ea typeface="IBM Plex Sans Condensed Bold Italics"/>
                <a:cs typeface="IBM Plex Sans Condensed Bold Italics"/>
                <a:sym typeface="IBM Plex Sans Condensed Bold Italics"/>
              </a:rPr>
              <a:t>đổi</a:t>
            </a:r>
            <a:r>
              <a:rPr lang="en-US" sz="3909" spc="3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b="true" sz="3909" i="true" spc="31">
                <a:solidFill>
                  <a:srgbClr val="000000"/>
                </a:solidFill>
                <a:latin typeface="IBM Plex Sans Condensed Bold Italics"/>
                <a:ea typeface="IBM Plex Sans Condensed Bold Italics"/>
                <a:cs typeface="IBM Plex Sans Condensed Bold Italics"/>
                <a:sym typeface="IBM Plex Sans Condensed Bold Italics"/>
              </a:rPr>
              <a:t>vị</a:t>
            </a:r>
            <a:r>
              <a:rPr lang="en-US" sz="3909" spc="3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trí trong quá trình </a:t>
            </a:r>
            <a:r>
              <a:rPr lang="en-US" b="true" sz="3909" i="true" spc="31">
                <a:solidFill>
                  <a:srgbClr val="000000"/>
                </a:solidFill>
                <a:latin typeface="IBM Plex Sans Condensed Bold Italics"/>
                <a:ea typeface="IBM Plex Sans Condensed Bold Italics"/>
                <a:cs typeface="IBM Plex Sans Condensed Bold Italics"/>
                <a:sym typeface="IBM Plex Sans Condensed Bold Italics"/>
              </a:rPr>
              <a:t>ăn</a:t>
            </a:r>
            <a:r>
              <a:rPr lang="en-US" sz="3909" spc="3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b="true" sz="3909" i="true" spc="31">
                <a:solidFill>
                  <a:srgbClr val="000000"/>
                </a:solidFill>
                <a:latin typeface="IBM Plex Sans Condensed Bold Italics"/>
                <a:ea typeface="IBM Plex Sans Condensed Bold Italics"/>
                <a:cs typeface="IBM Plex Sans Condensed Bold Italics"/>
                <a:sym typeface="IBM Plex Sans Condensed Bold Italics"/>
              </a:rPr>
              <a:t>khớp</a:t>
            </a:r>
            <a:r>
              <a:rPr lang="en-US" sz="3909" spc="3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b="true" sz="3909" i="true" spc="31">
                <a:solidFill>
                  <a:srgbClr val="000000"/>
                </a:solidFill>
                <a:latin typeface="IBM Plex Sans Condensed Bold Italics"/>
                <a:ea typeface="IBM Plex Sans Condensed Bold Italics"/>
                <a:cs typeface="IBM Plex Sans Condensed Bold Italics"/>
                <a:sym typeface="IBM Plex Sans Condensed Bold Italics"/>
              </a:rPr>
              <a:t>nhưng</a:t>
            </a:r>
            <a:r>
              <a:rPr lang="en-US" sz="3909" spc="3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b="true" sz="3909" i="true" spc="31">
                <a:solidFill>
                  <a:srgbClr val="000000"/>
                </a:solidFill>
                <a:latin typeface="IBM Plex Sans Condensed Bold Italics"/>
                <a:ea typeface="IBM Plex Sans Condensed Bold Italics"/>
                <a:cs typeface="IBM Plex Sans Condensed Bold Italics"/>
                <a:sym typeface="IBM Plex Sans Condensed Bold Italics"/>
              </a:rPr>
              <a:t>vẫn</a:t>
            </a:r>
            <a:r>
              <a:rPr lang="en-US" sz="3909" spc="3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luôn luôn </a:t>
            </a:r>
            <a:r>
              <a:rPr lang="en-US" b="true" sz="3909" i="true" spc="31">
                <a:solidFill>
                  <a:srgbClr val="000000"/>
                </a:solidFill>
                <a:latin typeface="IBM Plex Sans Condensed Bold Italics"/>
                <a:ea typeface="IBM Plex Sans Condensed Bold Italics"/>
                <a:cs typeface="IBM Plex Sans Condensed Bold Italics"/>
                <a:sym typeface="IBM Plex Sans Condensed Bold Italics"/>
              </a:rPr>
              <a:t>nằm</a:t>
            </a:r>
            <a:r>
              <a:rPr lang="en-US" sz="3909" spc="3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trên pháp </a:t>
            </a:r>
            <a:r>
              <a:rPr lang="en-US" b="true" sz="3909" i="true" spc="31">
                <a:solidFill>
                  <a:srgbClr val="000000"/>
                </a:solidFill>
                <a:latin typeface="IBM Plex Sans Condensed Bold Italics"/>
                <a:ea typeface="IBM Plex Sans Condensed Bold Italics"/>
                <a:cs typeface="IBM Plex Sans Condensed Bold Italics"/>
                <a:sym typeface="IBM Plex Sans Condensed Bold Italics"/>
              </a:rPr>
              <a:t>tuyến</a:t>
            </a:r>
            <a:r>
              <a:rPr lang="en-US" sz="3909" spc="3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n-n </a:t>
            </a:r>
            <a:r>
              <a:rPr lang="en-US" b="true" sz="3909" i="true" spc="31">
                <a:solidFill>
                  <a:srgbClr val="000000"/>
                </a:solidFill>
                <a:latin typeface="IBM Plex Sans Condensed Bold Italics"/>
                <a:ea typeface="IBM Plex Sans Condensed Bold Italics"/>
                <a:cs typeface="IBM Plex Sans Condensed Bold Italics"/>
                <a:sym typeface="IBM Plex Sans Condensed Bold Italics"/>
              </a:rPr>
              <a:t>gọi</a:t>
            </a:r>
            <a:r>
              <a:rPr lang="en-US" sz="3909" spc="3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</a:p>
          <a:p>
            <a:pPr algn="just">
              <a:lnSpc>
                <a:spcPts val="4679"/>
              </a:lnSpc>
            </a:pPr>
            <a:r>
              <a:rPr lang="en-US" sz="3906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là đường ĕn khớp. 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2423160" y="5899090"/>
            <a:ext cx="659111" cy="549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79"/>
              </a:lnSpc>
            </a:pPr>
            <a:r>
              <a:rPr lang="en-US" sz="3906" spc="-3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- N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3070098" y="6014275"/>
            <a:ext cx="5467498" cy="518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3"/>
              </a:lnSpc>
            </a:pPr>
            <a:r>
              <a:rPr lang="en-US" sz="3906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1N2 </a:t>
            </a:r>
            <a:r>
              <a:rPr lang="en-US" b="true" sz="3906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gọi là đoạn ăn khớp lý 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2423160" y="6312722"/>
            <a:ext cx="1519004" cy="736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99"/>
              </a:lnSpc>
            </a:pPr>
            <a:r>
              <a:rPr lang="en-US" b="true" sz="3906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thuyết.</a:t>
            </a:r>
            <a:r>
              <a:rPr lang="en-US" sz="3906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2423160" y="7107903"/>
            <a:ext cx="828532" cy="573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6"/>
              </a:lnSpc>
            </a:pPr>
            <a:r>
              <a:rPr lang="en-US" sz="3909" spc="-3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- </a:t>
            </a:r>
            <a:r>
              <a:rPr lang="en-US" b="true" sz="3909" i="true" spc="-31">
                <a:solidFill>
                  <a:srgbClr val="000000"/>
                </a:solidFill>
                <a:latin typeface="IBM Plex Sans Condensed Bold Italics"/>
                <a:ea typeface="IBM Plex Sans Condensed Bold Italics"/>
                <a:cs typeface="IBM Plex Sans Condensed Bold Italics"/>
                <a:sym typeface="IBM Plex Sans Condensed Bold Italics"/>
              </a:rPr>
              <a:t>N’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3234690" y="7250182"/>
            <a:ext cx="5118440" cy="434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4"/>
              </a:lnSpc>
            </a:pPr>
            <a:r>
              <a:rPr lang="en-US" sz="390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1</a:t>
            </a:r>
            <a:r>
              <a:rPr lang="en-US" b="true" sz="3909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N’</a:t>
            </a:r>
            <a:r>
              <a:rPr lang="en-US" sz="390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2 </a:t>
            </a:r>
            <a:r>
              <a:rPr lang="en-US" b="true" sz="3909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gọi là đoạn ăn khớp 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2423160" y="7502014"/>
            <a:ext cx="1145457" cy="736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99"/>
              </a:lnSpc>
            </a:pPr>
            <a:r>
              <a:rPr lang="en-US" b="true" sz="3906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thực.</a:t>
            </a:r>
            <a:r>
              <a:rPr lang="en-US" sz="3906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81255" y="247645"/>
            <a:ext cx="13030200" cy="1771650"/>
          </a:xfrm>
          <a:custGeom>
            <a:avLst/>
            <a:gdLst/>
            <a:ahLst/>
            <a:cxnLst/>
            <a:rect r="r" b="b" t="t" l="l"/>
            <a:pathLst>
              <a:path h="1771650" w="13030200">
                <a:moveTo>
                  <a:pt x="0" y="0"/>
                </a:moveTo>
                <a:lnTo>
                  <a:pt x="13030200" y="0"/>
                </a:lnTo>
                <a:lnTo>
                  <a:pt x="13030200" y="1771650"/>
                </a:lnTo>
                <a:lnTo>
                  <a:pt x="0" y="17716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16100" y="71"/>
            <a:ext cx="1485900" cy="1464469"/>
          </a:xfrm>
          <a:custGeom>
            <a:avLst/>
            <a:gdLst/>
            <a:ahLst/>
            <a:cxnLst/>
            <a:rect r="r" b="b" t="t" l="l"/>
            <a:pathLst>
              <a:path h="1464469" w="1485900">
                <a:moveTo>
                  <a:pt x="0" y="0"/>
                </a:moveTo>
                <a:lnTo>
                  <a:pt x="1485900" y="0"/>
                </a:lnTo>
                <a:lnTo>
                  <a:pt x="1485900" y="1464469"/>
                </a:lnTo>
                <a:lnTo>
                  <a:pt x="0" y="14644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502534" y="1823256"/>
            <a:ext cx="7435744" cy="8515550"/>
          </a:xfrm>
          <a:custGeom>
            <a:avLst/>
            <a:gdLst/>
            <a:ahLst/>
            <a:cxnLst/>
            <a:rect r="r" b="b" t="t" l="l"/>
            <a:pathLst>
              <a:path h="8515550" w="7435744">
                <a:moveTo>
                  <a:pt x="0" y="0"/>
                </a:moveTo>
                <a:lnTo>
                  <a:pt x="7435744" y="0"/>
                </a:lnTo>
                <a:lnTo>
                  <a:pt x="7435744" y="8515550"/>
                </a:lnTo>
                <a:lnTo>
                  <a:pt x="0" y="85155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423160" y="9746351"/>
            <a:ext cx="2873773" cy="314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Ths. Trương Quang Trường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483460" y="9336776"/>
            <a:ext cx="3134920" cy="793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Khoa Cơ Khí – Công Nghệ Trường ĐH Nông Lâm TPHCM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374447" y="251808"/>
            <a:ext cx="9515789" cy="620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III. ĐɈ͜NG ĂN KHỚP – CUNG ĂN KHỚP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427861" y="528266"/>
            <a:ext cx="5228696" cy="1777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917"/>
              </a:lnSpc>
            </a:pPr>
            <a:r>
              <a:rPr lang="en-US" sz="3603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–</a:t>
            </a:r>
            <a:r>
              <a:rPr lang="en-US" sz="3603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3603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Hʃ</a:t>
            </a:r>
            <a:r>
              <a:rPr lang="en-US" sz="3603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3603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S͐</a:t>
            </a:r>
            <a:r>
              <a:rPr lang="en-US" sz="3603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3603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TRÙNG</a:t>
            </a:r>
            <a:r>
              <a:rPr lang="en-US" sz="3603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3603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KHỚP</a:t>
            </a:r>
          </a:p>
          <a:p>
            <a:pPr algn="r">
              <a:lnSpc>
                <a:spcPts val="8063"/>
              </a:lnSpc>
            </a:pPr>
            <a:r>
              <a:rPr lang="en-US" sz="3670" spc="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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936667" y="1568472"/>
            <a:ext cx="1653892" cy="1964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09"/>
              </a:lnSpc>
            </a:pPr>
            <a:r>
              <a:rPr lang="en-US" sz="3600" spc="7">
                <a:solidFill>
                  <a:srgbClr val="FF0000"/>
                </a:solidFill>
                <a:latin typeface="Arab Times"/>
                <a:ea typeface="Arab Times"/>
                <a:cs typeface="Arab Times"/>
                <a:sym typeface="Arab Times"/>
              </a:rPr>
              <a:t> </a:t>
            </a:r>
          </a:p>
          <a:p>
            <a:pPr algn="l">
              <a:lnSpc>
                <a:spcPts val="5473"/>
              </a:lnSpc>
            </a:pPr>
            <a:r>
              <a:rPr lang="en-US" sz="3909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là cung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854064" y="9864571"/>
            <a:ext cx="658711" cy="36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8"/>
              </a:lnSpc>
            </a:pPr>
            <a:r>
              <a:rPr lang="en-US" sz="2106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- 23 -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095865" y="2744705"/>
            <a:ext cx="146461" cy="405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4"/>
              </a:lnSpc>
            </a:pPr>
            <a:r>
              <a:rPr lang="en-US" sz="2567" spc="-2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694297" y="6742862"/>
            <a:ext cx="338071" cy="405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4"/>
              </a:lnSpc>
            </a:pPr>
            <a:r>
              <a:rPr lang="en-US" sz="2567" spc="2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890218" y="4572600"/>
            <a:ext cx="260390" cy="681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19"/>
              </a:lnSpc>
            </a:pPr>
            <a:r>
              <a:rPr lang="en-US" sz="2567" spc="-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b1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829282" y="5528662"/>
            <a:ext cx="261333" cy="681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19"/>
              </a:lnSpc>
            </a:pPr>
            <a:r>
              <a:rPr lang="en-US" sz="2567" spc="-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b2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910403" y="9919987"/>
            <a:ext cx="164935" cy="405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4"/>
              </a:lnSpc>
            </a:pPr>
            <a:r>
              <a:rPr lang="en-US" sz="2567" spc="-2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2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358287" y="5524310"/>
            <a:ext cx="183409" cy="405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4"/>
              </a:lnSpc>
            </a:pPr>
            <a:r>
              <a:rPr lang="en-US" sz="2567" spc="-2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589616" y="2025472"/>
            <a:ext cx="164935" cy="405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4"/>
              </a:lnSpc>
            </a:pPr>
            <a:r>
              <a:rPr lang="en-US" sz="2567" spc="-2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295362" y="5220762"/>
            <a:ext cx="241516" cy="1079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60"/>
              </a:lnSpc>
            </a:pPr>
            <a:r>
              <a:rPr lang="en-US" sz="2567" spc="-1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a1 a2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762277" y="4295599"/>
            <a:ext cx="338099" cy="405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4"/>
              </a:lnSpc>
            </a:pPr>
            <a:r>
              <a:rPr lang="en-US" sz="2567" spc="2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N1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429646" y="6578055"/>
            <a:ext cx="146461" cy="405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4"/>
              </a:lnSpc>
            </a:pPr>
            <a:r>
              <a:rPr lang="en-US" sz="2567" spc="-2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343518" y="6267288"/>
            <a:ext cx="354487" cy="353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6"/>
              </a:lnSpc>
            </a:pPr>
            <a:r>
              <a:rPr lang="en-US" sz="2204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N'2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666712" y="4754356"/>
            <a:ext cx="354544" cy="353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6"/>
              </a:lnSpc>
            </a:pPr>
            <a:r>
              <a:rPr lang="en-US" sz="2204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N'1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691858" y="7734314"/>
            <a:ext cx="235744" cy="591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8"/>
              </a:lnSpc>
            </a:pPr>
            <a:r>
              <a:rPr lang="en-US" sz="3670" spc="-29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938189" y="2604359"/>
            <a:ext cx="157005" cy="591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8"/>
              </a:lnSpc>
            </a:pPr>
            <a:r>
              <a:rPr lang="en-US" sz="3670" spc="-29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748933" y="3208220"/>
            <a:ext cx="157005" cy="591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8"/>
              </a:lnSpc>
            </a:pPr>
            <a:r>
              <a:rPr lang="en-US" sz="3670" spc="-29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678517" y="9779641"/>
            <a:ext cx="235744" cy="591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8"/>
              </a:lnSpc>
            </a:pPr>
            <a:r>
              <a:rPr lang="en-US" sz="3670" spc="-29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0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356516" y="1885126"/>
            <a:ext cx="235744" cy="591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8"/>
              </a:lnSpc>
            </a:pPr>
            <a:r>
              <a:rPr lang="en-US" sz="3670" spc="-29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0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271141" y="6437724"/>
            <a:ext cx="157005" cy="591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8"/>
              </a:lnSpc>
            </a:pPr>
            <a:r>
              <a:rPr lang="en-US" sz="3670" spc="-29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992317" y="7032598"/>
            <a:ext cx="157005" cy="591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8"/>
              </a:lnSpc>
            </a:pPr>
            <a:r>
              <a:rPr lang="en-US" sz="3670" spc="-29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5165181" y="3098663"/>
            <a:ext cx="235744" cy="591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8"/>
              </a:lnSpc>
            </a:pPr>
            <a:r>
              <a:rPr lang="en-US" sz="3670" spc="-29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240098" y="2828496"/>
            <a:ext cx="117872" cy="291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9"/>
              </a:lnSpc>
            </a:pPr>
            <a:r>
              <a:rPr lang="en-US" sz="1835" spc="-1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905695" y="3432358"/>
            <a:ext cx="117872" cy="291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9"/>
              </a:lnSpc>
            </a:pPr>
            <a:r>
              <a:rPr lang="en-US" sz="1835" spc="-1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687750" y="3315976"/>
            <a:ext cx="396578" cy="591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8"/>
              </a:lnSpc>
            </a:pPr>
            <a:r>
              <a:rPr lang="en-US" sz="3670" spc="-1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r01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4277242" y="8254908"/>
            <a:ext cx="398336" cy="591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8"/>
              </a:lnSpc>
            </a:pPr>
            <a:r>
              <a:rPr lang="en-US" sz="3670" spc="-7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r02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4573093" y="6661847"/>
            <a:ext cx="117872" cy="291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9"/>
              </a:lnSpc>
            </a:pPr>
            <a:r>
              <a:rPr lang="en-US" sz="1835" spc="-1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2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5149751" y="7256721"/>
            <a:ext cx="117872" cy="291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9"/>
              </a:lnSpc>
            </a:pPr>
            <a:r>
              <a:rPr lang="en-US" sz="1835" spc="-1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2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0486168" y="8994915"/>
            <a:ext cx="442255" cy="657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8"/>
              </a:lnSpc>
            </a:pPr>
            <a:r>
              <a:rPr lang="en-US" sz="3670" spc="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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1706306" y="8040195"/>
            <a:ext cx="427196" cy="628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8"/>
              </a:lnSpc>
            </a:pPr>
            <a:r>
              <a:rPr lang="en-US" sz="3670" spc="1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s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494576" y="3281358"/>
            <a:ext cx="427882" cy="628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8"/>
              </a:lnSpc>
            </a:pPr>
            <a:r>
              <a:rPr lang="en-US" sz="3670" spc="1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s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3680931" y="1844697"/>
            <a:ext cx="1669423" cy="6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FF0000"/>
                </a:solidFill>
                <a:latin typeface="Arab Times"/>
                <a:ea typeface="Arab Times"/>
                <a:cs typeface="Arab Times"/>
                <a:sym typeface="Arab Times"/>
              </a:rPr>
              <a:t>2. Cung 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5141600" y="1781708"/>
            <a:ext cx="1830386" cy="1831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040"/>
              </a:lnSpc>
            </a:pPr>
            <a:r>
              <a:rPr lang="en-US" sz="3600">
                <a:solidFill>
                  <a:srgbClr val="FF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ĕn khớp</a:t>
            </a:r>
          </a:p>
          <a:p>
            <a:pPr algn="r">
              <a:lnSpc>
                <a:spcPts val="1954"/>
              </a:lnSpc>
            </a:pPr>
            <a:r>
              <a:rPr lang="en-US" sz="3909" spc="-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1b1, a2b2 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2423160" y="3275162"/>
            <a:ext cx="3911260" cy="886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4"/>
              </a:lnSpc>
            </a:pPr>
            <a:r>
              <a:rPr lang="en-US" sz="3909" spc="3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- Các cung a</a:t>
            </a:r>
          </a:p>
          <a:p>
            <a:pPr algn="l">
              <a:lnSpc>
                <a:spcPts val="5632"/>
              </a:lnSpc>
            </a:pPr>
            <a:r>
              <a:rPr lang="en-US" sz="3906" spc="-7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trên vòng tròn ban 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2423160" y="3517454"/>
            <a:ext cx="6257668" cy="2471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632"/>
              </a:lnSpc>
            </a:pPr>
            <a:r>
              <a:rPr lang="en-US" sz="3906" spc="-7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do các </a:t>
            </a:r>
            <a:r>
              <a:rPr lang="en-US" b="true" sz="3906" i="true" spc="-7">
                <a:solidFill>
                  <a:srgbClr val="000000"/>
                </a:solidFill>
                <a:latin typeface="IBM Plex Sans Condensed Bold Italics"/>
                <a:ea typeface="IBM Plex Sans Condensed Bold Italics"/>
                <a:cs typeface="IBM Plex Sans Condensed Bold Italics"/>
                <a:sym typeface="IBM Plex Sans Condensed Bold Italics"/>
              </a:rPr>
              <a:t>điểm</a:t>
            </a:r>
            <a:r>
              <a:rPr lang="en-US" sz="3906" spc="-7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a1, a2 </a:t>
            </a:r>
            <a:r>
              <a:rPr lang="en-US" b="true" sz="3906" i="true" spc="-7">
                <a:solidFill>
                  <a:srgbClr val="000000"/>
                </a:solidFill>
                <a:latin typeface="IBM Plex Sans Condensed Bold Italics"/>
                <a:ea typeface="IBM Plex Sans Condensed Bold Italics"/>
                <a:cs typeface="IBM Plex Sans Condensed Bold Italics"/>
                <a:sym typeface="IBM Plex Sans Condensed Bold Italics"/>
              </a:rPr>
              <a:t>vẽ</a:t>
            </a:r>
            <a:r>
              <a:rPr lang="en-US" sz="3906" spc="-7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ra trong </a:t>
            </a:r>
            <a:r>
              <a:rPr lang="en-US" b="true" sz="3906" i="true" spc="-7">
                <a:solidFill>
                  <a:srgbClr val="000000"/>
                </a:solidFill>
                <a:latin typeface="IBM Plex Sans Condensed Bold Italics"/>
                <a:ea typeface="IBM Plex Sans Condensed Bold Italics"/>
                <a:cs typeface="IBM Plex Sans Condensed Bold Italics"/>
                <a:sym typeface="IBM Plex Sans Condensed Bold Italics"/>
              </a:rPr>
              <a:t>thời</a:t>
            </a:r>
            <a:r>
              <a:rPr lang="en-US" sz="3906" spc="-7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</a:p>
          <a:p>
            <a:pPr algn="just">
              <a:lnSpc>
                <a:spcPts val="1954"/>
              </a:lnSpc>
            </a:pPr>
            <a:r>
              <a:rPr lang="en-US" sz="3909" spc="15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gian 1 </a:t>
            </a:r>
            <a:r>
              <a:rPr lang="en-US" b="true" sz="3909" i="true" spc="15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đôi</a:t>
            </a:r>
            <a:r>
              <a:rPr lang="en-US" sz="3909" spc="15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b="true" sz="3909" i="true" spc="15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răng</a:t>
            </a:r>
            <a:r>
              <a:rPr lang="en-US" sz="3909" spc="15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b="true" sz="3909" i="true" spc="15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ăn</a:t>
            </a:r>
            <a:r>
              <a:rPr lang="en-US" sz="3909" spc="15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b="true" sz="3909" i="true" spc="15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khớp</a:t>
            </a:r>
            <a:r>
              <a:rPr lang="en-US" sz="3909" spc="15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b="true" sz="3909" i="true" spc="15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gọi</a:t>
            </a:r>
            <a:r>
              <a:rPr lang="en-US" sz="3909" spc="15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là </a:t>
            </a:r>
          </a:p>
          <a:p>
            <a:pPr algn="just">
              <a:lnSpc>
                <a:spcPts val="7409"/>
              </a:lnSpc>
            </a:pPr>
            <a:r>
              <a:rPr lang="en-US" sz="3906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cung ĕn khớp. 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4368917" y="6247705"/>
            <a:ext cx="224657" cy="292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3"/>
              </a:lnSpc>
            </a:pPr>
            <a:r>
              <a:rPr lang="en-US" sz="3906" spc="-3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4588373" y="6247705"/>
            <a:ext cx="2064744" cy="376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3"/>
              </a:lnSpc>
            </a:pPr>
            <a:r>
              <a:rPr lang="en-US" sz="3906" spc="-3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1b1 = a2b2 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6276027" y="3431991"/>
            <a:ext cx="728605" cy="736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68"/>
              </a:lnSpc>
            </a:pPr>
            <a:r>
              <a:rPr lang="en-US" b="true" sz="3906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đầu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81255" y="247645"/>
            <a:ext cx="13030200" cy="1771650"/>
          </a:xfrm>
          <a:custGeom>
            <a:avLst/>
            <a:gdLst/>
            <a:ahLst/>
            <a:cxnLst/>
            <a:rect r="r" b="b" t="t" l="l"/>
            <a:pathLst>
              <a:path h="1771650" w="13030200">
                <a:moveTo>
                  <a:pt x="0" y="0"/>
                </a:moveTo>
                <a:lnTo>
                  <a:pt x="13030200" y="0"/>
                </a:lnTo>
                <a:lnTo>
                  <a:pt x="13030200" y="1771650"/>
                </a:lnTo>
                <a:lnTo>
                  <a:pt x="0" y="17716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16100" y="71"/>
            <a:ext cx="1485900" cy="1464469"/>
          </a:xfrm>
          <a:custGeom>
            <a:avLst/>
            <a:gdLst/>
            <a:ahLst/>
            <a:cxnLst/>
            <a:rect r="r" b="b" t="t" l="l"/>
            <a:pathLst>
              <a:path h="1464469" w="1485900">
                <a:moveTo>
                  <a:pt x="0" y="0"/>
                </a:moveTo>
                <a:lnTo>
                  <a:pt x="1485900" y="0"/>
                </a:lnTo>
                <a:lnTo>
                  <a:pt x="1485900" y="1464469"/>
                </a:lnTo>
                <a:lnTo>
                  <a:pt x="0" y="14644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502534" y="1823256"/>
            <a:ext cx="7435744" cy="8515550"/>
          </a:xfrm>
          <a:custGeom>
            <a:avLst/>
            <a:gdLst/>
            <a:ahLst/>
            <a:cxnLst/>
            <a:rect r="r" b="b" t="t" l="l"/>
            <a:pathLst>
              <a:path h="8515550" w="7435744">
                <a:moveTo>
                  <a:pt x="0" y="0"/>
                </a:moveTo>
                <a:lnTo>
                  <a:pt x="7435744" y="0"/>
                </a:lnTo>
                <a:lnTo>
                  <a:pt x="7435744" y="8515550"/>
                </a:lnTo>
                <a:lnTo>
                  <a:pt x="0" y="85155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423160" y="9746351"/>
            <a:ext cx="2873773" cy="314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Ths. Trương Quang Trường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483460" y="9336776"/>
            <a:ext cx="3134920" cy="793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Khoa Cơ Khí – Công Nghệ Trường ĐH Nông Lâm TPHCM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854064" y="9864571"/>
            <a:ext cx="658711" cy="36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8"/>
              </a:lnSpc>
            </a:pPr>
            <a:r>
              <a:rPr lang="en-US" sz="2106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- 24 -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374447" y="251808"/>
            <a:ext cx="9515789" cy="620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III. ĐɈ͜NG ĂN KHỚP – CUNG ĂN KHỚP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427861" y="775916"/>
            <a:ext cx="5195164" cy="645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6"/>
              </a:lnSpc>
            </a:pPr>
            <a:r>
              <a:rPr lang="en-US" sz="3603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–</a:t>
            </a:r>
            <a:r>
              <a:rPr lang="en-US" sz="3603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3603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Hʃ</a:t>
            </a:r>
            <a:r>
              <a:rPr lang="en-US" sz="3603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3603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S͐</a:t>
            </a:r>
            <a:r>
              <a:rPr lang="en-US" sz="3603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3603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TRÙNG</a:t>
            </a:r>
            <a:r>
              <a:rPr lang="en-US" sz="3603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3603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KHỚP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611051" y="1473222"/>
            <a:ext cx="116586" cy="6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0"/>
              </a:lnSpc>
            </a:pPr>
            <a:r>
              <a:rPr lang="en-US" sz="3600">
                <a:solidFill>
                  <a:srgbClr val="FF0000"/>
                </a:solidFill>
                <a:latin typeface="Arab Times"/>
                <a:ea typeface="Arab Times"/>
                <a:cs typeface="Arab Times"/>
                <a:sym typeface="Arab Times"/>
              </a:rPr>
              <a:t>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120404" y="1959778"/>
            <a:ext cx="442298" cy="343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5"/>
              </a:lnSpc>
            </a:pPr>
            <a:r>
              <a:rPr lang="en-US" sz="3670" spc="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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735324" y="1216047"/>
            <a:ext cx="466815" cy="897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74"/>
              </a:lnSpc>
            </a:pPr>
            <a:r>
              <a:rPr lang="en-US" sz="3600">
                <a:solidFill>
                  <a:srgbClr val="FF0000"/>
                </a:solidFill>
                <a:latin typeface="Arab Times"/>
                <a:ea typeface="Arab Times"/>
                <a:cs typeface="Arab Times"/>
                <a:sym typeface="Arab Times"/>
              </a:rPr>
              <a:t>3.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386187" y="1216047"/>
            <a:ext cx="1231154" cy="897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74"/>
              </a:lnSpc>
            </a:pPr>
            <a:r>
              <a:rPr lang="en-US" sz="3600">
                <a:solidFill>
                  <a:srgbClr val="FF0000"/>
                </a:solidFill>
                <a:latin typeface="Arab Times"/>
                <a:ea typeface="Arab Times"/>
                <a:cs typeface="Arab Times"/>
                <a:sym typeface="Arab Times"/>
              </a:rPr>
              <a:t>trùng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451860" y="2095100"/>
            <a:ext cx="3496223" cy="988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74"/>
              </a:lnSpc>
            </a:pPr>
            <a:r>
              <a:rPr lang="en-US" sz="3600">
                <a:solidFill>
                  <a:srgbClr val="00B050"/>
                </a:solidFill>
                <a:latin typeface="Arab Times"/>
                <a:ea typeface="Arab Times"/>
                <a:cs typeface="Arab Times"/>
                <a:sym typeface="Arab Times"/>
              </a:rPr>
              <a:t> = a1b1/t = a2b2/t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192895" y="1474699"/>
            <a:ext cx="1100566" cy="680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spc="3">
                <a:solidFill>
                  <a:srgbClr val="FF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Hệsố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593195" y="1474699"/>
            <a:ext cx="1037601" cy="680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spc="3">
                <a:solidFill>
                  <a:srgbClr val="FF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khớp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095865" y="2744705"/>
            <a:ext cx="146461" cy="405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4"/>
              </a:lnSpc>
            </a:pPr>
            <a:r>
              <a:rPr lang="en-US" sz="2567" spc="-2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694297" y="6742862"/>
            <a:ext cx="338071" cy="405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4"/>
              </a:lnSpc>
            </a:pPr>
            <a:r>
              <a:rPr lang="en-US" sz="2567" spc="2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890218" y="4572600"/>
            <a:ext cx="260390" cy="681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19"/>
              </a:lnSpc>
            </a:pPr>
            <a:r>
              <a:rPr lang="en-US" sz="2567" spc="-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b1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829282" y="5528662"/>
            <a:ext cx="261333" cy="681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19"/>
              </a:lnSpc>
            </a:pPr>
            <a:r>
              <a:rPr lang="en-US" sz="2567" spc="-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b2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910403" y="9919987"/>
            <a:ext cx="164935" cy="405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4"/>
              </a:lnSpc>
            </a:pPr>
            <a:r>
              <a:rPr lang="en-US" sz="2567" spc="-2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2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358287" y="5524310"/>
            <a:ext cx="183409" cy="405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4"/>
              </a:lnSpc>
            </a:pPr>
            <a:r>
              <a:rPr lang="en-US" sz="2567" spc="-2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589616" y="2025472"/>
            <a:ext cx="164935" cy="405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4"/>
              </a:lnSpc>
            </a:pPr>
            <a:r>
              <a:rPr lang="en-US" sz="2567" spc="-2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295362" y="5220762"/>
            <a:ext cx="241516" cy="1079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60"/>
              </a:lnSpc>
            </a:pPr>
            <a:r>
              <a:rPr lang="en-US" sz="2567" spc="-1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a1 a2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762277" y="4295599"/>
            <a:ext cx="338099" cy="405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4"/>
              </a:lnSpc>
            </a:pPr>
            <a:r>
              <a:rPr lang="en-US" sz="2567" spc="2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N1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429646" y="6578055"/>
            <a:ext cx="146461" cy="405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4"/>
              </a:lnSpc>
            </a:pPr>
            <a:r>
              <a:rPr lang="en-US" sz="2567" spc="-2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343518" y="6267288"/>
            <a:ext cx="354487" cy="353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6"/>
              </a:lnSpc>
            </a:pPr>
            <a:r>
              <a:rPr lang="en-US" sz="2204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N'2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666712" y="4754356"/>
            <a:ext cx="354544" cy="353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6"/>
              </a:lnSpc>
            </a:pPr>
            <a:r>
              <a:rPr lang="en-US" sz="2204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N'1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691858" y="7734314"/>
            <a:ext cx="235744" cy="591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8"/>
              </a:lnSpc>
            </a:pPr>
            <a:r>
              <a:rPr lang="en-US" sz="3670" spc="-29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938189" y="2604359"/>
            <a:ext cx="157005" cy="591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8"/>
              </a:lnSpc>
            </a:pPr>
            <a:r>
              <a:rPr lang="en-US" sz="3670" spc="-29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748933" y="3208220"/>
            <a:ext cx="157005" cy="591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8"/>
              </a:lnSpc>
            </a:pPr>
            <a:r>
              <a:rPr lang="en-US" sz="3670" spc="-29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678517" y="9779641"/>
            <a:ext cx="235744" cy="591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8"/>
              </a:lnSpc>
            </a:pPr>
            <a:r>
              <a:rPr lang="en-US" sz="3670" spc="-29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0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356516" y="1885126"/>
            <a:ext cx="235744" cy="591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8"/>
              </a:lnSpc>
            </a:pPr>
            <a:r>
              <a:rPr lang="en-US" sz="3670" spc="-29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0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4271141" y="6437724"/>
            <a:ext cx="157005" cy="591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8"/>
              </a:lnSpc>
            </a:pPr>
            <a:r>
              <a:rPr lang="en-US" sz="3670" spc="-29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4992317" y="7032598"/>
            <a:ext cx="157005" cy="591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8"/>
              </a:lnSpc>
            </a:pPr>
            <a:r>
              <a:rPr lang="en-US" sz="3670" spc="-29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5165181" y="3098663"/>
            <a:ext cx="235744" cy="591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8"/>
              </a:lnSpc>
            </a:pPr>
            <a:r>
              <a:rPr lang="en-US" sz="3670" spc="-29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240098" y="2828496"/>
            <a:ext cx="117872" cy="291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9"/>
              </a:lnSpc>
            </a:pPr>
            <a:r>
              <a:rPr lang="en-US" sz="1835" spc="-1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905695" y="3432358"/>
            <a:ext cx="117872" cy="291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9"/>
              </a:lnSpc>
            </a:pPr>
            <a:r>
              <a:rPr lang="en-US" sz="1835" spc="-1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687750" y="3315976"/>
            <a:ext cx="396578" cy="591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8"/>
              </a:lnSpc>
            </a:pPr>
            <a:r>
              <a:rPr lang="en-US" sz="3670" spc="-1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r01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4277242" y="8254908"/>
            <a:ext cx="398336" cy="591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8"/>
              </a:lnSpc>
            </a:pPr>
            <a:r>
              <a:rPr lang="en-US" sz="3670" spc="-7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r02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4573093" y="6661847"/>
            <a:ext cx="117872" cy="291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9"/>
              </a:lnSpc>
            </a:pPr>
            <a:r>
              <a:rPr lang="en-US" sz="1835" spc="-1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2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5149751" y="7256721"/>
            <a:ext cx="117872" cy="291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9"/>
              </a:lnSpc>
            </a:pPr>
            <a:r>
              <a:rPr lang="en-US" sz="1835" spc="-1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2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0486168" y="8994915"/>
            <a:ext cx="442255" cy="657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8"/>
              </a:lnSpc>
            </a:pPr>
            <a:r>
              <a:rPr lang="en-US" sz="3670" spc="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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1706306" y="8040195"/>
            <a:ext cx="427196" cy="628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8"/>
              </a:lnSpc>
            </a:pPr>
            <a:r>
              <a:rPr lang="en-US" sz="3670" spc="1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s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2494576" y="3281358"/>
            <a:ext cx="427882" cy="628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8"/>
              </a:lnSpc>
            </a:pPr>
            <a:r>
              <a:rPr lang="en-US" sz="3670" spc="1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s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2423146" y="3756650"/>
            <a:ext cx="5995364" cy="5072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98"/>
              </a:lnSpc>
            </a:pPr>
            <a:r>
              <a:rPr lang="en-US" sz="3006" spc="1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+ </a:t>
            </a:r>
            <a:r>
              <a:rPr lang="en-US" b="true" sz="3006" i="true" spc="12">
                <a:solidFill>
                  <a:srgbClr val="000000"/>
                </a:solidFill>
                <a:latin typeface="IBM Plex Sans Condensed Bold Italics"/>
                <a:ea typeface="IBM Plex Sans Condensed Bold Italics"/>
                <a:cs typeface="IBM Plex Sans Condensed Bold Italics"/>
                <a:sym typeface="IBM Plex Sans Condensed Bold Italics"/>
              </a:rPr>
              <a:t>Hệ</a:t>
            </a:r>
            <a:r>
              <a:rPr lang="en-US" sz="3006" spc="1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b="true" sz="3006" i="true" spc="12">
                <a:solidFill>
                  <a:srgbClr val="000000"/>
                </a:solidFill>
                <a:latin typeface="IBM Plex Sans Condensed Bold Italics"/>
                <a:ea typeface="IBM Plex Sans Condensed Bold Italics"/>
                <a:cs typeface="IBM Plex Sans Condensed Bold Italics"/>
                <a:sym typeface="IBM Plex Sans Condensed Bold Italics"/>
              </a:rPr>
              <a:t>số</a:t>
            </a:r>
            <a:r>
              <a:rPr lang="en-US" sz="3006" spc="1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trùng </a:t>
            </a:r>
            <a:r>
              <a:rPr lang="en-US" b="true" sz="3006" i="true" spc="12">
                <a:solidFill>
                  <a:srgbClr val="000000"/>
                </a:solidFill>
                <a:latin typeface="IBM Plex Sans Condensed Bold Italics"/>
                <a:ea typeface="IBM Plex Sans Condensed Bold Italics"/>
                <a:cs typeface="IBM Plex Sans Condensed Bold Italics"/>
                <a:sym typeface="IBM Plex Sans Condensed Bold Italics"/>
              </a:rPr>
              <a:t>khớp</a:t>
            </a:r>
            <a:r>
              <a:rPr lang="en-US" sz="3006" spc="1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không </a:t>
            </a:r>
            <a:r>
              <a:rPr lang="en-US" b="true" sz="3006" i="true" spc="12">
                <a:solidFill>
                  <a:srgbClr val="000000"/>
                </a:solidFill>
                <a:latin typeface="IBM Plex Sans Condensed Bold Italics"/>
                <a:ea typeface="IBM Plex Sans Condensed Bold Italics"/>
                <a:cs typeface="IBM Plex Sans Condensed Bold Italics"/>
                <a:sym typeface="IBM Plex Sans Condensed Bold Italics"/>
              </a:rPr>
              <a:t>phụ</a:t>
            </a:r>
            <a:r>
              <a:rPr lang="en-US" sz="3006" spc="1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b="true" sz="3006" i="true" spc="12">
                <a:solidFill>
                  <a:srgbClr val="000000"/>
                </a:solidFill>
                <a:latin typeface="IBM Plex Sans Condensed Bold Italics"/>
                <a:ea typeface="IBM Plex Sans Condensed Bold Italics"/>
                <a:cs typeface="IBM Plex Sans Condensed Bold Italics"/>
                <a:sym typeface="IBM Plex Sans Condensed Bold Italics"/>
              </a:rPr>
              <a:t>thuộc</a:t>
            </a:r>
            <a:r>
              <a:rPr lang="en-US" sz="3006" spc="1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vào </a:t>
            </a:r>
            <a:r>
              <a:rPr lang="en-US" b="true" sz="3006" i="true" spc="12">
                <a:solidFill>
                  <a:srgbClr val="000000"/>
                </a:solidFill>
                <a:latin typeface="IBM Plex Sans Condensed Bold Italics"/>
                <a:ea typeface="IBM Plex Sans Condensed Bold Italics"/>
                <a:cs typeface="IBM Plex Sans Condensed Bold Italics"/>
                <a:sym typeface="IBM Plex Sans Condensed Bold Italics"/>
              </a:rPr>
              <a:t>môđun</a:t>
            </a:r>
            <a:r>
              <a:rPr lang="en-US" sz="3006" spc="1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mà </a:t>
            </a:r>
            <a:r>
              <a:rPr lang="en-US" b="true" sz="3006" i="true" spc="12">
                <a:solidFill>
                  <a:srgbClr val="000000"/>
                </a:solidFill>
                <a:latin typeface="IBM Plex Sans Condensed Bold Italics"/>
                <a:ea typeface="IBM Plex Sans Condensed Bold Italics"/>
                <a:cs typeface="IBM Plex Sans Condensed Bold Italics"/>
                <a:sym typeface="IBM Plex Sans Condensed Bold Italics"/>
              </a:rPr>
              <a:t>phụ</a:t>
            </a:r>
            <a:r>
              <a:rPr lang="en-US" sz="3006" spc="1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b="true" sz="3006" i="true" spc="12">
                <a:solidFill>
                  <a:srgbClr val="000000"/>
                </a:solidFill>
                <a:latin typeface="IBM Plex Sans Condensed Bold Italics"/>
                <a:ea typeface="IBM Plex Sans Condensed Bold Italics"/>
                <a:cs typeface="IBM Plex Sans Condensed Bold Italics"/>
                <a:sym typeface="IBM Plex Sans Condensed Bold Italics"/>
              </a:rPr>
              <a:t>thuộc</a:t>
            </a:r>
            <a:r>
              <a:rPr lang="en-US" sz="3006" spc="1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vào góc </a:t>
            </a:r>
            <a:r>
              <a:rPr lang="en-US" b="true" sz="3006" i="true" spc="12">
                <a:solidFill>
                  <a:srgbClr val="000000"/>
                </a:solidFill>
                <a:latin typeface="IBM Plex Sans Condensed Bold Italics"/>
                <a:ea typeface="IBM Plex Sans Condensed Bold Italics"/>
                <a:cs typeface="IBM Plex Sans Condensed Bold Italics"/>
                <a:sym typeface="IBM Plex Sans Condensed Bold Italics"/>
              </a:rPr>
              <a:t>ăn</a:t>
            </a:r>
            <a:r>
              <a:rPr lang="en-US" sz="3006" spc="1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</a:p>
          <a:p>
            <a:pPr algn="just">
              <a:lnSpc>
                <a:spcPts val="3602"/>
              </a:lnSpc>
            </a:pPr>
            <a:r>
              <a:rPr lang="en-US" b="true" sz="3009" i="true" spc="30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khớp</a:t>
            </a:r>
            <a:r>
              <a:rPr lang="en-US" sz="3009" spc="3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và </a:t>
            </a:r>
            <a:r>
              <a:rPr lang="en-US" b="true" sz="3009" i="true" spc="30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chiều</a:t>
            </a:r>
            <a:r>
              <a:rPr lang="en-US" sz="3009" spc="3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dài </a:t>
            </a:r>
            <a:r>
              <a:rPr lang="en-US" b="true" sz="3009" i="true" spc="30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đoạn</a:t>
            </a:r>
            <a:r>
              <a:rPr lang="en-US" sz="3009" spc="3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b="true" sz="3009" i="true" spc="30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ăn</a:t>
            </a:r>
            <a:r>
              <a:rPr lang="en-US" sz="3009" spc="3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b="true" sz="3009" i="true" spc="30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khớp</a:t>
            </a:r>
            <a:r>
              <a:rPr lang="en-US" sz="3009" spc="3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b="true" sz="3009" i="true" spc="30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thực</a:t>
            </a:r>
            <a:r>
              <a:rPr lang="en-US" sz="3009" spc="3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b="true" sz="3009" i="true" spc="30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tế</a:t>
            </a:r>
            <a:r>
              <a:rPr lang="en-US" sz="3009" spc="3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. </a:t>
            </a:r>
            <a:r>
              <a:rPr lang="en-US" b="true" sz="3009" i="true" spc="30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(số</a:t>
            </a:r>
            <a:r>
              <a:rPr lang="en-US" sz="3009" spc="3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b="true" sz="3009" i="true" spc="30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răng</a:t>
            </a:r>
            <a:r>
              <a:rPr lang="en-US" sz="3009" spc="3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và </a:t>
            </a:r>
            <a:r>
              <a:rPr lang="en-US" b="true" sz="3009" i="true" spc="30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hệ</a:t>
            </a:r>
            <a:r>
              <a:rPr lang="en-US" sz="3009" spc="3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b="true" sz="3009" i="true" spc="30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số</a:t>
            </a:r>
            <a:r>
              <a:rPr lang="en-US" sz="3009" spc="3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b="true" sz="3009" i="true" spc="30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chiều</a:t>
            </a:r>
            <a:r>
              <a:rPr lang="en-US" sz="3009" spc="3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cao </a:t>
            </a:r>
            <a:r>
              <a:rPr lang="en-US" b="true" sz="3009" i="true" spc="30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răng)</a:t>
            </a:r>
            <a:r>
              <a:rPr lang="en-US" sz="3009" spc="3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+ </a:t>
            </a:r>
            <a:r>
              <a:rPr lang="en-US" b="true" sz="3009" i="true" spc="30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Để</a:t>
            </a:r>
            <a:r>
              <a:rPr lang="en-US" sz="3009" spc="3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b="true" sz="3009" i="true" spc="30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đảm</a:t>
            </a:r>
            <a:r>
              <a:rPr lang="en-US" sz="3009" spc="3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b="true" sz="3009" i="true" spc="30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bảo</a:t>
            </a:r>
            <a:r>
              <a:rPr lang="en-US" sz="3009" spc="3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b="true" sz="3009" i="true" spc="30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truyền</a:t>
            </a:r>
            <a:r>
              <a:rPr lang="en-US" sz="3009" spc="3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b="true" sz="3009" i="true" spc="30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động</a:t>
            </a:r>
            <a:r>
              <a:rPr lang="en-US" sz="3009" spc="3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liên </a:t>
            </a:r>
            <a:r>
              <a:rPr lang="en-US" b="true" sz="3009" i="true" spc="30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tục</a:t>
            </a:r>
            <a:r>
              <a:rPr lang="en-US" sz="3009" spc="3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b="true" sz="3009" i="true" spc="30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giữa</a:t>
            </a:r>
            <a:r>
              <a:rPr lang="en-US" sz="3009" spc="3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2 bánh </a:t>
            </a:r>
            <a:r>
              <a:rPr lang="en-US" b="true" sz="3009" i="true" spc="30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răng,</a:t>
            </a:r>
            <a:r>
              <a:rPr lang="en-US" sz="3009" spc="3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b="true" sz="3009" i="true" spc="30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phải</a:t>
            </a:r>
            <a:r>
              <a:rPr lang="en-US" sz="3009" spc="3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b="true" sz="3009" i="true" spc="30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thỏa</a:t>
            </a:r>
            <a:r>
              <a:rPr lang="en-US" sz="3009" spc="3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mãn </a:t>
            </a:r>
            <a:r>
              <a:rPr lang="en-US" b="true" sz="3009" i="true" spc="30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điều</a:t>
            </a:r>
            <a:r>
              <a:rPr lang="en-US" sz="3009" spc="3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</a:p>
          <a:p>
            <a:pPr algn="just">
              <a:lnSpc>
                <a:spcPts val="3602"/>
              </a:lnSpc>
            </a:pPr>
            <a:r>
              <a:rPr lang="en-US" b="true" sz="3009" i="true" spc="-24">
                <a:solidFill>
                  <a:srgbClr val="000000"/>
                </a:solidFill>
                <a:latin typeface="IBM Plex Sans Condensed Bold Italics"/>
                <a:ea typeface="IBM Plex Sans Condensed Bold Italics"/>
                <a:cs typeface="IBM Plex Sans Condensed Bold Italics"/>
                <a:sym typeface="IBM Plex Sans Condensed Bold Italics"/>
              </a:rPr>
              <a:t>kiện</a:t>
            </a:r>
            <a:r>
              <a:rPr lang="en-US" sz="3009" spc="-2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  1. Do </a:t>
            </a:r>
            <a:r>
              <a:rPr lang="en-US" b="true" sz="3009" i="true" spc="-24">
                <a:solidFill>
                  <a:srgbClr val="000000"/>
                </a:solidFill>
                <a:latin typeface="IBM Plex Sans Condensed Bold Italics"/>
                <a:ea typeface="IBM Plex Sans Condensed Bold Italics"/>
                <a:cs typeface="IBM Plex Sans Condensed Bold Italics"/>
                <a:sym typeface="IBM Plex Sans Condensed Bold Italics"/>
              </a:rPr>
              <a:t>chế</a:t>
            </a:r>
            <a:r>
              <a:rPr lang="en-US" sz="3009" spc="-2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b="true" sz="3009" i="true" spc="-24">
                <a:solidFill>
                  <a:srgbClr val="000000"/>
                </a:solidFill>
                <a:latin typeface="IBM Plex Sans Condensed Bold Italics"/>
                <a:ea typeface="IBM Plex Sans Condensed Bold Italics"/>
                <a:cs typeface="IBM Plex Sans Condensed Bold Italics"/>
                <a:sym typeface="IBM Plex Sans Condensed Bold Italics"/>
              </a:rPr>
              <a:t>tạo</a:t>
            </a:r>
            <a:r>
              <a:rPr lang="en-US" sz="3009" spc="-2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và </a:t>
            </a:r>
            <a:r>
              <a:rPr lang="en-US" b="true" sz="3009" i="true" spc="-24">
                <a:solidFill>
                  <a:srgbClr val="000000"/>
                </a:solidFill>
                <a:latin typeface="IBM Plex Sans Condensed Bold Italics"/>
                <a:ea typeface="IBM Plex Sans Condensed Bold Italics"/>
                <a:cs typeface="IBM Plex Sans Condensed Bold Italics"/>
                <a:sym typeface="IBM Plex Sans Condensed Bold Italics"/>
              </a:rPr>
              <a:t>lắp</a:t>
            </a:r>
            <a:r>
              <a:rPr lang="en-US" sz="3009" spc="-2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ráp không hoàn toàn chính xác, các </a:t>
            </a:r>
            <a:r>
              <a:rPr lang="en-US" b="true" sz="3009" i="true" spc="-24">
                <a:solidFill>
                  <a:srgbClr val="000000"/>
                </a:solidFill>
                <a:latin typeface="IBM Plex Sans Condensed Bold Italics"/>
                <a:ea typeface="IBM Plex Sans Condensed Bold Italics"/>
                <a:cs typeface="IBM Plex Sans Condensed Bold Italics"/>
                <a:sym typeface="IBM Plex Sans Condensed Bold Italics"/>
              </a:rPr>
              <a:t>răng</a:t>
            </a:r>
            <a:r>
              <a:rPr lang="en-US" sz="3009" spc="-2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b="true" sz="3009" i="true" spc="-24">
                <a:solidFill>
                  <a:srgbClr val="000000"/>
                </a:solidFill>
                <a:latin typeface="IBM Plex Sans Condensed Bold Italics"/>
                <a:ea typeface="IBM Plex Sans Condensed Bold Italics"/>
                <a:cs typeface="IBM Plex Sans Condensed Bold Italics"/>
                <a:sym typeface="IBM Plex Sans Condensed Bold Italics"/>
              </a:rPr>
              <a:t>lại</a:t>
            </a:r>
            <a:r>
              <a:rPr lang="en-US" sz="3009" spc="-2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b="true" sz="3009" i="true" spc="-24">
                <a:solidFill>
                  <a:srgbClr val="000000"/>
                </a:solidFill>
                <a:latin typeface="IBM Plex Sans Condensed Bold Italics"/>
                <a:ea typeface="IBM Plex Sans Condensed Bold Italics"/>
                <a:cs typeface="IBM Plex Sans Condensed Bold Italics"/>
                <a:sym typeface="IBM Plex Sans Condensed Bold Italics"/>
              </a:rPr>
              <a:t>bị</a:t>
            </a:r>
            <a:r>
              <a:rPr lang="en-US" sz="3009" spc="-2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mòn trong quá trình làm </a:t>
            </a:r>
            <a:r>
              <a:rPr lang="en-US" b="true" sz="3009" i="true" spc="-24">
                <a:solidFill>
                  <a:srgbClr val="000000"/>
                </a:solidFill>
                <a:latin typeface="IBM Plex Sans Condensed Bold Italics"/>
                <a:ea typeface="IBM Plex Sans Condensed Bold Italics"/>
                <a:cs typeface="IBM Plex Sans Condensed Bold Italics"/>
                <a:sym typeface="IBM Plex Sans Condensed Bold Italics"/>
              </a:rPr>
              <a:t>việc,</a:t>
            </a:r>
            <a:r>
              <a:rPr lang="en-US" sz="3009" spc="-2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</a:p>
          <a:p>
            <a:pPr algn="just">
              <a:lnSpc>
                <a:spcPts val="3598"/>
              </a:lnSpc>
            </a:pPr>
            <a:r>
              <a:rPr lang="en-US" b="true" sz="3006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người</a:t>
            </a:r>
            <a:r>
              <a:rPr lang="en-US" sz="3006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ta </a:t>
            </a:r>
            <a:r>
              <a:rPr lang="en-US" b="true" sz="3006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thường</a:t>
            </a:r>
            <a:r>
              <a:rPr lang="en-US" sz="3006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b="true" sz="3006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lấy</a:t>
            </a:r>
            <a:r>
              <a:rPr lang="en-US" sz="3006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3006">
                <a:solidFill>
                  <a:srgbClr val="FF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  1,05</a:t>
            </a:r>
            <a:r>
              <a:rPr lang="en-US" sz="3006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. 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81255" y="247645"/>
            <a:ext cx="13030200" cy="1771650"/>
          </a:xfrm>
          <a:custGeom>
            <a:avLst/>
            <a:gdLst/>
            <a:ahLst/>
            <a:cxnLst/>
            <a:rect r="r" b="b" t="t" l="l"/>
            <a:pathLst>
              <a:path h="1771650" w="13030200">
                <a:moveTo>
                  <a:pt x="0" y="0"/>
                </a:moveTo>
                <a:lnTo>
                  <a:pt x="13030200" y="0"/>
                </a:lnTo>
                <a:lnTo>
                  <a:pt x="13030200" y="1771650"/>
                </a:lnTo>
                <a:lnTo>
                  <a:pt x="0" y="17716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16100" y="71"/>
            <a:ext cx="1485900" cy="1464469"/>
          </a:xfrm>
          <a:custGeom>
            <a:avLst/>
            <a:gdLst/>
            <a:ahLst/>
            <a:cxnLst/>
            <a:rect r="r" b="b" t="t" l="l"/>
            <a:pathLst>
              <a:path h="1464469" w="1485900">
                <a:moveTo>
                  <a:pt x="0" y="0"/>
                </a:moveTo>
                <a:lnTo>
                  <a:pt x="1485900" y="0"/>
                </a:lnTo>
                <a:lnTo>
                  <a:pt x="1485900" y="1464469"/>
                </a:lnTo>
                <a:lnTo>
                  <a:pt x="0" y="14644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423160" y="9746351"/>
            <a:ext cx="2873773" cy="314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Ths. Trương Quang Trường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483460" y="9336776"/>
            <a:ext cx="3134920" cy="793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Khoa Cơ Khí – Công Nghệ Trường ĐH Nông Lâm TPHCM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854064" y="9864571"/>
            <a:ext cx="658711" cy="36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8"/>
              </a:lnSpc>
            </a:pPr>
            <a:r>
              <a:rPr lang="en-US" sz="2106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- 25 -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374447" y="251808"/>
            <a:ext cx="9515789" cy="620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III. ĐɈ͜NG ĂN KHỚP – CUNG ĂN KHỚP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427861" y="775916"/>
            <a:ext cx="5195164" cy="645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6"/>
              </a:lnSpc>
            </a:pPr>
            <a:r>
              <a:rPr lang="en-US" sz="3603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–</a:t>
            </a:r>
            <a:r>
              <a:rPr lang="en-US" sz="3603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3603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Hʃ</a:t>
            </a:r>
            <a:r>
              <a:rPr lang="en-US" sz="3603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3603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S͐</a:t>
            </a:r>
            <a:r>
              <a:rPr lang="en-US" sz="3603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3603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TRÙNG</a:t>
            </a:r>
            <a:r>
              <a:rPr lang="en-US" sz="3603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3603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KHỚP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062843" y="1473222"/>
            <a:ext cx="116586" cy="6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0"/>
              </a:lnSpc>
            </a:pPr>
            <a:r>
              <a:rPr lang="en-US" sz="3600">
                <a:solidFill>
                  <a:srgbClr val="FF0000"/>
                </a:solidFill>
                <a:latin typeface="Arab Times"/>
                <a:ea typeface="Arab Times"/>
                <a:cs typeface="Arab Times"/>
                <a:sym typeface="Arab Times"/>
              </a:rPr>
              <a:t>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735324" y="1501797"/>
            <a:ext cx="466815" cy="6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spc="3">
                <a:solidFill>
                  <a:srgbClr val="FF0000"/>
                </a:solidFill>
                <a:latin typeface="Arab Times"/>
                <a:ea typeface="Arab Times"/>
                <a:cs typeface="Arab Times"/>
                <a:sym typeface="Arab Times"/>
              </a:rPr>
              <a:t>4.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192895" y="1495958"/>
            <a:ext cx="4510592" cy="659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8"/>
              </a:lnSpc>
            </a:pPr>
            <a:r>
              <a:rPr lang="en-US" sz="3600">
                <a:solidFill>
                  <a:srgbClr val="FF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Điều kiệnĕnkhớpđều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743064" y="2181220"/>
            <a:ext cx="3094001" cy="2026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7"/>
              </a:lnSpc>
            </a:pPr>
            <a:r>
              <a:rPr lang="en-US" sz="3294" spc="-2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</a:p>
          <a:p>
            <a:pPr algn="l">
              <a:lnSpc>
                <a:spcPts val="3959"/>
              </a:lnSpc>
            </a:pPr>
            <a:r>
              <a:rPr lang="en-US" sz="3294" spc="3">
                <a:solidFill>
                  <a:srgbClr val="0066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+ăĕnăkhớpăđúng +ăĕnăkhớpătrùng +ăĕnăkhớpăkhít 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81255" y="247645"/>
            <a:ext cx="13030200" cy="1771650"/>
          </a:xfrm>
          <a:custGeom>
            <a:avLst/>
            <a:gdLst/>
            <a:ahLst/>
            <a:cxnLst/>
            <a:rect r="r" b="b" t="t" l="l"/>
            <a:pathLst>
              <a:path h="1771650" w="13030200">
                <a:moveTo>
                  <a:pt x="0" y="0"/>
                </a:moveTo>
                <a:lnTo>
                  <a:pt x="13030200" y="0"/>
                </a:lnTo>
                <a:lnTo>
                  <a:pt x="13030200" y="1771650"/>
                </a:lnTo>
                <a:lnTo>
                  <a:pt x="0" y="17716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16100" y="71"/>
            <a:ext cx="1485900" cy="1464469"/>
          </a:xfrm>
          <a:custGeom>
            <a:avLst/>
            <a:gdLst/>
            <a:ahLst/>
            <a:cxnLst/>
            <a:rect r="r" b="b" t="t" l="l"/>
            <a:pathLst>
              <a:path h="1464469" w="1485900">
                <a:moveTo>
                  <a:pt x="0" y="0"/>
                </a:moveTo>
                <a:lnTo>
                  <a:pt x="1485900" y="0"/>
                </a:lnTo>
                <a:lnTo>
                  <a:pt x="1485900" y="1464469"/>
                </a:lnTo>
                <a:lnTo>
                  <a:pt x="0" y="14644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289222" y="4229100"/>
            <a:ext cx="7712778" cy="6057900"/>
          </a:xfrm>
          <a:custGeom>
            <a:avLst/>
            <a:gdLst/>
            <a:ahLst/>
            <a:cxnLst/>
            <a:rect r="r" b="b" t="t" l="l"/>
            <a:pathLst>
              <a:path h="6057900" w="7712778">
                <a:moveTo>
                  <a:pt x="0" y="0"/>
                </a:moveTo>
                <a:lnTo>
                  <a:pt x="7712778" y="0"/>
                </a:lnTo>
                <a:lnTo>
                  <a:pt x="7712778" y="6057900"/>
                </a:lnTo>
                <a:lnTo>
                  <a:pt x="0" y="60579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423160" y="9746351"/>
            <a:ext cx="2873773" cy="314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Ths. Trương Quang Trường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483460" y="9336776"/>
            <a:ext cx="3134920" cy="793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Khoa Cơ Khí – Công Nghệ Trường ĐH Nông Lâm TPHCM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854064" y="9864571"/>
            <a:ext cx="658711" cy="36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8"/>
              </a:lnSpc>
            </a:pPr>
            <a:r>
              <a:rPr lang="en-US" sz="2106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- 26 -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374447" y="251808"/>
            <a:ext cx="9515789" cy="620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III. ĐɈ͜NG ĂN KHỚP – CUNG ĂN KHỚP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427861" y="775916"/>
            <a:ext cx="5195164" cy="645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6"/>
              </a:lnSpc>
            </a:pPr>
            <a:r>
              <a:rPr lang="en-US" sz="3603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–</a:t>
            </a:r>
            <a:r>
              <a:rPr lang="en-US" sz="3603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3603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Hʃ</a:t>
            </a:r>
            <a:r>
              <a:rPr lang="en-US" sz="3603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3603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S͐</a:t>
            </a:r>
            <a:r>
              <a:rPr lang="en-US" sz="3603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3603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TRÙNG</a:t>
            </a:r>
            <a:r>
              <a:rPr lang="en-US" sz="3603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3603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KHỚP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062843" y="1473222"/>
            <a:ext cx="116586" cy="6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0"/>
              </a:lnSpc>
            </a:pPr>
            <a:r>
              <a:rPr lang="en-US" sz="3600">
                <a:solidFill>
                  <a:srgbClr val="FF0000"/>
                </a:solidFill>
                <a:latin typeface="Arab Times"/>
                <a:ea typeface="Arab Times"/>
                <a:cs typeface="Arab Times"/>
                <a:sym typeface="Arab Times"/>
              </a:rPr>
              <a:t>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735324" y="1501797"/>
            <a:ext cx="466815" cy="6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spc="3">
                <a:solidFill>
                  <a:srgbClr val="FF0000"/>
                </a:solidFill>
                <a:latin typeface="Arab Times"/>
                <a:ea typeface="Arab Times"/>
                <a:cs typeface="Arab Times"/>
                <a:sym typeface="Arab Times"/>
              </a:rPr>
              <a:t>4.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192895" y="1400708"/>
            <a:ext cx="4510592" cy="754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93"/>
              </a:lnSpc>
            </a:pPr>
            <a:r>
              <a:rPr lang="en-US" sz="3600">
                <a:solidFill>
                  <a:srgbClr val="FF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Điều kiệnĕnkhớpđều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778126" y="2147826"/>
            <a:ext cx="106670" cy="60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26"/>
              </a:lnSpc>
            </a:pPr>
            <a:r>
              <a:rPr lang="en-US" sz="3294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501527" y="2185926"/>
            <a:ext cx="2002365" cy="566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11"/>
              </a:lnSpc>
            </a:pPr>
            <a:r>
              <a:rPr lang="en-US" sz="3294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 chính xác)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428368" y="2062101"/>
            <a:ext cx="6191645" cy="731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82"/>
              </a:lnSpc>
            </a:pPr>
            <a:r>
              <a:rPr lang="en-US" sz="3294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a)Điềukiệnĕnkhớpđúng (ĕn khớp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128162" y="2750244"/>
            <a:ext cx="2030782" cy="755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82"/>
              </a:lnSpc>
            </a:pPr>
            <a:r>
              <a:rPr lang="en-US" sz="3294" spc="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- </a:t>
            </a:r>
            <a:r>
              <a:rPr lang="en-US" b="true" sz="3294" i="true" spc="3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Điều</a:t>
            </a:r>
            <a:r>
              <a:rPr lang="en-US" sz="3294" spc="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b="true" sz="3294" i="true" spc="3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kiện</a:t>
            </a:r>
            <a:r>
              <a:rPr lang="en-US" sz="3294" spc="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426507" y="3258926"/>
            <a:ext cx="132288" cy="33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6"/>
              </a:lnSpc>
            </a:pPr>
            <a:r>
              <a:rPr lang="en-US" sz="3892" spc="11">
                <a:solidFill>
                  <a:srgbClr val="0000FF"/>
                </a:solidFill>
                <a:latin typeface="Arab Times"/>
                <a:ea typeface="Arab Times"/>
                <a:cs typeface="Arab Times"/>
                <a:sym typeface="Arab Times"/>
              </a:rPr>
              <a:t>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991763" y="3212840"/>
            <a:ext cx="487647" cy="1287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6"/>
              </a:lnSpc>
            </a:pPr>
            <a:r>
              <a:rPr lang="en-US" sz="3892" spc="11">
                <a:solidFill>
                  <a:srgbClr val="0000FF"/>
                </a:solidFill>
                <a:latin typeface="Arimo"/>
                <a:ea typeface="Arimo"/>
                <a:cs typeface="Arimo"/>
                <a:sym typeface="Arimo"/>
              </a:rPr>
              <a:t>t</a:t>
            </a:r>
          </a:p>
          <a:p>
            <a:pPr algn="l">
              <a:lnSpc>
                <a:spcPts val="9197"/>
              </a:lnSpc>
            </a:pPr>
            <a:r>
              <a:rPr lang="en-US" sz="3959" spc="-31">
                <a:solidFill>
                  <a:srgbClr val="0000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,t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110403" y="3331093"/>
            <a:ext cx="726919" cy="252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47"/>
              </a:lnSpc>
            </a:pPr>
            <a:r>
              <a:rPr lang="en-US" sz="3294" spc="-1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hay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571253" y="3417299"/>
            <a:ext cx="183794" cy="249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2"/>
              </a:lnSpc>
            </a:pPr>
            <a:r>
              <a:rPr lang="en-US" sz="2253">
                <a:solidFill>
                  <a:srgbClr val="0000FF"/>
                </a:solidFill>
                <a:latin typeface="Arab Times"/>
                <a:ea typeface="Arab Times"/>
                <a:cs typeface="Arab Times"/>
                <a:sym typeface="Arab Times"/>
              </a:rPr>
              <a:t>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738131" y="3609570"/>
            <a:ext cx="99684" cy="128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5"/>
              </a:lnSpc>
            </a:pPr>
            <a:r>
              <a:rPr lang="en-US" sz="1630" spc="-13">
                <a:solidFill>
                  <a:srgbClr val="0000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484810" y="3154980"/>
            <a:ext cx="319168" cy="521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6"/>
              </a:lnSpc>
            </a:pPr>
            <a:r>
              <a:rPr lang="en-US" sz="2253">
                <a:solidFill>
                  <a:srgbClr val="0000FF"/>
                </a:solidFill>
                <a:latin typeface="Arab Times"/>
                <a:ea typeface="Arab Times"/>
                <a:cs typeface="Arab Times"/>
                <a:sym typeface="Arab Times"/>
              </a:rPr>
              <a:t>N</a:t>
            </a:r>
            <a:r>
              <a:rPr lang="en-US" sz="2253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258046" y="3269280"/>
            <a:ext cx="150547" cy="335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1"/>
              </a:lnSpc>
            </a:pPr>
            <a:r>
              <a:rPr lang="en-US" sz="3983">
                <a:solidFill>
                  <a:srgbClr val="0000FF"/>
                </a:solidFill>
                <a:latin typeface="Arab Times"/>
                <a:ea typeface="Arab Times"/>
                <a:cs typeface="Arab Times"/>
                <a:sym typeface="Arab Times"/>
              </a:rPr>
              <a:t>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880053" y="3222336"/>
            <a:ext cx="545740" cy="362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1"/>
              </a:lnSpc>
            </a:pPr>
            <a:r>
              <a:rPr lang="en-US" sz="3983">
                <a:solidFill>
                  <a:srgbClr val="0000FF"/>
                </a:solidFill>
                <a:latin typeface="Arimo"/>
                <a:ea typeface="Arimo"/>
                <a:cs typeface="Arimo"/>
                <a:sym typeface="Arimo"/>
              </a:rPr>
              <a:t>t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672948" y="3444907"/>
            <a:ext cx="177922" cy="282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5"/>
              </a:lnSpc>
            </a:pPr>
            <a:r>
              <a:rPr lang="en-US" sz="1630" spc="-13">
                <a:solidFill>
                  <a:srgbClr val="0000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2</a:t>
            </a:r>
            <a:r>
              <a:rPr lang="en-US" sz="1630" spc="-1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401493" y="3492532"/>
            <a:ext cx="297494" cy="252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0"/>
              </a:lnSpc>
            </a:pPr>
            <a:r>
              <a:rPr lang="en-US" sz="2301">
                <a:solidFill>
                  <a:srgbClr val="0000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O1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411105" y="3492532"/>
            <a:ext cx="322112" cy="252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0"/>
              </a:lnSpc>
            </a:pPr>
            <a:r>
              <a:rPr lang="en-US" sz="2301">
                <a:solidFill>
                  <a:srgbClr val="0000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O2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994646" y="3435720"/>
            <a:ext cx="2703081" cy="1084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97"/>
              </a:lnSpc>
            </a:pPr>
            <a:r>
              <a:rPr lang="en-US" b="true" sz="3959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Các thông số </a:t>
            </a:r>
            <a:r>
              <a:rPr lang="en-US" sz="3959">
                <a:solidFill>
                  <a:srgbClr val="0000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641719" y="4399978"/>
            <a:ext cx="219585" cy="197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4"/>
              </a:lnSpc>
            </a:pPr>
            <a:r>
              <a:rPr lang="en-US" sz="2288">
                <a:solidFill>
                  <a:srgbClr val="0000FF"/>
                </a:solidFill>
                <a:latin typeface="Arab Times"/>
                <a:ea typeface="Arab Times"/>
                <a:cs typeface="Arab Times"/>
                <a:sym typeface="Arab Times"/>
              </a:rPr>
              <a:t>O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817756" y="4546468"/>
            <a:ext cx="110542" cy="123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1"/>
              </a:lnSpc>
            </a:pPr>
            <a:r>
              <a:rPr lang="en-US" sz="1663" spc="-13">
                <a:solidFill>
                  <a:srgbClr val="0000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304288" y="4409503"/>
            <a:ext cx="314868" cy="249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4"/>
              </a:lnSpc>
            </a:pPr>
            <a:r>
              <a:rPr lang="en-US" sz="2288">
                <a:solidFill>
                  <a:srgbClr val="0000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O2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880346" y="4513316"/>
            <a:ext cx="5305063" cy="2340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828"/>
              </a:lnSpc>
            </a:pPr>
            <a:r>
              <a:rPr lang="en-US" sz="3294" spc="-2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là thông </a:t>
            </a:r>
            <a:r>
              <a:rPr lang="en-US" b="true" sz="3294" i="true" spc="-23">
                <a:solidFill>
                  <a:srgbClr val="000000"/>
                </a:solidFill>
                <a:latin typeface="IBM Plex Sans Condensed Bold Italics"/>
                <a:ea typeface="IBM Plex Sans Condensed Bold Italics"/>
                <a:cs typeface="IBM Plex Sans Condensed Bold Italics"/>
                <a:sym typeface="IBM Plex Sans Condensed Bold Italics"/>
              </a:rPr>
              <a:t>số</a:t>
            </a:r>
            <a:r>
              <a:rPr lang="en-US" sz="3294" spc="-2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b="true" sz="3294" i="true" spc="-23">
                <a:solidFill>
                  <a:srgbClr val="000000"/>
                </a:solidFill>
                <a:latin typeface="IBM Plex Sans Condensed Bold Italics"/>
                <a:ea typeface="IBM Plex Sans Condensed Bold Italics"/>
                <a:cs typeface="IBM Plex Sans Condensed Bold Italics"/>
                <a:sym typeface="IBM Plex Sans Condensed Bold Italics"/>
              </a:rPr>
              <a:t>chế</a:t>
            </a:r>
            <a:r>
              <a:rPr lang="en-US" sz="3294" spc="-2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b="true" sz="3294" i="true" spc="-23">
                <a:solidFill>
                  <a:srgbClr val="000000"/>
                </a:solidFill>
                <a:latin typeface="IBM Plex Sans Condensed Bold Italics"/>
                <a:ea typeface="IBM Plex Sans Condensed Bold Italics"/>
                <a:cs typeface="IBM Plex Sans Condensed Bold Italics"/>
                <a:sym typeface="IBM Plex Sans Condensed Bold Italics"/>
              </a:rPr>
              <a:t>tạo,</a:t>
            </a:r>
            <a:r>
              <a:rPr lang="en-US" sz="3294" spc="-2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do </a:t>
            </a:r>
            <a:r>
              <a:rPr lang="en-US" b="true" sz="3294" i="true" spc="-23">
                <a:solidFill>
                  <a:srgbClr val="000000"/>
                </a:solidFill>
                <a:latin typeface="IBM Plex Sans Condensed Bold Italics"/>
                <a:ea typeface="IBM Plex Sans Condensed Bold Italics"/>
                <a:cs typeface="IBM Plex Sans Condensed Bold Italics"/>
                <a:sym typeface="IBM Plex Sans Condensed Bold Italics"/>
              </a:rPr>
              <a:t>đó</a:t>
            </a:r>
            <a:r>
              <a:rPr lang="en-US" sz="3294" spc="-2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b="true" sz="3294" i="true" spc="-23">
                <a:solidFill>
                  <a:srgbClr val="000000"/>
                </a:solidFill>
                <a:latin typeface="IBM Plex Sans Condensed Bold Italics"/>
                <a:ea typeface="IBM Plex Sans Condensed Bold Italics"/>
                <a:cs typeface="IBM Plex Sans Condensed Bold Italics"/>
                <a:sym typeface="IBM Plex Sans Condensed Bold Italics"/>
              </a:rPr>
              <a:t>việc</a:t>
            </a:r>
            <a:r>
              <a:rPr lang="en-US" sz="3294" spc="-2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</a:p>
          <a:p>
            <a:pPr algn="just">
              <a:lnSpc>
                <a:spcPts val="1647"/>
              </a:lnSpc>
            </a:pPr>
            <a:r>
              <a:rPr lang="en-US" sz="329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thay </a:t>
            </a:r>
            <a:r>
              <a:rPr lang="en-US" b="true" sz="3294" i="true">
                <a:solidFill>
                  <a:srgbClr val="000000"/>
                </a:solidFill>
                <a:latin typeface="IBM Plex Sans Condensed Bold Italics"/>
                <a:ea typeface="IBM Plex Sans Condensed Bold Italics"/>
                <a:cs typeface="IBM Plex Sans Condensed Bold Italics"/>
                <a:sym typeface="IBM Plex Sans Condensed Bold Italics"/>
              </a:rPr>
              <a:t>đổi</a:t>
            </a:r>
            <a:r>
              <a:rPr lang="en-US" sz="329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b="true" sz="3294" i="true">
                <a:solidFill>
                  <a:srgbClr val="000000"/>
                </a:solidFill>
                <a:latin typeface="IBM Plex Sans Condensed Bold Italics"/>
                <a:ea typeface="IBM Plex Sans Condensed Bold Italics"/>
                <a:cs typeface="IBM Plex Sans Condensed Bold Italics"/>
                <a:sym typeface="IBM Plex Sans Condensed Bold Italics"/>
              </a:rPr>
              <a:t>khoảng</a:t>
            </a:r>
            <a:r>
              <a:rPr lang="en-US" sz="329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cách </a:t>
            </a:r>
            <a:r>
              <a:rPr lang="en-US" b="true" sz="3294" i="true">
                <a:solidFill>
                  <a:srgbClr val="000000"/>
                </a:solidFill>
                <a:latin typeface="IBM Plex Sans Condensed Bold Italics"/>
                <a:ea typeface="IBM Plex Sans Condensed Bold Italics"/>
                <a:cs typeface="IBM Plex Sans Condensed Bold Italics"/>
                <a:sym typeface="IBM Plex Sans Condensed Bold Italics"/>
              </a:rPr>
              <a:t>trục</a:t>
            </a:r>
            <a:r>
              <a:rPr lang="en-US" sz="329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</a:p>
          <a:p>
            <a:pPr algn="just">
              <a:lnSpc>
                <a:spcPts val="6271"/>
              </a:lnSpc>
            </a:pPr>
            <a:r>
              <a:rPr lang="en-US" sz="3294" spc="5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không </a:t>
            </a:r>
            <a:r>
              <a:rPr lang="en-US" b="true" sz="3294" i="true" spc="59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ảnh</a:t>
            </a:r>
            <a:r>
              <a:rPr lang="en-US" sz="3294" spc="5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b="true" sz="3294" i="true" spc="59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hưởng</a:t>
            </a:r>
            <a:r>
              <a:rPr lang="en-US" sz="3294" spc="5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gì </a:t>
            </a:r>
            <a:r>
              <a:rPr lang="en-US" b="true" sz="3294" i="true" spc="59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đến</a:t>
            </a:r>
            <a:r>
              <a:rPr lang="en-US" sz="3294" spc="5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b="true" sz="3294" i="true" spc="59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điều</a:t>
            </a:r>
            <a:r>
              <a:rPr lang="en-US" sz="3294" spc="5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</a:p>
          <a:p>
            <a:pPr algn="just">
              <a:lnSpc>
                <a:spcPts val="1653"/>
              </a:lnSpc>
            </a:pPr>
            <a:r>
              <a:rPr lang="en-US" b="true" sz="3294" i="true" spc="3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kiện</a:t>
            </a:r>
            <a:r>
              <a:rPr lang="en-US" sz="3294" spc="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b="true" sz="3294" i="true" spc="3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ăn</a:t>
            </a:r>
            <a:r>
              <a:rPr lang="en-US" sz="3294" spc="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b="true" sz="3294" i="true" spc="3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khớp</a:t>
            </a:r>
            <a:r>
              <a:rPr lang="en-US" sz="3294" spc="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b="true" sz="3294" i="true" spc="3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đúng</a:t>
            </a:r>
            <a:r>
              <a:rPr lang="en-US" sz="3294" spc="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81255" y="247645"/>
            <a:ext cx="13030200" cy="1771650"/>
          </a:xfrm>
          <a:custGeom>
            <a:avLst/>
            <a:gdLst/>
            <a:ahLst/>
            <a:cxnLst/>
            <a:rect r="r" b="b" t="t" l="l"/>
            <a:pathLst>
              <a:path h="1771650" w="13030200">
                <a:moveTo>
                  <a:pt x="0" y="0"/>
                </a:moveTo>
                <a:lnTo>
                  <a:pt x="13030200" y="0"/>
                </a:lnTo>
                <a:lnTo>
                  <a:pt x="13030200" y="1771650"/>
                </a:lnTo>
                <a:lnTo>
                  <a:pt x="0" y="17716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7841980" y="2895390"/>
            <a:ext cx="629464" cy="21603"/>
            <a:chOff x="0" y="0"/>
            <a:chExt cx="419646" cy="1440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19608" cy="14351"/>
            </a:xfrm>
            <a:custGeom>
              <a:avLst/>
              <a:gdLst/>
              <a:ahLst/>
              <a:cxnLst/>
              <a:rect r="r" b="b" t="t" l="l"/>
              <a:pathLst>
                <a:path h="14351" w="419608">
                  <a:moveTo>
                    <a:pt x="0" y="0"/>
                  </a:moveTo>
                  <a:lnTo>
                    <a:pt x="419608" y="0"/>
                  </a:lnTo>
                  <a:lnTo>
                    <a:pt x="419608" y="14351"/>
                  </a:lnTo>
                  <a:lnTo>
                    <a:pt x="0" y="14351"/>
                  </a:lnTo>
                  <a:close/>
                </a:path>
              </a:pathLst>
            </a:custGeom>
            <a:solidFill>
              <a:srgbClr val="0000FF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3581862" y="4801229"/>
            <a:ext cx="6260983" cy="1039230"/>
          </a:xfrm>
          <a:custGeom>
            <a:avLst/>
            <a:gdLst/>
            <a:ahLst/>
            <a:cxnLst/>
            <a:rect r="r" b="b" t="t" l="l"/>
            <a:pathLst>
              <a:path h="1039230" w="6260983">
                <a:moveTo>
                  <a:pt x="0" y="0"/>
                </a:moveTo>
                <a:lnTo>
                  <a:pt x="6260982" y="0"/>
                </a:lnTo>
                <a:lnTo>
                  <a:pt x="6260982" y="1039230"/>
                </a:lnTo>
                <a:lnTo>
                  <a:pt x="0" y="10392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8941489" y="2895390"/>
            <a:ext cx="628579" cy="21603"/>
            <a:chOff x="0" y="0"/>
            <a:chExt cx="419049" cy="1440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19100" cy="14351"/>
            </a:xfrm>
            <a:custGeom>
              <a:avLst/>
              <a:gdLst/>
              <a:ahLst/>
              <a:cxnLst/>
              <a:rect r="r" b="b" t="t" l="l"/>
              <a:pathLst>
                <a:path h="14351" w="419100">
                  <a:moveTo>
                    <a:pt x="0" y="0"/>
                  </a:moveTo>
                  <a:lnTo>
                    <a:pt x="419100" y="0"/>
                  </a:lnTo>
                  <a:lnTo>
                    <a:pt x="419100" y="14351"/>
                  </a:lnTo>
                  <a:lnTo>
                    <a:pt x="0" y="14351"/>
                  </a:lnTo>
                  <a:close/>
                </a:path>
              </a:pathLst>
            </a:custGeom>
            <a:solidFill>
              <a:srgbClr val="0000FF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4516100" y="71"/>
            <a:ext cx="1485900" cy="1464469"/>
          </a:xfrm>
          <a:custGeom>
            <a:avLst/>
            <a:gdLst/>
            <a:ahLst/>
            <a:cxnLst/>
            <a:rect r="r" b="b" t="t" l="l"/>
            <a:pathLst>
              <a:path h="1464469" w="1485900">
                <a:moveTo>
                  <a:pt x="0" y="0"/>
                </a:moveTo>
                <a:lnTo>
                  <a:pt x="1485900" y="0"/>
                </a:lnTo>
                <a:lnTo>
                  <a:pt x="1485900" y="1464469"/>
                </a:lnTo>
                <a:lnTo>
                  <a:pt x="0" y="14644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548933" y="3543314"/>
            <a:ext cx="5453067" cy="4833933"/>
          </a:xfrm>
          <a:custGeom>
            <a:avLst/>
            <a:gdLst/>
            <a:ahLst/>
            <a:cxnLst/>
            <a:rect r="r" b="b" t="t" l="l"/>
            <a:pathLst>
              <a:path h="4833933" w="5453067">
                <a:moveTo>
                  <a:pt x="0" y="0"/>
                </a:moveTo>
                <a:lnTo>
                  <a:pt x="5453067" y="0"/>
                </a:lnTo>
                <a:lnTo>
                  <a:pt x="5453067" y="4833933"/>
                </a:lnTo>
                <a:lnTo>
                  <a:pt x="0" y="483393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423160" y="9746351"/>
            <a:ext cx="2873773" cy="314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Ths. Trương Quang Trường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483460" y="9336776"/>
            <a:ext cx="3134920" cy="793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Khoa Cơ Khí – Công Nghệ Trường ĐH Nông Lâm TPHCM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854064" y="9864571"/>
            <a:ext cx="658711" cy="36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8"/>
              </a:lnSpc>
            </a:pPr>
            <a:r>
              <a:rPr lang="en-US" sz="2106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- 27 -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374447" y="251808"/>
            <a:ext cx="9515789" cy="620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III. ĐɈ͜NG ĂN KHỚP – CUNG ĂN KHỚP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427861" y="775916"/>
            <a:ext cx="5195164" cy="645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6"/>
              </a:lnSpc>
            </a:pPr>
            <a:r>
              <a:rPr lang="en-US" sz="3603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–</a:t>
            </a:r>
            <a:r>
              <a:rPr lang="en-US" sz="3603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3603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Hʃ</a:t>
            </a:r>
            <a:r>
              <a:rPr lang="en-US" sz="3603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3603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S͐</a:t>
            </a:r>
            <a:r>
              <a:rPr lang="en-US" sz="3603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3603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TRÙNG</a:t>
            </a:r>
            <a:r>
              <a:rPr lang="en-US" sz="3603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3603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KHỚP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062843" y="1473222"/>
            <a:ext cx="116586" cy="6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0"/>
              </a:lnSpc>
            </a:pPr>
            <a:r>
              <a:rPr lang="en-US" sz="3600">
                <a:solidFill>
                  <a:srgbClr val="FF0000"/>
                </a:solidFill>
                <a:latin typeface="Arab Times"/>
                <a:ea typeface="Arab Times"/>
                <a:cs typeface="Arab Times"/>
                <a:sym typeface="Arab Times"/>
              </a:rPr>
              <a:t>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078695" y="1568472"/>
            <a:ext cx="4627093" cy="5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10"/>
              </a:lnSpc>
            </a:pPr>
            <a:r>
              <a:rPr lang="en-US" sz="3600">
                <a:solidFill>
                  <a:srgbClr val="FF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Điều kiệnĕnkhớpđều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999586" y="2081151"/>
            <a:ext cx="106670" cy="442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3"/>
              </a:lnSpc>
            </a:pPr>
            <a:r>
              <a:rPr lang="en-US" sz="3294" spc="6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365567" y="2081151"/>
            <a:ext cx="1035287" cy="442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3"/>
              </a:lnSpc>
            </a:pPr>
            <a:r>
              <a:rPr lang="en-US" sz="3294" spc="6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trùng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623260" y="2381283"/>
            <a:ext cx="753951" cy="830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17"/>
              </a:lnSpc>
            </a:pPr>
            <a:r>
              <a:rPr lang="en-US" sz="3207" spc="16">
                <a:solidFill>
                  <a:srgbClr val="0000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t</a:t>
            </a:r>
            <a:r>
              <a:rPr lang="en-US" sz="3207" spc="1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104917" y="2340154"/>
            <a:ext cx="644723" cy="768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42"/>
              </a:lnSpc>
            </a:pPr>
            <a:r>
              <a:rPr lang="en-US" sz="3662" i="true" spc="18">
                <a:solidFill>
                  <a:srgbClr val="0000FF"/>
                </a:solidFill>
                <a:latin typeface="Arimo Italics"/>
                <a:ea typeface="Arimo Italics"/>
                <a:cs typeface="Arimo Italics"/>
                <a:sym typeface="Arimo Italics"/>
              </a:rPr>
              <a:t></a:t>
            </a:r>
            <a:r>
              <a:rPr lang="en-US" sz="3662" spc="18">
                <a:solidFill>
                  <a:srgbClr val="0000FF"/>
                </a:solidFill>
                <a:latin typeface="Arimo"/>
                <a:ea typeface="Arimo"/>
                <a:cs typeface="Arimo"/>
                <a:sym typeface="Arimo"/>
              </a:rPr>
              <a:t>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587430" y="2358961"/>
            <a:ext cx="252503" cy="749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86"/>
              </a:lnSpc>
            </a:pPr>
            <a:r>
              <a:rPr lang="en-US" sz="3465" spc="17">
                <a:solidFill>
                  <a:srgbClr val="0000FF"/>
                </a:solidFill>
                <a:latin typeface="Arimo"/>
                <a:ea typeface="Arimo"/>
                <a:cs typeface="Arimo"/>
                <a:sym typeface="Arimo"/>
              </a:rPr>
              <a:t>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730398" y="1957326"/>
            <a:ext cx="463429" cy="566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11"/>
              </a:lnSpc>
            </a:pPr>
            <a:r>
              <a:rPr lang="en-US" sz="3294" spc="6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b)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735324" y="1635147"/>
            <a:ext cx="349758" cy="478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10"/>
              </a:lnSpc>
            </a:pPr>
            <a:r>
              <a:rPr lang="en-US" sz="3600">
                <a:solidFill>
                  <a:srgbClr val="FF0000"/>
                </a:solidFill>
                <a:latin typeface="Arab Times"/>
                <a:ea typeface="Arab Times"/>
                <a:cs typeface="Arab Times"/>
                <a:sym typeface="Arab Times"/>
              </a:rPr>
              <a:t>4.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185312" y="2060219"/>
            <a:ext cx="3134206" cy="501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3"/>
              </a:lnSpc>
            </a:pPr>
            <a:r>
              <a:rPr lang="en-US" sz="3294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Điều</a:t>
            </a:r>
            <a:r>
              <a:rPr lang="en-US" sz="3294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3294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kiện</a:t>
            </a:r>
            <a:r>
              <a:rPr lang="en-US" sz="3294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3294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ĕn</a:t>
            </a:r>
            <a:r>
              <a:rPr lang="en-US" sz="3294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3294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khớp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909164" y="2175543"/>
            <a:ext cx="2678721" cy="1066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83"/>
              </a:lnSpc>
            </a:pPr>
            <a:r>
              <a:rPr lang="en-US" sz="3294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- </a:t>
            </a:r>
            <a:r>
              <a:rPr lang="en-US" b="true" sz="3294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Điềukiện</a:t>
            </a:r>
            <a:r>
              <a:rPr lang="en-US" sz="3294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3294">
                <a:solidFill>
                  <a:srgbClr val="0000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AB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063101" y="2687426"/>
            <a:ext cx="166692" cy="513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48"/>
              </a:lnSpc>
            </a:pPr>
            <a:r>
              <a:rPr lang="en-US" sz="1853">
                <a:solidFill>
                  <a:srgbClr val="0000FF"/>
                </a:solidFill>
                <a:latin typeface="Arab Times"/>
                <a:ea typeface="Arab Times"/>
                <a:cs typeface="Arab Times"/>
                <a:sym typeface="Arab Times"/>
              </a:rPr>
              <a:t>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909164" y="8590397"/>
            <a:ext cx="5645920" cy="688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11"/>
              </a:lnSpc>
            </a:pPr>
            <a:r>
              <a:rPr lang="en-US" sz="3294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b="true" sz="3294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phụ thuộc vào điều kiện chế tạo 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683375" y="2619361"/>
            <a:ext cx="1223567" cy="622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11"/>
              </a:lnSpc>
            </a:pPr>
            <a:r>
              <a:rPr lang="en-US" sz="3294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: </a:t>
            </a:r>
            <a:r>
              <a:rPr lang="en-US" b="true" sz="3294" i="true" spc="3">
                <a:solidFill>
                  <a:srgbClr val="000000"/>
                </a:solidFill>
                <a:latin typeface="IBM Plex Sans Condensed Bold Italics"/>
                <a:ea typeface="IBM Plex Sans Condensed Bold Italics"/>
                <a:cs typeface="IBM Plex Sans Condensed Bold Italics"/>
                <a:sym typeface="IBM Plex Sans Condensed Bold Italics"/>
              </a:rPr>
              <a:t>hệ</a:t>
            </a:r>
            <a:r>
              <a:rPr lang="en-US" sz="3294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b="true" sz="3294" i="true" spc="3">
                <a:solidFill>
                  <a:srgbClr val="000000"/>
                </a:solidFill>
                <a:latin typeface="IBM Plex Sans Condensed Bold Italics"/>
                <a:ea typeface="IBM Plex Sans Condensed Bold Italics"/>
                <a:cs typeface="IBM Plex Sans Condensed Bold Italics"/>
                <a:sym typeface="IBM Plex Sans Condensed Bold Italics"/>
              </a:rPr>
              <a:t>số</a:t>
            </a:r>
            <a:r>
              <a:rPr lang="en-US" sz="3294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311203" y="8224014"/>
            <a:ext cx="3670202" cy="946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50"/>
              </a:lnSpc>
            </a:pPr>
            <a:r>
              <a:rPr lang="en-US" b="true" sz="4393" i="true" spc="17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và điều kiện lắp ráp </a:t>
            </a:r>
            <a:r>
              <a:rPr lang="en-US" sz="4393" spc="17">
                <a:solidFill>
                  <a:srgbClr val="0000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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768207" y="2552686"/>
            <a:ext cx="1081721" cy="688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11"/>
              </a:lnSpc>
            </a:pPr>
            <a:r>
              <a:rPr lang="en-US" sz="3294" spc="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b="true" sz="3294" i="true" spc="3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khớp</a:t>
            </a:r>
            <a:r>
              <a:rPr lang="en-US" sz="3294" spc="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978219" y="2598715"/>
            <a:ext cx="229972" cy="562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51"/>
              </a:lnSpc>
            </a:pPr>
            <a:r>
              <a:rPr lang="en-US" sz="3465" spc="-27">
                <a:solidFill>
                  <a:srgbClr val="0000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904845" y="2245881"/>
            <a:ext cx="556055" cy="601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14"/>
              </a:lnSpc>
            </a:pPr>
            <a:r>
              <a:rPr lang="en-US" sz="3465">
                <a:solidFill>
                  <a:srgbClr val="0000FF"/>
                </a:solidFill>
                <a:latin typeface="Arab Times"/>
                <a:ea typeface="Arab Times"/>
                <a:cs typeface="Arab Times"/>
                <a:sym typeface="Arab Times"/>
              </a:rPr>
              <a:t>AB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961324" y="2869773"/>
            <a:ext cx="127859" cy="601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14"/>
              </a:lnSpc>
            </a:pPr>
            <a:r>
              <a:rPr lang="en-US" sz="3465">
                <a:solidFill>
                  <a:srgbClr val="0000FF"/>
                </a:solidFill>
                <a:latin typeface="Arab Times"/>
                <a:ea typeface="Arab Times"/>
                <a:cs typeface="Arab Times"/>
                <a:sym typeface="Arab Times"/>
              </a:rPr>
              <a:t>t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102527" y="3354462"/>
            <a:ext cx="177251" cy="183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1"/>
              </a:lnSpc>
            </a:pPr>
            <a:r>
              <a:rPr lang="en-US" sz="2002">
                <a:solidFill>
                  <a:srgbClr val="0000FF"/>
                </a:solidFill>
                <a:latin typeface="Arab Times"/>
                <a:ea typeface="Arab Times"/>
                <a:cs typeface="Arab Times"/>
                <a:sym typeface="Arab Times"/>
              </a:rPr>
              <a:t>N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002825" y="2245881"/>
            <a:ext cx="556055" cy="601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14"/>
              </a:lnSpc>
            </a:pPr>
            <a:r>
              <a:rPr lang="en-US" sz="3465">
                <a:solidFill>
                  <a:srgbClr val="0000FF"/>
                </a:solidFill>
                <a:latin typeface="Arab Times"/>
                <a:ea typeface="Arab Times"/>
                <a:cs typeface="Arab Times"/>
                <a:sym typeface="Arab Times"/>
              </a:rPr>
              <a:t>AB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103752" y="2869773"/>
            <a:ext cx="127859" cy="601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14"/>
              </a:lnSpc>
            </a:pPr>
            <a:r>
              <a:rPr lang="en-US" sz="3465">
                <a:solidFill>
                  <a:srgbClr val="0000FF"/>
                </a:solidFill>
                <a:latin typeface="Arab Times"/>
                <a:ea typeface="Arab Times"/>
                <a:cs typeface="Arab Times"/>
                <a:sym typeface="Arab Times"/>
              </a:rPr>
              <a:t>t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231211" y="3405159"/>
            <a:ext cx="132874" cy="153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1"/>
              </a:lnSpc>
            </a:pPr>
            <a:r>
              <a:rPr lang="en-US" sz="2002" spc="-16">
                <a:solidFill>
                  <a:srgbClr val="0000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0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679095" y="2492311"/>
            <a:ext cx="252503" cy="616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51"/>
              </a:lnSpc>
            </a:pPr>
            <a:r>
              <a:rPr lang="en-US" sz="3465">
                <a:solidFill>
                  <a:srgbClr val="0000FF"/>
                </a:solidFill>
                <a:latin typeface="Arimo"/>
                <a:ea typeface="Arimo"/>
                <a:cs typeface="Arimo"/>
                <a:sym typeface="Arimo"/>
              </a:rPr>
              <a:t>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1201714" y="2399471"/>
            <a:ext cx="467473" cy="801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91"/>
              </a:lnSpc>
            </a:pPr>
            <a:r>
              <a:rPr lang="en-US" sz="4708" i="true">
                <a:solidFill>
                  <a:srgbClr val="0000FF"/>
                </a:solidFill>
                <a:latin typeface="Arimo Italics"/>
                <a:ea typeface="Arimo Italics"/>
                <a:cs typeface="Arimo Italics"/>
                <a:sym typeface="Arimo Italics"/>
              </a:rPr>
              <a:t>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881239" y="2666809"/>
            <a:ext cx="902041" cy="537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11"/>
              </a:lnSpc>
            </a:pPr>
            <a:r>
              <a:rPr lang="en-US" sz="3294" spc="-2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trùng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6362895" y="2673682"/>
            <a:ext cx="616834" cy="538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16"/>
              </a:lnSpc>
            </a:pPr>
            <a:r>
              <a:rPr lang="en-US" sz="3297" spc="-2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hay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4328127" y="5443052"/>
            <a:ext cx="105570" cy="258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1606" spc="-12">
                <a:solidFill>
                  <a:srgbClr val="0000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5285975" y="5443052"/>
            <a:ext cx="105570" cy="258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1606" spc="-12">
                <a:solidFill>
                  <a:srgbClr val="0000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7556687" y="5443052"/>
            <a:ext cx="105570" cy="258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1606" spc="-12">
                <a:solidFill>
                  <a:srgbClr val="0000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2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4264119" y="4955210"/>
            <a:ext cx="145361" cy="354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-17">
                <a:solidFill>
                  <a:srgbClr val="0000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2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5143986" y="4955210"/>
            <a:ext cx="145361" cy="354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-17">
                <a:solidFill>
                  <a:srgbClr val="0000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2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7391652" y="4955210"/>
            <a:ext cx="145361" cy="354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-17">
                <a:solidFill>
                  <a:srgbClr val="0000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2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8565342" y="4981342"/>
            <a:ext cx="582844" cy="614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6"/>
              </a:lnSpc>
            </a:pPr>
            <a:r>
              <a:rPr lang="en-US" sz="3826" spc="-30">
                <a:solidFill>
                  <a:srgbClr val="0000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sin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5046845" y="5254552"/>
            <a:ext cx="209898" cy="376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>
                <a:solidFill>
                  <a:srgbClr val="0000FF"/>
                </a:solidFill>
                <a:latin typeface="Arab Times"/>
                <a:ea typeface="Arab Times"/>
                <a:cs typeface="Arab Times"/>
                <a:sym typeface="Arab Times"/>
              </a:rPr>
              <a:t>O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7294526" y="5254552"/>
            <a:ext cx="209898" cy="376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>
                <a:solidFill>
                  <a:srgbClr val="0000FF"/>
                </a:solidFill>
                <a:latin typeface="Arab Times"/>
                <a:ea typeface="Arab Times"/>
                <a:cs typeface="Arab Times"/>
                <a:sym typeface="Arab Times"/>
              </a:rPr>
              <a:t>O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4034133" y="5101838"/>
            <a:ext cx="195624" cy="454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2"/>
              </a:lnSpc>
            </a:pPr>
            <a:r>
              <a:rPr lang="en-US" sz="3826">
                <a:solidFill>
                  <a:srgbClr val="0000FF"/>
                </a:solidFill>
                <a:latin typeface="Arab Times"/>
                <a:ea typeface="Arab Times"/>
                <a:cs typeface="Arab Times"/>
                <a:sym typeface="Arab Times"/>
              </a:rPr>
              <a:t>r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4172136" y="5435527"/>
            <a:ext cx="129073" cy="195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5"/>
              </a:lnSpc>
            </a:pPr>
            <a:r>
              <a:rPr lang="en-US" sz="2211">
                <a:solidFill>
                  <a:srgbClr val="0000FF"/>
                </a:solidFill>
                <a:latin typeface="Arab Times"/>
                <a:ea typeface="Arab Times"/>
                <a:cs typeface="Arab Times"/>
                <a:sym typeface="Arab Times"/>
              </a:rPr>
              <a:t>e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4913671" y="4901813"/>
            <a:ext cx="195624" cy="654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6"/>
              </a:lnSpc>
            </a:pPr>
            <a:r>
              <a:rPr lang="en-US" sz="3826">
                <a:solidFill>
                  <a:srgbClr val="0000FF"/>
                </a:solidFill>
                <a:latin typeface="Arab Times"/>
                <a:ea typeface="Arab Times"/>
                <a:cs typeface="Arab Times"/>
                <a:sym typeface="Arab Times"/>
              </a:rPr>
              <a:t>r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6473895" y="5136185"/>
            <a:ext cx="145361" cy="173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5"/>
              </a:lnSpc>
            </a:pPr>
            <a:r>
              <a:rPr lang="en-US" sz="2211" spc="-17">
                <a:solidFill>
                  <a:srgbClr val="0000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2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6243337" y="5225663"/>
            <a:ext cx="195624" cy="331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3"/>
              </a:lnSpc>
            </a:pPr>
            <a:r>
              <a:rPr lang="en-US" sz="3826">
                <a:solidFill>
                  <a:srgbClr val="0000FF"/>
                </a:solidFill>
                <a:latin typeface="Arab Times"/>
                <a:ea typeface="Arab Times"/>
                <a:cs typeface="Arab Times"/>
                <a:sym typeface="Arab Times"/>
              </a:rPr>
              <a:t>r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6381598" y="5387902"/>
            <a:ext cx="129073" cy="243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6"/>
              </a:lnSpc>
            </a:pPr>
            <a:r>
              <a:rPr lang="en-US" sz="2211">
                <a:solidFill>
                  <a:srgbClr val="0000FF"/>
                </a:solidFill>
                <a:latin typeface="Arab Times"/>
                <a:ea typeface="Arab Times"/>
                <a:cs typeface="Arab Times"/>
                <a:sym typeface="Arab Times"/>
              </a:rPr>
              <a:t>e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6547233" y="5576402"/>
            <a:ext cx="139803" cy="781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3"/>
              </a:lnSpc>
            </a:pPr>
            <a:r>
              <a:rPr lang="en-US" sz="1606" spc="-12">
                <a:solidFill>
                  <a:srgbClr val="0000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2</a:t>
            </a:r>
          </a:p>
          <a:p>
            <a:pPr algn="l">
              <a:lnSpc>
                <a:spcPts val="6435"/>
              </a:lnSpc>
            </a:pPr>
            <a:r>
              <a:rPr lang="en-US" sz="3826">
                <a:solidFill>
                  <a:srgbClr val="0000FF"/>
                </a:solidFill>
                <a:latin typeface="Arab Times"/>
                <a:ea typeface="Arab Times"/>
                <a:cs typeface="Arab Times"/>
                <a:sym typeface="Arab Times"/>
              </a:rPr>
              <a:t>t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6686150" y="6279271"/>
            <a:ext cx="145361" cy="173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5"/>
              </a:lnSpc>
            </a:pPr>
            <a:r>
              <a:rPr lang="en-US" sz="2211" spc="-17">
                <a:solidFill>
                  <a:srgbClr val="0000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0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7160852" y="4901813"/>
            <a:ext cx="195624" cy="654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6"/>
              </a:lnSpc>
            </a:pPr>
            <a:r>
              <a:rPr lang="en-US" sz="3826">
                <a:solidFill>
                  <a:srgbClr val="0000FF"/>
                </a:solidFill>
                <a:latin typeface="Arab Times"/>
                <a:ea typeface="Arab Times"/>
                <a:cs typeface="Arab Times"/>
                <a:sym typeface="Arab Times"/>
              </a:rPr>
              <a:t>r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8231200" y="4901813"/>
            <a:ext cx="307267" cy="654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6"/>
              </a:lnSpc>
            </a:pPr>
            <a:r>
              <a:rPr lang="en-US" sz="3826">
                <a:solidFill>
                  <a:srgbClr val="0000FF"/>
                </a:solidFill>
                <a:latin typeface="Arab Times"/>
                <a:ea typeface="Arab Times"/>
                <a:cs typeface="Arab Times"/>
                <a:sym typeface="Arab Times"/>
              </a:rPr>
              <a:t>A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2344007" y="5275507"/>
            <a:ext cx="1244070" cy="680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54"/>
              </a:lnSpc>
            </a:pPr>
            <a:r>
              <a:rPr lang="en-US" sz="4038" spc="177">
                <a:solidFill>
                  <a:srgbClr val="0000FF"/>
                </a:solidFill>
                <a:latin typeface="Arimo"/>
                <a:ea typeface="Arimo"/>
                <a:cs typeface="Arimo"/>
                <a:sym typeface="Arimo"/>
              </a:rPr>
              <a:t></a:t>
            </a:r>
            <a:r>
              <a:rPr lang="en-US" sz="4038" i="true" spc="177">
                <a:solidFill>
                  <a:srgbClr val="0000FF"/>
                </a:solidFill>
                <a:latin typeface="Arimo Italics"/>
                <a:ea typeface="Arimo Italics"/>
                <a:cs typeface="Arimo Italics"/>
                <a:sym typeface="Arimo Italics"/>
              </a:rPr>
              <a:t></a:t>
            </a:r>
            <a:r>
              <a:rPr lang="en-US" sz="4038" spc="177">
                <a:solidFill>
                  <a:srgbClr val="0000FF"/>
                </a:solidFill>
                <a:latin typeface="Arimo"/>
                <a:ea typeface="Arimo"/>
                <a:cs typeface="Arimo"/>
                <a:sym typeface="Arimo"/>
              </a:rPr>
              <a:t>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4568142" y="4856355"/>
            <a:ext cx="276077" cy="681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6"/>
              </a:lnSpc>
            </a:pPr>
            <a:r>
              <a:rPr lang="en-US" sz="3826">
                <a:solidFill>
                  <a:srgbClr val="0000FF"/>
                </a:solidFill>
                <a:latin typeface="Arimo"/>
                <a:ea typeface="Arimo"/>
                <a:cs typeface="Arimo"/>
                <a:sym typeface="Arimo"/>
              </a:rPr>
              <a:t>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5563567" y="4856355"/>
            <a:ext cx="276077" cy="681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6"/>
              </a:lnSpc>
            </a:pPr>
            <a:r>
              <a:rPr lang="en-US" sz="3826">
                <a:solidFill>
                  <a:srgbClr val="0000FF"/>
                </a:solidFill>
                <a:latin typeface="Arimo"/>
                <a:ea typeface="Arimo"/>
                <a:cs typeface="Arimo"/>
                <a:sym typeface="Arimo"/>
              </a:rPr>
              <a:t>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6815352" y="4856355"/>
            <a:ext cx="276077" cy="681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6"/>
              </a:lnSpc>
            </a:pPr>
            <a:r>
              <a:rPr lang="en-US" sz="3826">
                <a:solidFill>
                  <a:srgbClr val="0000FF"/>
                </a:solidFill>
                <a:latin typeface="Arimo"/>
                <a:ea typeface="Arimo"/>
                <a:cs typeface="Arimo"/>
                <a:sym typeface="Arimo"/>
              </a:rPr>
              <a:t>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7847724" y="4856355"/>
            <a:ext cx="276077" cy="681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6"/>
              </a:lnSpc>
            </a:pPr>
            <a:r>
              <a:rPr lang="en-US" sz="3826">
                <a:solidFill>
                  <a:srgbClr val="0000FF"/>
                </a:solidFill>
                <a:latin typeface="Arimo"/>
                <a:ea typeface="Arimo"/>
                <a:cs typeface="Arimo"/>
                <a:sym typeface="Arimo"/>
              </a:rPr>
              <a:t>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9139485" y="5047097"/>
            <a:ext cx="547111" cy="567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51"/>
              </a:lnSpc>
            </a:pPr>
            <a:r>
              <a:rPr lang="en-US" sz="4038" i="true">
                <a:solidFill>
                  <a:srgbClr val="0000FF"/>
                </a:solidFill>
                <a:latin typeface="Arimo Italics"/>
                <a:ea typeface="Arimo Italics"/>
                <a:cs typeface="Arimo Italics"/>
                <a:sym typeface="Arimo Italics"/>
              </a:rPr>
              <a:t></a:t>
            </a:r>
          </a:p>
          <a:p>
            <a:pPr algn="r">
              <a:lnSpc>
                <a:spcPts val="1105"/>
              </a:lnSpc>
            </a:pPr>
            <a:r>
              <a:rPr lang="en-US" sz="2211">
                <a:solidFill>
                  <a:srgbClr val="0000FF"/>
                </a:solidFill>
                <a:latin typeface="Arab Times"/>
                <a:ea typeface="Arab Times"/>
                <a:cs typeface="Arab Times"/>
                <a:sym typeface="Arab Times"/>
              </a:rPr>
              <a:t>L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2569993" y="8554131"/>
            <a:ext cx="408408" cy="697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77"/>
              </a:lnSpc>
            </a:pPr>
            <a:r>
              <a:rPr lang="en-US" sz="4126" i="true">
                <a:solidFill>
                  <a:srgbClr val="0000FF"/>
                </a:solidFill>
                <a:latin typeface="Arimo Italics"/>
                <a:ea typeface="Arimo Italics"/>
                <a:cs typeface="Arimo Italics"/>
                <a:sym typeface="Arimo Italics"/>
              </a:rPr>
              <a:t>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0028739" y="8329198"/>
            <a:ext cx="159491" cy="859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10"/>
              </a:lnSpc>
            </a:pPr>
            <a:r>
              <a:rPr lang="en-US" sz="4864">
                <a:solidFill>
                  <a:srgbClr val="0000FF"/>
                </a:solidFill>
                <a:latin typeface="Arimo"/>
                <a:ea typeface="Arimo"/>
                <a:cs typeface="Arimo"/>
                <a:sym typeface="Arimo"/>
              </a:rPr>
              <a:t>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9819327" y="8872538"/>
            <a:ext cx="140518" cy="364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4"/>
              </a:lnSpc>
            </a:pPr>
            <a:r>
              <a:rPr lang="en-US" sz="2145" spc="-17">
                <a:solidFill>
                  <a:srgbClr val="0000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0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9525762" y="8591302"/>
            <a:ext cx="121515" cy="588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95"/>
              </a:lnSpc>
            </a:pPr>
            <a:r>
              <a:rPr lang="en-US" sz="3711" spc="-29">
                <a:solidFill>
                  <a:srgbClr val="0000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,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8551983" y="8338723"/>
            <a:ext cx="865151" cy="850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10"/>
              </a:lnSpc>
            </a:pPr>
            <a:r>
              <a:rPr lang="en-US" sz="4864">
                <a:solidFill>
                  <a:srgbClr val="0000FF"/>
                </a:solidFill>
                <a:latin typeface="Arab Times"/>
                <a:ea typeface="Arab Times"/>
                <a:cs typeface="Arab Times"/>
                <a:sym typeface="Arab Times"/>
              </a:rPr>
              <a:t>r,r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8875624" y="8838619"/>
            <a:ext cx="124787" cy="376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4"/>
              </a:lnSpc>
            </a:pPr>
            <a:r>
              <a:rPr lang="en-US" sz="2145">
                <a:solidFill>
                  <a:srgbClr val="0000FF"/>
                </a:solidFill>
                <a:latin typeface="Arab Times"/>
                <a:ea typeface="Arab Times"/>
                <a:cs typeface="Arab Times"/>
                <a:sym typeface="Arab Times"/>
              </a:rPr>
              <a:t>e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9348397" y="8872538"/>
            <a:ext cx="140518" cy="364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4"/>
              </a:lnSpc>
            </a:pPr>
            <a:r>
              <a:rPr lang="en-US" sz="2145" spc="-17">
                <a:solidFill>
                  <a:srgbClr val="0000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0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9684196" y="8504077"/>
            <a:ext cx="135117" cy="637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95"/>
              </a:lnSpc>
            </a:pPr>
            <a:r>
              <a:rPr lang="en-US" sz="3711">
                <a:solidFill>
                  <a:srgbClr val="0000FF"/>
                </a:solidFill>
                <a:latin typeface="Arab Times"/>
                <a:ea typeface="Arab Times"/>
                <a:cs typeface="Arab Times"/>
                <a:sym typeface="Arab Times"/>
              </a:rPr>
              <a:t>t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14859314" y="8290689"/>
            <a:ext cx="145504" cy="777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50"/>
              </a:lnSpc>
            </a:pPr>
            <a:r>
              <a:rPr lang="en-US" sz="4393">
                <a:solidFill>
                  <a:srgbClr val="0000FF"/>
                </a:solidFill>
                <a:latin typeface="Arimo"/>
                <a:ea typeface="Arimo"/>
                <a:cs typeface="Arimo"/>
                <a:sym typeface="Arimo"/>
              </a:rPr>
              <a:t>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3976018" y="8470430"/>
            <a:ext cx="361117" cy="560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91"/>
              </a:lnSpc>
            </a:pPr>
            <a:r>
              <a:rPr lang="en-US" sz="3351">
                <a:solidFill>
                  <a:srgbClr val="0000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A,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14315346" y="8572519"/>
            <a:ext cx="460886" cy="43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3"/>
              </a:lnSpc>
            </a:pPr>
            <a:r>
              <a:rPr lang="en-US" sz="3540" i="true">
                <a:solidFill>
                  <a:srgbClr val="0000FF"/>
                </a:solidFill>
                <a:latin typeface="Arimo Italics"/>
                <a:ea typeface="Arimo Italics"/>
                <a:cs typeface="Arimo Italics"/>
                <a:sym typeface="Arimo Italics"/>
              </a:rPr>
              <a:t>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14648402" y="8927697"/>
            <a:ext cx="142575" cy="164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8"/>
              </a:lnSpc>
            </a:pPr>
            <a:r>
              <a:rPr lang="en-US" sz="1937">
                <a:solidFill>
                  <a:srgbClr val="0000FF"/>
                </a:solidFill>
                <a:latin typeface="Arab Times"/>
                <a:ea typeface="Arab Times"/>
                <a:cs typeface="Arab Times"/>
                <a:sym typeface="Arab Times"/>
              </a:rPr>
              <a:t>L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81255" y="247645"/>
            <a:ext cx="13030200" cy="1771650"/>
          </a:xfrm>
          <a:custGeom>
            <a:avLst/>
            <a:gdLst/>
            <a:ahLst/>
            <a:cxnLst/>
            <a:rect r="r" b="b" t="t" l="l"/>
            <a:pathLst>
              <a:path h="1771650" w="13030200">
                <a:moveTo>
                  <a:pt x="0" y="0"/>
                </a:moveTo>
                <a:lnTo>
                  <a:pt x="13030200" y="0"/>
                </a:lnTo>
                <a:lnTo>
                  <a:pt x="13030200" y="1771650"/>
                </a:lnTo>
                <a:lnTo>
                  <a:pt x="0" y="17716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16100" y="71"/>
            <a:ext cx="1485900" cy="1464469"/>
          </a:xfrm>
          <a:custGeom>
            <a:avLst/>
            <a:gdLst/>
            <a:ahLst/>
            <a:cxnLst/>
            <a:rect r="r" b="b" t="t" l="l"/>
            <a:pathLst>
              <a:path h="1464469" w="1485900">
                <a:moveTo>
                  <a:pt x="0" y="0"/>
                </a:moveTo>
                <a:lnTo>
                  <a:pt x="1485900" y="0"/>
                </a:lnTo>
                <a:lnTo>
                  <a:pt x="1485900" y="1464469"/>
                </a:lnTo>
                <a:lnTo>
                  <a:pt x="0" y="14644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451281" y="2521758"/>
            <a:ext cx="6572250" cy="7777158"/>
          </a:xfrm>
          <a:custGeom>
            <a:avLst/>
            <a:gdLst/>
            <a:ahLst/>
            <a:cxnLst/>
            <a:rect r="r" b="b" t="t" l="l"/>
            <a:pathLst>
              <a:path h="7777158" w="6572250">
                <a:moveTo>
                  <a:pt x="0" y="0"/>
                </a:moveTo>
                <a:lnTo>
                  <a:pt x="6572250" y="0"/>
                </a:lnTo>
                <a:lnTo>
                  <a:pt x="6572250" y="7777158"/>
                </a:lnTo>
                <a:lnTo>
                  <a:pt x="0" y="77771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423160" y="9746351"/>
            <a:ext cx="2873773" cy="314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Ths. Trương Quang Trường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483460" y="9336776"/>
            <a:ext cx="3134920" cy="793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Khoa Cơ Khí – Công Nghệ Trường ĐH Nông Lâm TPHCM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374447" y="251808"/>
            <a:ext cx="9515789" cy="620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III. ĐɈ͜NG ĂN KHỚP – CUNG ĂN KHỚP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427861" y="775916"/>
            <a:ext cx="5195164" cy="645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6"/>
              </a:lnSpc>
            </a:pPr>
            <a:r>
              <a:rPr lang="en-US" sz="3603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–</a:t>
            </a:r>
            <a:r>
              <a:rPr lang="en-US" sz="3603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3603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Hʃ</a:t>
            </a:r>
            <a:r>
              <a:rPr lang="en-US" sz="3603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3603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S͐</a:t>
            </a:r>
            <a:r>
              <a:rPr lang="en-US" sz="3603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3603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TRÙNG</a:t>
            </a:r>
            <a:r>
              <a:rPr lang="en-US" sz="3603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3603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KHỚP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062843" y="1473222"/>
            <a:ext cx="116586" cy="6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0"/>
              </a:lnSpc>
            </a:pPr>
            <a:r>
              <a:rPr lang="en-US" sz="3600">
                <a:solidFill>
                  <a:srgbClr val="FF0000"/>
                </a:solidFill>
                <a:latin typeface="Arab Times"/>
                <a:ea typeface="Arab Times"/>
                <a:cs typeface="Arab Times"/>
                <a:sym typeface="Arab Times"/>
              </a:rPr>
              <a:t>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735324" y="1501797"/>
            <a:ext cx="466815" cy="6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spc="3">
                <a:solidFill>
                  <a:srgbClr val="FF0000"/>
                </a:solidFill>
                <a:latin typeface="Arab Times"/>
                <a:ea typeface="Arab Times"/>
                <a:cs typeface="Arab Times"/>
                <a:sym typeface="Arab Times"/>
              </a:rPr>
              <a:t>4.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192895" y="1438808"/>
            <a:ext cx="4510592" cy="716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FF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Điều kiệnĕnkhớpđều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101645" y="4567423"/>
            <a:ext cx="3373893" cy="688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11"/>
              </a:lnSpc>
            </a:pPr>
            <a:r>
              <a:rPr lang="en-US" sz="3294" spc="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b="true" sz="3294" i="true" spc="3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Điều</a:t>
            </a:r>
            <a:r>
              <a:rPr lang="en-US" sz="3294" spc="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b="true" sz="3294" i="true" spc="3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kiện</a:t>
            </a:r>
            <a:r>
              <a:rPr lang="en-US" sz="3294" spc="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b="true" sz="3294" i="true" spc="3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ăn</a:t>
            </a:r>
            <a:r>
              <a:rPr lang="en-US" sz="3294" spc="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b="true" sz="3294" i="true" spc="3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khớp</a:t>
            </a:r>
            <a:r>
              <a:rPr lang="en-US" sz="3294" spc="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480946" y="2164994"/>
            <a:ext cx="4319954" cy="625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11"/>
              </a:lnSpc>
            </a:pPr>
            <a:r>
              <a:rPr lang="en-US" sz="3294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c)ăĐiềuăkiệnăĕnăkhớpăkhít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009276" y="6126442"/>
            <a:ext cx="301966" cy="614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78"/>
              </a:lnSpc>
            </a:pPr>
            <a:r>
              <a:rPr lang="en-US" sz="5628" spc="-45">
                <a:solidFill>
                  <a:srgbClr val="0000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"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295569" y="6509471"/>
            <a:ext cx="238373" cy="285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0"/>
              </a:lnSpc>
            </a:pPr>
            <a:r>
              <a:rPr lang="en-US" sz="3260">
                <a:solidFill>
                  <a:srgbClr val="0000FF"/>
                </a:solidFill>
                <a:latin typeface="Arab Times"/>
                <a:ea typeface="Arab Times"/>
                <a:cs typeface="Arab Times"/>
                <a:sym typeface="Arab Times"/>
              </a:rPr>
              <a:t>L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506138" y="6723788"/>
            <a:ext cx="154948" cy="175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78"/>
              </a:lnSpc>
            </a:pPr>
            <a:r>
              <a:rPr lang="en-US" sz="2356" spc="-18">
                <a:solidFill>
                  <a:srgbClr val="0000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65369" y="6842274"/>
            <a:ext cx="301966" cy="1100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39"/>
              </a:lnSpc>
            </a:pPr>
            <a:r>
              <a:rPr lang="en-US" sz="5628" spc="-45">
                <a:solidFill>
                  <a:srgbClr val="0000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"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351647" y="7711092"/>
            <a:ext cx="238373" cy="285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0"/>
              </a:lnSpc>
            </a:pPr>
            <a:r>
              <a:rPr lang="en-US" sz="3260">
                <a:solidFill>
                  <a:srgbClr val="0000FF"/>
                </a:solidFill>
                <a:latin typeface="Arab Times"/>
                <a:ea typeface="Arab Times"/>
                <a:cs typeface="Arab Times"/>
                <a:sym typeface="Arab Times"/>
              </a:rPr>
              <a:t>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530055" y="7923909"/>
            <a:ext cx="154948" cy="175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78"/>
              </a:lnSpc>
            </a:pPr>
            <a:r>
              <a:rPr lang="en-US" sz="2356" spc="-18">
                <a:solidFill>
                  <a:srgbClr val="0000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369171" y="6490421"/>
            <a:ext cx="238373" cy="304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6"/>
              </a:lnSpc>
            </a:pPr>
            <a:r>
              <a:rPr lang="en-US" sz="3260">
                <a:solidFill>
                  <a:srgbClr val="0000FF"/>
                </a:solidFill>
                <a:latin typeface="Arab Times"/>
                <a:ea typeface="Arab Times"/>
                <a:cs typeface="Arab Times"/>
                <a:sym typeface="Arab Times"/>
              </a:rPr>
              <a:t>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547593" y="6704738"/>
            <a:ext cx="154948" cy="194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05"/>
              </a:lnSpc>
            </a:pPr>
            <a:r>
              <a:rPr lang="en-US" sz="2356" spc="-18">
                <a:solidFill>
                  <a:srgbClr val="0000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369171" y="7091967"/>
            <a:ext cx="238373" cy="904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51"/>
              </a:lnSpc>
            </a:pPr>
            <a:r>
              <a:rPr lang="en-US" sz="3260">
                <a:solidFill>
                  <a:srgbClr val="0000FF"/>
                </a:solidFill>
                <a:latin typeface="Arab Times"/>
                <a:ea typeface="Arab Times"/>
                <a:cs typeface="Arab Times"/>
                <a:sym typeface="Arab Times"/>
              </a:rPr>
              <a:t>L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581540" y="7923909"/>
            <a:ext cx="154948" cy="175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78"/>
              </a:lnSpc>
            </a:pPr>
            <a:r>
              <a:rPr lang="en-US" sz="2356" spc="-18">
                <a:solidFill>
                  <a:srgbClr val="0000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2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723176" y="5589784"/>
            <a:ext cx="649238" cy="2304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9462"/>
              </a:lnSpc>
            </a:pPr>
            <a:r>
              <a:rPr lang="en-US" sz="5628" spc="1125">
                <a:solidFill>
                  <a:srgbClr val="0000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S' S'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536017" y="5580259"/>
            <a:ext cx="370061" cy="1104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62"/>
              </a:lnSpc>
            </a:pPr>
            <a:r>
              <a:rPr lang="en-US" sz="5628">
                <a:solidFill>
                  <a:srgbClr val="0000FF"/>
                </a:solidFill>
                <a:latin typeface="Arab Times"/>
                <a:ea typeface="Arab Times"/>
                <a:cs typeface="Arab Times"/>
                <a:sym typeface="Arab Times"/>
              </a:rPr>
              <a:t>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593295" y="6781881"/>
            <a:ext cx="370061" cy="1104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62"/>
              </a:lnSpc>
            </a:pPr>
            <a:r>
              <a:rPr lang="en-US" sz="5628">
                <a:solidFill>
                  <a:srgbClr val="0000FF"/>
                </a:solidFill>
                <a:latin typeface="Arab Times"/>
                <a:ea typeface="Arab Times"/>
                <a:cs typeface="Arab Times"/>
                <a:sym typeface="Arab Times"/>
              </a:rPr>
              <a:t>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338242" y="6050928"/>
            <a:ext cx="365617" cy="209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32"/>
              </a:lnSpc>
            </a:pPr>
            <a:r>
              <a:rPr lang="en-US" sz="5628">
                <a:solidFill>
                  <a:srgbClr val="0000FF"/>
                </a:solidFill>
                <a:latin typeface="Arimo"/>
                <a:ea typeface="Arimo"/>
                <a:cs typeface="Arimo"/>
                <a:sym typeface="Arimo"/>
              </a:rPr>
              <a:t> </a:t>
            </a:r>
          </a:p>
          <a:p>
            <a:pPr algn="just">
              <a:lnSpc>
                <a:spcPts val="7098"/>
              </a:lnSpc>
            </a:pPr>
            <a:r>
              <a:rPr lang="en-US" sz="5628">
                <a:solidFill>
                  <a:srgbClr val="0000FF"/>
                </a:solidFill>
                <a:latin typeface="Arimo"/>
                <a:ea typeface="Arimo"/>
                <a:cs typeface="Arimo"/>
                <a:sym typeface="Arimo"/>
              </a:rPr>
              <a:t>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963531" y="5498806"/>
            <a:ext cx="406322" cy="1157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62"/>
              </a:lnSpc>
            </a:pPr>
            <a:r>
              <a:rPr lang="en-US" sz="5628">
                <a:solidFill>
                  <a:srgbClr val="0000FF"/>
                </a:solidFill>
                <a:latin typeface="Arimo"/>
                <a:ea typeface="Arimo"/>
                <a:cs typeface="Arimo"/>
                <a:sym typeface="Arimo"/>
              </a:rPr>
              <a:t>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019567" y="6700414"/>
            <a:ext cx="406322" cy="1157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62"/>
              </a:lnSpc>
            </a:pPr>
            <a:r>
              <a:rPr lang="en-US" sz="5628">
                <a:solidFill>
                  <a:srgbClr val="0000FF"/>
                </a:solidFill>
                <a:latin typeface="Arimo"/>
                <a:ea typeface="Arimo"/>
                <a:cs typeface="Arimo"/>
                <a:sym typeface="Arimo"/>
              </a:rPr>
              <a:t>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692437" y="4596322"/>
            <a:ext cx="417738" cy="587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11"/>
              </a:lnSpc>
            </a:pPr>
            <a:r>
              <a:rPr lang="en-US" sz="329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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407658" y="4681547"/>
            <a:ext cx="665669" cy="537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11"/>
              </a:lnSpc>
            </a:pPr>
            <a:r>
              <a:rPr lang="en-US" sz="3294" spc="-2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khít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81255" y="247645"/>
            <a:ext cx="13030200" cy="1771650"/>
          </a:xfrm>
          <a:custGeom>
            <a:avLst/>
            <a:gdLst/>
            <a:ahLst/>
            <a:cxnLst/>
            <a:rect r="r" b="b" t="t" l="l"/>
            <a:pathLst>
              <a:path h="1771650" w="13030200">
                <a:moveTo>
                  <a:pt x="0" y="0"/>
                </a:moveTo>
                <a:lnTo>
                  <a:pt x="13030200" y="0"/>
                </a:lnTo>
                <a:lnTo>
                  <a:pt x="13030200" y="1771650"/>
                </a:lnTo>
                <a:lnTo>
                  <a:pt x="0" y="17716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16100" y="71"/>
            <a:ext cx="1485900" cy="1464469"/>
          </a:xfrm>
          <a:custGeom>
            <a:avLst/>
            <a:gdLst/>
            <a:ahLst/>
            <a:cxnLst/>
            <a:rect r="r" b="b" t="t" l="l"/>
            <a:pathLst>
              <a:path h="1464469" w="1485900">
                <a:moveTo>
                  <a:pt x="0" y="0"/>
                </a:moveTo>
                <a:lnTo>
                  <a:pt x="1485900" y="0"/>
                </a:lnTo>
                <a:lnTo>
                  <a:pt x="1485900" y="1464469"/>
                </a:lnTo>
                <a:lnTo>
                  <a:pt x="0" y="14644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562156" y="1390831"/>
            <a:ext cx="7094087" cy="8049620"/>
          </a:xfrm>
          <a:custGeom>
            <a:avLst/>
            <a:gdLst/>
            <a:ahLst/>
            <a:cxnLst/>
            <a:rect r="r" b="b" t="t" l="l"/>
            <a:pathLst>
              <a:path h="8049620" w="7094087">
                <a:moveTo>
                  <a:pt x="0" y="0"/>
                </a:moveTo>
                <a:lnTo>
                  <a:pt x="7094087" y="0"/>
                </a:lnTo>
                <a:lnTo>
                  <a:pt x="7094087" y="8049620"/>
                </a:lnTo>
                <a:lnTo>
                  <a:pt x="0" y="80496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079649" y="1600271"/>
            <a:ext cx="1892708" cy="198168"/>
          </a:xfrm>
          <a:custGeom>
            <a:avLst/>
            <a:gdLst/>
            <a:ahLst/>
            <a:cxnLst/>
            <a:rect r="r" b="b" t="t" l="l"/>
            <a:pathLst>
              <a:path h="198168" w="1892708">
                <a:moveTo>
                  <a:pt x="0" y="0"/>
                </a:moveTo>
                <a:lnTo>
                  <a:pt x="1892708" y="0"/>
                </a:lnTo>
                <a:lnTo>
                  <a:pt x="1892708" y="198168"/>
                </a:lnTo>
                <a:lnTo>
                  <a:pt x="0" y="19816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57700" r="-56699" b="7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508378" y="2400371"/>
            <a:ext cx="2902177" cy="198168"/>
          </a:xfrm>
          <a:custGeom>
            <a:avLst/>
            <a:gdLst/>
            <a:ahLst/>
            <a:cxnLst/>
            <a:rect r="r" b="b" t="t" l="l"/>
            <a:pathLst>
              <a:path h="198168" w="2902177">
                <a:moveTo>
                  <a:pt x="0" y="0"/>
                </a:moveTo>
                <a:lnTo>
                  <a:pt x="2902177" y="0"/>
                </a:lnTo>
                <a:lnTo>
                  <a:pt x="2902177" y="198168"/>
                </a:lnTo>
                <a:lnTo>
                  <a:pt x="0" y="19816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157700" r="-11" b="7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819924" y="2400371"/>
            <a:ext cx="590617" cy="262990"/>
          </a:xfrm>
          <a:custGeom>
            <a:avLst/>
            <a:gdLst/>
            <a:ahLst/>
            <a:cxnLst/>
            <a:rect r="r" b="b" t="t" l="l"/>
            <a:pathLst>
              <a:path h="262990" w="590617">
                <a:moveTo>
                  <a:pt x="0" y="0"/>
                </a:moveTo>
                <a:lnTo>
                  <a:pt x="590616" y="0"/>
                </a:lnTo>
                <a:lnTo>
                  <a:pt x="590616" y="262990"/>
                </a:lnTo>
                <a:lnTo>
                  <a:pt x="0" y="26299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94176" r="-201378" b="0"/>
            </a:stretch>
          </a:blipFill>
        </p:spPr>
      </p: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4168378" y="6195046"/>
            <a:ext cx="1653650" cy="11287"/>
            <a:chOff x="0" y="0"/>
            <a:chExt cx="1102436" cy="751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02487" cy="7493"/>
            </a:xfrm>
            <a:custGeom>
              <a:avLst/>
              <a:gdLst/>
              <a:ahLst/>
              <a:cxnLst/>
              <a:rect r="r" b="b" t="t" l="l"/>
              <a:pathLst>
                <a:path h="7493" w="1102487">
                  <a:moveTo>
                    <a:pt x="0" y="0"/>
                  </a:moveTo>
                  <a:lnTo>
                    <a:pt x="1102487" y="0"/>
                  </a:lnTo>
                  <a:lnTo>
                    <a:pt x="1102487" y="7493"/>
                  </a:lnTo>
                  <a:lnTo>
                    <a:pt x="0" y="7493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4176908" y="7302413"/>
            <a:ext cx="1653564" cy="11287"/>
            <a:chOff x="0" y="0"/>
            <a:chExt cx="1102373" cy="751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02360" cy="7493"/>
            </a:xfrm>
            <a:custGeom>
              <a:avLst/>
              <a:gdLst/>
              <a:ahLst/>
              <a:cxnLst/>
              <a:rect r="r" b="b" t="t" l="l"/>
              <a:pathLst>
                <a:path h="7493" w="1102360">
                  <a:moveTo>
                    <a:pt x="0" y="0"/>
                  </a:moveTo>
                  <a:lnTo>
                    <a:pt x="1102360" y="0"/>
                  </a:lnTo>
                  <a:lnTo>
                    <a:pt x="1102360" y="7493"/>
                  </a:lnTo>
                  <a:lnTo>
                    <a:pt x="0" y="7493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2286000" y="8915400"/>
            <a:ext cx="13716000" cy="1371600"/>
          </a:xfrm>
          <a:custGeom>
            <a:avLst/>
            <a:gdLst/>
            <a:ahLst/>
            <a:cxnLst/>
            <a:rect r="r" b="b" t="t" l="l"/>
            <a:pathLst>
              <a:path h="1371600" w="13716000">
                <a:moveTo>
                  <a:pt x="0" y="0"/>
                </a:moveTo>
                <a:lnTo>
                  <a:pt x="13716000" y="0"/>
                </a:lnTo>
                <a:lnTo>
                  <a:pt x="13716000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>
            <a:grpSpLocks noChangeAspect="true"/>
          </p:cNvGrpSpPr>
          <p:nvPr/>
        </p:nvGrpSpPr>
        <p:grpSpPr>
          <a:xfrm rot="0">
            <a:off x="7382108" y="6195046"/>
            <a:ext cx="894555" cy="11287"/>
            <a:chOff x="0" y="0"/>
            <a:chExt cx="596367" cy="751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96392" cy="7493"/>
            </a:xfrm>
            <a:custGeom>
              <a:avLst/>
              <a:gdLst/>
              <a:ahLst/>
              <a:cxnLst/>
              <a:rect r="r" b="b" t="t" l="l"/>
              <a:pathLst>
                <a:path h="7493" w="596392">
                  <a:moveTo>
                    <a:pt x="0" y="0"/>
                  </a:moveTo>
                  <a:lnTo>
                    <a:pt x="596392" y="0"/>
                  </a:lnTo>
                  <a:lnTo>
                    <a:pt x="596392" y="7493"/>
                  </a:lnTo>
                  <a:lnTo>
                    <a:pt x="0" y="7493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7382108" y="7302413"/>
            <a:ext cx="894555" cy="11287"/>
            <a:chOff x="0" y="0"/>
            <a:chExt cx="596367" cy="751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96392" cy="7493"/>
            </a:xfrm>
            <a:custGeom>
              <a:avLst/>
              <a:gdLst/>
              <a:ahLst/>
              <a:cxnLst/>
              <a:rect r="r" b="b" t="t" l="l"/>
              <a:pathLst>
                <a:path h="7493" w="596392">
                  <a:moveTo>
                    <a:pt x="0" y="0"/>
                  </a:moveTo>
                  <a:lnTo>
                    <a:pt x="596392" y="0"/>
                  </a:lnTo>
                  <a:lnTo>
                    <a:pt x="596392" y="7493"/>
                  </a:lnTo>
                  <a:lnTo>
                    <a:pt x="0" y="7493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5289418" y="701178"/>
            <a:ext cx="9501445" cy="72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83"/>
              </a:lnSpc>
            </a:pPr>
            <a:r>
              <a:rPr lang="en-US" sz="4809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IV. SỰ TRɈT͢ CͦA CÁC RĂNG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261418" y="1471679"/>
            <a:ext cx="384605" cy="490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5"/>
              </a:lnSpc>
            </a:pPr>
            <a:r>
              <a:rPr lang="en-US" sz="3492" spc="-2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01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423449" y="1852646"/>
            <a:ext cx="152148" cy="199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0"/>
              </a:lnSpc>
            </a:pPr>
            <a:r>
              <a:rPr lang="en-US" sz="2301" spc="1840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580108" y="1852646"/>
            <a:ext cx="152148" cy="199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0"/>
              </a:lnSpc>
            </a:pPr>
            <a:r>
              <a:rPr lang="en-US" sz="2301" spc="1840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325051" y="1897309"/>
            <a:ext cx="374475" cy="517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3"/>
              </a:lnSpc>
            </a:pPr>
            <a:r>
              <a:rPr lang="en-US" sz="2301" spc="149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K1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418274" y="1887784"/>
            <a:ext cx="289722" cy="1242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3"/>
              </a:lnSpc>
            </a:pPr>
            <a:r>
              <a:rPr lang="en-US" sz="2301" spc="149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K</a:t>
            </a:r>
          </a:p>
          <a:p>
            <a:pPr algn="l">
              <a:lnSpc>
                <a:spcPts val="6301"/>
              </a:lnSpc>
            </a:pPr>
            <a:r>
              <a:rPr lang="en-US" sz="3972" spc="317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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748179" y="6993226"/>
            <a:ext cx="158163" cy="397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0"/>
              </a:lnSpc>
            </a:pPr>
            <a:r>
              <a:rPr lang="en-US" sz="2443" spc="-19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708328" y="6007589"/>
            <a:ext cx="324098" cy="397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0"/>
              </a:lnSpc>
            </a:pPr>
            <a:r>
              <a:rPr lang="en-US" sz="2443" spc="2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N2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902259" y="4610672"/>
            <a:ext cx="175865" cy="397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0"/>
              </a:lnSpc>
            </a:pPr>
            <a:r>
              <a:rPr lang="en-US" sz="2443" spc="-19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422978" y="3126700"/>
            <a:ext cx="323998" cy="397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0"/>
              </a:lnSpc>
            </a:pPr>
            <a:r>
              <a:rPr lang="en-US" sz="2443" spc="2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N1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228296" y="4194267"/>
            <a:ext cx="451056" cy="320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8"/>
              </a:lnSpc>
            </a:pPr>
            <a:r>
              <a:rPr lang="en-US" sz="2443" spc="-1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VK1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537049" y="4531881"/>
            <a:ext cx="450242" cy="320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8"/>
              </a:lnSpc>
            </a:pPr>
            <a:r>
              <a:rPr lang="en-US" sz="2443" spc="-1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VK2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953512" y="2584990"/>
            <a:ext cx="158163" cy="397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0"/>
              </a:lnSpc>
            </a:pPr>
            <a:r>
              <a:rPr lang="en-US" sz="2443" spc="-19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511821" y="6913321"/>
            <a:ext cx="90226" cy="228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1"/>
              </a:lnSpc>
            </a:pPr>
            <a:r>
              <a:rPr lang="en-US" sz="1393" spc="-1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2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340214" y="6716782"/>
            <a:ext cx="173650" cy="431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0"/>
              </a:lnSpc>
            </a:pPr>
            <a:r>
              <a:rPr lang="en-US" sz="2443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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455600" y="2771537"/>
            <a:ext cx="265262" cy="412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32"/>
              </a:lnSpc>
            </a:pPr>
            <a:r>
              <a:rPr lang="en-US" sz="2443" spc="9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1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352944" y="3194904"/>
            <a:ext cx="264462" cy="412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32"/>
              </a:lnSpc>
            </a:pPr>
            <a:r>
              <a:rPr lang="en-US" sz="2443" spc="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1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289268" y="5556004"/>
            <a:ext cx="339685" cy="347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0"/>
              </a:lnSpc>
            </a:pPr>
            <a:r>
              <a:rPr lang="en-US" sz="2093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N'2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515807" y="4029299"/>
            <a:ext cx="339685" cy="347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0"/>
              </a:lnSpc>
            </a:pPr>
            <a:r>
              <a:rPr lang="en-US" sz="2093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N'1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5024228" y="1865200"/>
            <a:ext cx="320997" cy="467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7"/>
              </a:lnSpc>
            </a:pPr>
            <a:r>
              <a:rPr lang="en-US" sz="3972" spc="3178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V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6180873" y="1865200"/>
            <a:ext cx="320997" cy="467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7"/>
              </a:lnSpc>
            </a:pPr>
            <a:r>
              <a:rPr lang="en-US" sz="3972" spc="3178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V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6731827" y="2257535"/>
            <a:ext cx="600061" cy="976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0"/>
              </a:lnSpc>
            </a:pPr>
            <a:r>
              <a:rPr lang="en-US" sz="2301" spc="-18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2</a:t>
            </a:r>
          </a:p>
          <a:p>
            <a:pPr algn="l">
              <a:lnSpc>
                <a:spcPts val="1986"/>
              </a:lnSpc>
            </a:pPr>
            <a:r>
              <a:rPr lang="en-US" sz="3972" spc="-3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V12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4842434" y="2214596"/>
            <a:ext cx="84968" cy="637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2"/>
              </a:lnSpc>
            </a:pPr>
            <a:r>
              <a:rPr lang="en-US" sz="2301" spc="1840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t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5942243" y="2214596"/>
            <a:ext cx="84968" cy="637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2"/>
              </a:lnSpc>
            </a:pPr>
            <a:r>
              <a:rPr lang="en-US" sz="2301" spc="1840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t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4452685" y="2798664"/>
            <a:ext cx="322440" cy="333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6"/>
              </a:lnSpc>
            </a:pPr>
            <a:r>
              <a:rPr lang="en-US" sz="3972" spc="3178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V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5552094" y="2798664"/>
            <a:ext cx="322440" cy="333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6"/>
              </a:lnSpc>
            </a:pPr>
            <a:r>
              <a:rPr lang="en-US" sz="3972" spc="3178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V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4753608" y="3011734"/>
            <a:ext cx="451942" cy="202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0"/>
              </a:lnSpc>
            </a:pPr>
            <a:r>
              <a:rPr lang="en-US" sz="2301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K1</a:t>
            </a:r>
            <a:r>
              <a:rPr lang="en-US" sz="2301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 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5853289" y="2684364"/>
            <a:ext cx="540568" cy="539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0"/>
              </a:lnSpc>
            </a:pPr>
            <a:r>
              <a:rPr lang="en-US" sz="2301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K2</a:t>
            </a:r>
            <a:r>
              <a:rPr lang="en-US" sz="2301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 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5833872" y="1532592"/>
            <a:ext cx="288422" cy="780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01"/>
              </a:lnSpc>
            </a:pPr>
            <a:r>
              <a:rPr lang="en-US" sz="397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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5234683" y="2332706"/>
            <a:ext cx="289722" cy="780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01"/>
              </a:lnSpc>
            </a:pPr>
            <a:r>
              <a:rPr lang="en-US" sz="3972" spc="317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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2651760" y="3255083"/>
            <a:ext cx="6793663" cy="1978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2"/>
              </a:lnSpc>
            </a:pPr>
            <a:r>
              <a:rPr lang="en-US" b="true" sz="3150" i="true" spc="3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Chính là vận tốc trượt giữa biên hình thứ 2 và biên hình thứ 1.</a:t>
            </a:r>
            <a:r>
              <a:rPr lang="en-US" sz="3150" spc="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 </a:t>
            </a:r>
            <a:r>
              <a:rPr lang="en-US" b="true" sz="3150" i="true" spc="3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nguyên nhân gây ra mòn răng và tổn </a:t>
            </a:r>
          </a:p>
          <a:p>
            <a:pPr algn="l">
              <a:lnSpc>
                <a:spcPts val="4131"/>
              </a:lnSpc>
            </a:pPr>
            <a:r>
              <a:rPr lang="en-US" b="true" sz="3153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phí</a:t>
            </a:r>
            <a:r>
              <a:rPr lang="en-US" b="true" sz="3153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 </a:t>
            </a:r>
            <a:r>
              <a:rPr lang="en-US" b="true" sz="3153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năng</a:t>
            </a:r>
            <a:r>
              <a:rPr lang="en-US" b="true" sz="3153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 </a:t>
            </a:r>
            <a:r>
              <a:rPr lang="en-US" b="true" sz="3153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lượng</a:t>
            </a:r>
            <a:r>
              <a:rPr lang="en-US" b="true" sz="3153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 </a:t>
            </a:r>
            <a:r>
              <a:rPr lang="en-US" b="true" sz="3153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do</a:t>
            </a:r>
            <a:r>
              <a:rPr lang="en-US" b="true" sz="3153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 </a:t>
            </a:r>
            <a:r>
              <a:rPr lang="en-US" b="true" sz="3153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ma</a:t>
            </a:r>
            <a:r>
              <a:rPr lang="en-US" b="true" sz="3153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 </a:t>
            </a:r>
            <a:r>
              <a:rPr lang="en-US" b="true" sz="3153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sát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2512886" y="5183105"/>
            <a:ext cx="2125923" cy="695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537"/>
              </a:lnSpc>
            </a:pPr>
            <a:r>
              <a:rPr lang="en-US" sz="2700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</a:p>
          <a:p>
            <a:pPr algn="r">
              <a:lnSpc>
                <a:spcPts val="5100"/>
              </a:lnSpc>
            </a:pPr>
            <a:r>
              <a:rPr lang="en-US" sz="2846" i="tru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Hʄ s͑ trɉͣt</a:t>
            </a:r>
          </a:p>
          <a:p>
            <a:pPr algn="r">
              <a:lnSpc>
                <a:spcPts val="1041"/>
              </a:lnSpc>
            </a:pPr>
            <a:r>
              <a:rPr lang="en-US" sz="2083" spc="1667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t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4611048" y="5690192"/>
            <a:ext cx="137260" cy="545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2"/>
              </a:lnSpc>
            </a:pPr>
            <a:r>
              <a:rPr lang="en-US" sz="2083" spc="-1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4586102" y="5164055"/>
            <a:ext cx="677127" cy="459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700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(C):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6930523" y="7282505"/>
            <a:ext cx="271791" cy="345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7"/>
              </a:lnSpc>
            </a:pPr>
            <a:r>
              <a:rPr lang="en-US" sz="2083" spc="-1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12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6951826" y="6175124"/>
            <a:ext cx="271791" cy="345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7"/>
              </a:lnSpc>
            </a:pPr>
            <a:r>
              <a:rPr lang="en-US" sz="2083" spc="-1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21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3110574" y="6008108"/>
            <a:ext cx="315897" cy="420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2"/>
              </a:lnSpc>
            </a:pPr>
            <a:r>
              <a:rPr lang="en-US" sz="3595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C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3388252" y="6356099"/>
            <a:ext cx="271791" cy="164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1"/>
              </a:lnSpc>
            </a:pPr>
            <a:r>
              <a:rPr lang="en-US" sz="2083" spc="-1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12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3110574" y="6553514"/>
            <a:ext cx="315897" cy="982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87"/>
              </a:lnSpc>
            </a:pPr>
            <a:r>
              <a:rPr lang="en-US" sz="3595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C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3417284" y="7463480"/>
            <a:ext cx="271791" cy="164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1"/>
              </a:lnSpc>
            </a:pPr>
            <a:r>
              <a:rPr lang="en-US" sz="2083" spc="-1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21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5489600" y="5714048"/>
            <a:ext cx="76324" cy="176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1"/>
              </a:lnSpc>
            </a:pPr>
            <a:r>
              <a:rPr lang="en-US" sz="2083" spc="1667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t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4141075" y="5847583"/>
            <a:ext cx="289379" cy="296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7"/>
              </a:lnSpc>
            </a:pPr>
            <a:r>
              <a:rPr lang="en-US" sz="3595" spc="2876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V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5136571" y="5847583"/>
            <a:ext cx="289379" cy="296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7"/>
              </a:lnSpc>
            </a:pPr>
            <a:r>
              <a:rPr lang="en-US" sz="3595" spc="2876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V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4413037" y="5990606"/>
            <a:ext cx="183109" cy="224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7"/>
              </a:lnSpc>
            </a:pPr>
            <a:r>
              <a:rPr lang="en-US" sz="2083" spc="377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K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5408719" y="5990606"/>
            <a:ext cx="369346" cy="227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7"/>
              </a:lnSpc>
            </a:pPr>
            <a:r>
              <a:rPr lang="en-US" sz="2083" spc="377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K2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5017341" y="6130966"/>
            <a:ext cx="76324" cy="395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32"/>
              </a:lnSpc>
            </a:pPr>
            <a:r>
              <a:rPr lang="en-US" sz="2083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t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4664540" y="6483591"/>
            <a:ext cx="289379" cy="296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7"/>
              </a:lnSpc>
            </a:pPr>
            <a:r>
              <a:rPr lang="en-US" sz="3595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V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4906956" y="6627171"/>
            <a:ext cx="368832" cy="1006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5"/>
              </a:lnSpc>
            </a:pPr>
            <a:r>
              <a:rPr lang="en-US" sz="2083" spc="14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K1</a:t>
            </a:r>
          </a:p>
          <a:p>
            <a:pPr algn="l">
              <a:lnSpc>
                <a:spcPts val="8718"/>
              </a:lnSpc>
            </a:pPr>
            <a:r>
              <a:rPr lang="en-US" sz="359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</a:t>
            </a:r>
          </a:p>
          <a:p>
            <a:pPr algn="l">
              <a:lnSpc>
                <a:spcPts val="3332"/>
              </a:lnSpc>
            </a:pPr>
            <a:r>
              <a:rPr lang="en-US" sz="2083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t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4502391" y="6821429"/>
            <a:ext cx="76324" cy="176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1"/>
              </a:lnSpc>
            </a:pPr>
            <a:r>
              <a:rPr lang="en-US" sz="2083" spc="1667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t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5548265" y="6821429"/>
            <a:ext cx="76324" cy="176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1"/>
              </a:lnSpc>
            </a:pPr>
            <a:r>
              <a:rPr lang="en-US" sz="2083" spc="1667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t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4149590" y="6954965"/>
            <a:ext cx="289379" cy="296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7"/>
              </a:lnSpc>
            </a:pPr>
            <a:r>
              <a:rPr lang="en-US" sz="3595" spc="2876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V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5194778" y="6954965"/>
            <a:ext cx="289379" cy="296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7"/>
              </a:lnSpc>
            </a:pPr>
            <a:r>
              <a:rPr lang="en-US" sz="3595" spc="2876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V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4421595" y="7097987"/>
            <a:ext cx="368832" cy="227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7"/>
              </a:lnSpc>
            </a:pPr>
            <a:r>
              <a:rPr lang="en-US" sz="2083" spc="14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K2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5467383" y="7097987"/>
            <a:ext cx="339028" cy="227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7"/>
              </a:lnSpc>
            </a:pPr>
            <a:r>
              <a:rPr lang="en-US" sz="2083" spc="14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K1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4648052" y="7590987"/>
            <a:ext cx="289379" cy="296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7"/>
              </a:lnSpc>
            </a:pPr>
            <a:r>
              <a:rPr lang="en-US" sz="3595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V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4920058" y="7734552"/>
            <a:ext cx="368832" cy="227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5"/>
              </a:lnSpc>
            </a:pPr>
            <a:r>
              <a:rPr lang="en-US" sz="2083" spc="37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K2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5715100" y="7882204"/>
            <a:ext cx="97355" cy="573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98"/>
              </a:lnSpc>
            </a:pPr>
            <a:r>
              <a:rPr lang="en-US" b="true" sz="3006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 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7418241" y="5799958"/>
            <a:ext cx="824932" cy="2170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3595" spc="1488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NK</a:t>
            </a:r>
          </a:p>
          <a:p>
            <a:pPr algn="l">
              <a:lnSpc>
                <a:spcPts val="1298"/>
              </a:lnSpc>
            </a:pPr>
            <a:r>
              <a:rPr lang="en-US" sz="2083" spc="1667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2</a:t>
            </a:r>
          </a:p>
          <a:p>
            <a:pPr algn="l">
              <a:lnSpc>
                <a:spcPts val="1797"/>
              </a:lnSpc>
            </a:pPr>
            <a:r>
              <a:rPr lang="en-US" sz="3595" spc="79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1K 1K 2K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7247649" y="6084308"/>
            <a:ext cx="118401" cy="344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3595" spc="2876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.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7443016" y="6331191"/>
            <a:ext cx="316840" cy="920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00"/>
              </a:lnSpc>
            </a:pPr>
            <a:r>
              <a:rPr lang="en-US" sz="3595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N</a:t>
            </a:r>
          </a:p>
          <a:p>
            <a:pPr algn="just">
              <a:lnSpc>
                <a:spcPts val="3753"/>
              </a:lnSpc>
            </a:pPr>
            <a:r>
              <a:rPr lang="en-US" sz="3595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N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7247649" y="7239314"/>
            <a:ext cx="118401" cy="296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7"/>
              </a:lnSpc>
            </a:pPr>
            <a:r>
              <a:rPr lang="en-US" sz="3595" spc="104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.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7418627" y="7400487"/>
            <a:ext cx="315897" cy="487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38"/>
              </a:lnSpc>
            </a:pPr>
            <a:r>
              <a:rPr lang="en-US" sz="3595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N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8526008" y="7758379"/>
            <a:ext cx="97355" cy="696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7"/>
              </a:lnSpc>
            </a:pPr>
            <a:r>
              <a:rPr lang="en-US" b="true" sz="3006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 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3804190" y="5412357"/>
            <a:ext cx="268719" cy="2105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718"/>
              </a:lnSpc>
            </a:pPr>
            <a:r>
              <a:rPr lang="en-US" sz="359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 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4848920" y="5128008"/>
            <a:ext cx="260004" cy="998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18"/>
              </a:lnSpc>
            </a:pPr>
            <a:r>
              <a:rPr lang="en-US" sz="359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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5942843" y="5412357"/>
            <a:ext cx="1040573" cy="998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18"/>
              </a:lnSpc>
            </a:pPr>
            <a:r>
              <a:rPr lang="en-US" sz="3595" spc="39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1i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5951372" y="6519739"/>
            <a:ext cx="1040401" cy="998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18"/>
              </a:lnSpc>
            </a:pPr>
            <a:r>
              <a:rPr lang="en-US" sz="3595" spc="39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1i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6390056" y="7710754"/>
            <a:ext cx="97355" cy="744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87"/>
              </a:lnSpc>
            </a:pPr>
            <a:r>
              <a:rPr lang="en-US" b="true" sz="3006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 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11636469" y="7373631"/>
            <a:ext cx="343843" cy="450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5"/>
              </a:lnSpc>
            </a:pPr>
            <a:r>
              <a:rPr lang="en-US" sz="2443" spc="-1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2</a:t>
            </a:r>
            <a:r>
              <a:rPr lang="en-US" sz="2443" spc="-1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13891436" y="7362087"/>
            <a:ext cx="401822" cy="425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5"/>
              </a:lnSpc>
            </a:pPr>
            <a:r>
              <a:rPr lang="en-US" sz="2443" spc="-1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C12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2423160" y="7844104"/>
            <a:ext cx="8205768" cy="611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b="true" sz="3006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Chân răng mòn nhiềuhơnđầu răng, đặcbiệt là chân 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2423160" y="8491704"/>
            <a:ext cx="13635833" cy="1907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0"/>
              </a:lnSpc>
            </a:pPr>
            <a:r>
              <a:rPr lang="en-US" b="true" sz="3006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răng của bánh răng nhỏ.</a:t>
            </a:r>
            <a:r>
              <a:rPr lang="en-US" sz="3006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</a:p>
          <a:p>
            <a:pPr algn="l">
              <a:lnSpc>
                <a:spcPts val="5829"/>
              </a:lnSpc>
            </a:pPr>
            <a:r>
              <a:rPr lang="en-US" b="true" sz="3492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Muốn điều chỉnh sự bất lợi này, ta dịch đoạn làm việc sang tr</a:t>
            </a:r>
            <a:r>
              <a:rPr lang="en-US" sz="3492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0</a:t>
            </a:r>
            <a:r>
              <a:rPr lang="en-US" b="true" sz="3492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á</a:t>
            </a:r>
            <a:r>
              <a:rPr lang="en-US" sz="3492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2</a:t>
            </a:r>
            <a:r>
              <a:rPr lang="en-US" b="true" sz="3492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i, nghĩa là tăng chiều cao </a:t>
            </a:r>
          </a:p>
          <a:p>
            <a:pPr algn="l">
              <a:lnSpc>
                <a:spcPts val="1854"/>
              </a:lnSpc>
            </a:pPr>
            <a:r>
              <a:rPr lang="en-US" b="true" sz="3006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đầu răng của bánh răng nhỏ, và giảm chiều cao chân răng của bánh</a:t>
            </a:r>
            <a:r>
              <a:rPr lang="en-US" sz="3006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Kh</a:t>
            </a:r>
            <a:r>
              <a:rPr lang="en-US" b="true" sz="3006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 r</a:t>
            </a:r>
            <a:r>
              <a:rPr lang="en-US" sz="3006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</a:t>
            </a:r>
            <a:r>
              <a:rPr lang="en-US" b="true" sz="3006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ă</a:t>
            </a:r>
            <a:r>
              <a:rPr lang="en-US" sz="3006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 </a:t>
            </a:r>
            <a:r>
              <a:rPr lang="en-US" b="true" sz="3006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n</a:t>
            </a:r>
            <a:r>
              <a:rPr lang="en-US" sz="3006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Cơ</a:t>
            </a:r>
            <a:r>
              <a:rPr lang="en-US" b="true" sz="3006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g</a:t>
            </a:r>
            <a:r>
              <a:rPr lang="en-US" sz="3006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K</a:t>
            </a:r>
            <a:r>
              <a:rPr lang="en-US" b="true" sz="3006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 l</a:t>
            </a:r>
            <a:r>
              <a:rPr lang="en-US" sz="3006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h</a:t>
            </a:r>
            <a:r>
              <a:rPr lang="en-US" b="true" sz="3006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ớ</a:t>
            </a:r>
            <a:r>
              <a:rPr lang="en-US" sz="3006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í –</a:t>
            </a:r>
            <a:r>
              <a:rPr lang="en-US" b="true" sz="3006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n</a:t>
            </a:r>
            <a:r>
              <a:rPr lang="en-US" sz="3006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C</a:t>
            </a:r>
            <a:r>
              <a:rPr lang="en-US" b="true" sz="3006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, </a:t>
            </a:r>
            <a:r>
              <a:rPr lang="en-US" sz="3006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ô</a:t>
            </a:r>
            <a:r>
              <a:rPr lang="en-US" b="true" sz="3006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h</a:t>
            </a:r>
            <a:r>
              <a:rPr lang="en-US" sz="3006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ng</a:t>
            </a:r>
            <a:r>
              <a:rPr lang="en-US" b="true" sz="3006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o</a:t>
            </a:r>
            <a:r>
              <a:rPr lang="en-US" sz="3006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N</a:t>
            </a:r>
            <a:r>
              <a:rPr lang="en-US" b="true" sz="3006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ặ</a:t>
            </a:r>
            <a:r>
              <a:rPr lang="en-US" sz="3006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g</a:t>
            </a:r>
            <a:r>
              <a:rPr lang="en-US" b="true" sz="3006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c</a:t>
            </a:r>
            <a:r>
              <a:rPr lang="en-US" sz="3006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h</a:t>
            </a:r>
            <a:r>
              <a:rPr lang="en-US" b="true" sz="3006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 </a:t>
            </a:r>
            <a:r>
              <a:rPr lang="en-US" sz="3006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ệ</a:t>
            </a:r>
            <a:r>
              <a:rPr lang="en-US" b="true" sz="3006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d</a:t>
            </a:r>
            <a:r>
              <a:rPr lang="en-US" sz="3006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b="true" sz="3006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ịch </a:t>
            </a:r>
          </a:p>
          <a:p>
            <a:pPr algn="l">
              <a:lnSpc>
                <a:spcPts val="2518"/>
              </a:lnSpc>
            </a:pPr>
            <a:r>
              <a:rPr lang="en-US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Ths. Trương Quang Trường </a:t>
            </a:r>
          </a:p>
          <a:p>
            <a:pPr algn="l">
              <a:lnSpc>
                <a:spcPts val="1503"/>
              </a:lnSpc>
            </a:pPr>
            <a:r>
              <a:rPr lang="en-US" b="true" sz="3006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chỉnh các bánh răng</a:t>
            </a:r>
            <a:r>
              <a:rPr lang="en-US" sz="3006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8854064" y="10045546"/>
            <a:ext cx="658711" cy="179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3"/>
              </a:lnSpc>
            </a:pPr>
            <a:r>
              <a:rPr lang="en-US" sz="2106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- 29 - 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12483460" y="9967331"/>
            <a:ext cx="3134920" cy="162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"/>
              </a:lnSpc>
            </a:pPr>
            <a:r>
              <a:rPr lang="en-US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Trường ĐH Nông Lâm TPHCM 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81255" y="247645"/>
            <a:ext cx="13030200" cy="1771650"/>
          </a:xfrm>
          <a:custGeom>
            <a:avLst/>
            <a:gdLst/>
            <a:ahLst/>
            <a:cxnLst/>
            <a:rect r="r" b="b" t="t" l="l"/>
            <a:pathLst>
              <a:path h="1771650" w="13030200">
                <a:moveTo>
                  <a:pt x="0" y="0"/>
                </a:moveTo>
                <a:lnTo>
                  <a:pt x="13030200" y="0"/>
                </a:lnTo>
                <a:lnTo>
                  <a:pt x="13030200" y="1771650"/>
                </a:lnTo>
                <a:lnTo>
                  <a:pt x="0" y="17716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16100" y="71"/>
            <a:ext cx="1485900" cy="1464469"/>
          </a:xfrm>
          <a:custGeom>
            <a:avLst/>
            <a:gdLst/>
            <a:ahLst/>
            <a:cxnLst/>
            <a:rect r="r" b="b" t="t" l="l"/>
            <a:pathLst>
              <a:path h="1464469" w="1485900">
                <a:moveTo>
                  <a:pt x="0" y="0"/>
                </a:moveTo>
                <a:lnTo>
                  <a:pt x="1485900" y="0"/>
                </a:lnTo>
                <a:lnTo>
                  <a:pt x="1485900" y="1464469"/>
                </a:lnTo>
                <a:lnTo>
                  <a:pt x="0" y="14644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144000" y="1485914"/>
            <a:ext cx="6858000" cy="5267315"/>
          </a:xfrm>
          <a:custGeom>
            <a:avLst/>
            <a:gdLst/>
            <a:ahLst/>
            <a:cxnLst/>
            <a:rect r="r" b="b" t="t" l="l"/>
            <a:pathLst>
              <a:path h="5267315" w="6858000">
                <a:moveTo>
                  <a:pt x="0" y="0"/>
                </a:moveTo>
                <a:lnTo>
                  <a:pt x="6858000" y="0"/>
                </a:lnTo>
                <a:lnTo>
                  <a:pt x="6858000" y="5267316"/>
                </a:lnTo>
                <a:lnTo>
                  <a:pt x="0" y="52673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080" t="-4974" r="-5098" b="-2785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529888" y="6662647"/>
            <a:ext cx="5562595" cy="3712464"/>
          </a:xfrm>
          <a:custGeom>
            <a:avLst/>
            <a:gdLst/>
            <a:ahLst/>
            <a:cxnLst/>
            <a:rect r="r" b="b" t="t" l="l"/>
            <a:pathLst>
              <a:path h="3712464" w="5562595">
                <a:moveTo>
                  <a:pt x="0" y="0"/>
                </a:moveTo>
                <a:lnTo>
                  <a:pt x="5562595" y="0"/>
                </a:lnTo>
                <a:lnTo>
                  <a:pt x="5562595" y="3712464"/>
                </a:lnTo>
                <a:lnTo>
                  <a:pt x="0" y="371246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286000" y="2971757"/>
            <a:ext cx="6095933" cy="5600743"/>
          </a:xfrm>
          <a:custGeom>
            <a:avLst/>
            <a:gdLst/>
            <a:ahLst/>
            <a:cxnLst/>
            <a:rect r="r" b="b" t="t" l="l"/>
            <a:pathLst>
              <a:path h="5600743" w="6095933">
                <a:moveTo>
                  <a:pt x="0" y="0"/>
                </a:moveTo>
                <a:lnTo>
                  <a:pt x="6095933" y="0"/>
                </a:lnTo>
                <a:lnTo>
                  <a:pt x="6095933" y="5600743"/>
                </a:lnTo>
                <a:lnTo>
                  <a:pt x="0" y="560074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8840" t="0" r="-6567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423160" y="9746351"/>
            <a:ext cx="2873773" cy="314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Ths. Trương Quang Trường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483460" y="9336776"/>
            <a:ext cx="3134920" cy="793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Khoa Cơ Khí – Công Nghệ Trường ĐH Nông Lâm TPHCM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865937" y="255922"/>
            <a:ext cx="8630193" cy="616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VI. NHỮNG PHɈƠNG PHÁP CHẾ TẠO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249553" y="775916"/>
            <a:ext cx="5673623" cy="645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6"/>
              </a:lnSpc>
            </a:pPr>
            <a:r>
              <a:rPr lang="en-US" sz="3603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BÁNH</a:t>
            </a:r>
            <a:r>
              <a:rPr lang="en-US" sz="3603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3603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RĂNG</a:t>
            </a:r>
            <a:r>
              <a:rPr lang="en-US" sz="3603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3603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THÂN</a:t>
            </a:r>
            <a:r>
              <a:rPr lang="en-US" sz="3603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3603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KHAI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382883" y="1473222"/>
            <a:ext cx="116586" cy="6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0"/>
              </a:lnSpc>
            </a:pPr>
            <a:r>
              <a:rPr lang="en-US" sz="3600">
                <a:solidFill>
                  <a:srgbClr val="FF0000"/>
                </a:solidFill>
                <a:latin typeface="Arab Times"/>
                <a:ea typeface="Arab Times"/>
                <a:cs typeface="Arab Times"/>
                <a:sym typeface="Arab Times"/>
              </a:rPr>
              <a:t>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854064" y="9864571"/>
            <a:ext cx="658711" cy="36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8"/>
              </a:lnSpc>
            </a:pPr>
            <a:r>
              <a:rPr lang="en-US" sz="2106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- 30 -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735324" y="1501797"/>
            <a:ext cx="543754" cy="6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FF0000"/>
                </a:solidFill>
                <a:latin typeface="Arab Times"/>
                <a:ea typeface="Arab Times"/>
                <a:cs typeface="Arab Times"/>
                <a:sym typeface="Arab Times"/>
              </a:rPr>
              <a:t>Ph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278745" y="1501797"/>
            <a:ext cx="1127627" cy="6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FF0000"/>
                </a:solidFill>
                <a:latin typeface="Arab Times"/>
                <a:ea typeface="Arab Times"/>
                <a:cs typeface="Arab Times"/>
                <a:sym typeface="Arab Times"/>
              </a:rPr>
              <a:t> pháp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203125" y="1501797"/>
            <a:ext cx="907499" cy="6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FF0000"/>
                </a:solidFill>
                <a:latin typeface="Arab Times"/>
                <a:ea typeface="Arab Times"/>
                <a:cs typeface="Arab Times"/>
                <a:sym typeface="Arab Times"/>
              </a:rPr>
              <a:t>hình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268333" y="1474699"/>
            <a:ext cx="1030615" cy="680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FF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ѭѫng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499469" y="1474699"/>
            <a:ext cx="1621588" cy="680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FF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cắt</a:t>
            </a:r>
            <a:r>
              <a:rPr lang="en-US" sz="3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3600">
                <a:solidFill>
                  <a:srgbClr val="FF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định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81255" y="247645"/>
            <a:ext cx="13030200" cy="1771650"/>
          </a:xfrm>
          <a:custGeom>
            <a:avLst/>
            <a:gdLst/>
            <a:ahLst/>
            <a:cxnLst/>
            <a:rect r="r" b="b" t="t" l="l"/>
            <a:pathLst>
              <a:path h="1771650" w="13030200">
                <a:moveTo>
                  <a:pt x="0" y="0"/>
                </a:moveTo>
                <a:lnTo>
                  <a:pt x="13030200" y="0"/>
                </a:lnTo>
                <a:lnTo>
                  <a:pt x="13030200" y="1771650"/>
                </a:lnTo>
                <a:lnTo>
                  <a:pt x="0" y="17716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16100" y="71"/>
            <a:ext cx="1485900" cy="1464469"/>
          </a:xfrm>
          <a:custGeom>
            <a:avLst/>
            <a:gdLst/>
            <a:ahLst/>
            <a:cxnLst/>
            <a:rect r="r" b="b" t="t" l="l"/>
            <a:pathLst>
              <a:path h="1464469" w="1485900">
                <a:moveTo>
                  <a:pt x="0" y="0"/>
                </a:moveTo>
                <a:lnTo>
                  <a:pt x="1485900" y="0"/>
                </a:lnTo>
                <a:lnTo>
                  <a:pt x="1485900" y="1464469"/>
                </a:lnTo>
                <a:lnTo>
                  <a:pt x="0" y="14644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286000" y="3200329"/>
            <a:ext cx="6629129" cy="5503131"/>
          </a:xfrm>
          <a:custGeom>
            <a:avLst/>
            <a:gdLst/>
            <a:ahLst/>
            <a:cxnLst/>
            <a:rect r="r" b="b" t="t" l="l"/>
            <a:pathLst>
              <a:path h="5503131" w="6629129">
                <a:moveTo>
                  <a:pt x="0" y="0"/>
                </a:moveTo>
                <a:lnTo>
                  <a:pt x="6629129" y="0"/>
                </a:lnTo>
                <a:lnTo>
                  <a:pt x="6629129" y="5503130"/>
                </a:lnTo>
                <a:lnTo>
                  <a:pt x="0" y="55031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3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372600" y="2285986"/>
            <a:ext cx="6588295" cy="6691336"/>
          </a:xfrm>
          <a:custGeom>
            <a:avLst/>
            <a:gdLst/>
            <a:ahLst/>
            <a:cxnLst/>
            <a:rect r="r" b="b" t="t" l="l"/>
            <a:pathLst>
              <a:path h="6691336" w="6588295">
                <a:moveTo>
                  <a:pt x="0" y="0"/>
                </a:moveTo>
                <a:lnTo>
                  <a:pt x="6588295" y="0"/>
                </a:lnTo>
                <a:lnTo>
                  <a:pt x="6588295" y="6691336"/>
                </a:lnTo>
                <a:lnTo>
                  <a:pt x="0" y="66913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-5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423160" y="9746351"/>
            <a:ext cx="2873773" cy="314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Ths. Trương Quang Trường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483460" y="9336776"/>
            <a:ext cx="3134920" cy="793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Khoa Cơ Khí – Công Nghệ Trường ĐH Nông Lâm TPHCM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854064" y="9864571"/>
            <a:ext cx="658711" cy="36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8"/>
              </a:lnSpc>
            </a:pPr>
            <a:r>
              <a:rPr lang="en-US" sz="2106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- 31 -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865937" y="255922"/>
            <a:ext cx="8630193" cy="616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VI. NHỮNG PHɈƠNG PHÁP CHẾ TẠO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249553" y="775916"/>
            <a:ext cx="5673623" cy="645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6"/>
              </a:lnSpc>
            </a:pPr>
            <a:r>
              <a:rPr lang="en-US" sz="3603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BÁNH</a:t>
            </a:r>
            <a:r>
              <a:rPr lang="en-US" sz="3603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3603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RĂNG</a:t>
            </a:r>
            <a:r>
              <a:rPr lang="en-US" sz="3603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3603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THÂN</a:t>
            </a:r>
            <a:r>
              <a:rPr lang="en-US" sz="3603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3603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KHAI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382883" y="1473222"/>
            <a:ext cx="116586" cy="6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0"/>
              </a:lnSpc>
            </a:pPr>
            <a:r>
              <a:rPr lang="en-US" sz="3600">
                <a:solidFill>
                  <a:srgbClr val="FF0000"/>
                </a:solidFill>
                <a:latin typeface="Arab Times"/>
                <a:ea typeface="Arab Times"/>
                <a:cs typeface="Arab Times"/>
                <a:sym typeface="Arab Times"/>
              </a:rPr>
              <a:t>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735324" y="1501797"/>
            <a:ext cx="543754" cy="6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FF0000"/>
                </a:solidFill>
                <a:latin typeface="Arab Times"/>
                <a:ea typeface="Arab Times"/>
                <a:cs typeface="Arab Times"/>
                <a:sym typeface="Arab Times"/>
              </a:rPr>
              <a:t>Ph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278745" y="1501797"/>
            <a:ext cx="1127627" cy="6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FF0000"/>
                </a:solidFill>
                <a:latin typeface="Arab Times"/>
                <a:ea typeface="Arab Times"/>
                <a:cs typeface="Arab Times"/>
                <a:sym typeface="Arab Times"/>
              </a:rPr>
              <a:t> pháp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199557" y="1501797"/>
            <a:ext cx="1749261" cy="6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FF0000"/>
                </a:solidFill>
                <a:latin typeface="Arab Times"/>
                <a:ea typeface="Arab Times"/>
                <a:cs typeface="Arab Times"/>
                <a:sym typeface="Arab Times"/>
              </a:rPr>
              <a:t>bao</a:t>
            </a:r>
            <a:r>
              <a:rPr lang="en-US" sz="3600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 </a:t>
            </a:r>
            <a:r>
              <a:rPr lang="en-US" sz="3600">
                <a:solidFill>
                  <a:srgbClr val="FF0000"/>
                </a:solidFill>
                <a:latin typeface="Arab Times"/>
                <a:ea typeface="Arab Times"/>
                <a:cs typeface="Arab Times"/>
                <a:sym typeface="Arab Times"/>
              </a:rPr>
              <a:t>hình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268333" y="1474699"/>
            <a:ext cx="1030615" cy="680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FF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ѭѫng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499469" y="1474699"/>
            <a:ext cx="595517" cy="680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FF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cắt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81255" y="247645"/>
            <a:ext cx="13030200" cy="1771650"/>
          </a:xfrm>
          <a:custGeom>
            <a:avLst/>
            <a:gdLst/>
            <a:ahLst/>
            <a:cxnLst/>
            <a:rect r="r" b="b" t="t" l="l"/>
            <a:pathLst>
              <a:path h="1771650" w="13030200">
                <a:moveTo>
                  <a:pt x="0" y="0"/>
                </a:moveTo>
                <a:lnTo>
                  <a:pt x="13030200" y="0"/>
                </a:lnTo>
                <a:lnTo>
                  <a:pt x="13030200" y="1771650"/>
                </a:lnTo>
                <a:lnTo>
                  <a:pt x="0" y="17716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16100" y="71"/>
            <a:ext cx="1485900" cy="1464469"/>
          </a:xfrm>
          <a:custGeom>
            <a:avLst/>
            <a:gdLst/>
            <a:ahLst/>
            <a:cxnLst/>
            <a:rect r="r" b="b" t="t" l="l"/>
            <a:pathLst>
              <a:path h="1464469" w="1485900">
                <a:moveTo>
                  <a:pt x="0" y="0"/>
                </a:moveTo>
                <a:lnTo>
                  <a:pt x="1485900" y="0"/>
                </a:lnTo>
                <a:lnTo>
                  <a:pt x="1485900" y="1464469"/>
                </a:lnTo>
                <a:lnTo>
                  <a:pt x="0" y="14644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286000" y="2171543"/>
            <a:ext cx="7159066" cy="4205254"/>
          </a:xfrm>
          <a:custGeom>
            <a:avLst/>
            <a:gdLst/>
            <a:ahLst/>
            <a:cxnLst/>
            <a:rect r="r" b="b" t="t" l="l"/>
            <a:pathLst>
              <a:path h="4205254" w="7159066">
                <a:moveTo>
                  <a:pt x="0" y="0"/>
                </a:moveTo>
                <a:lnTo>
                  <a:pt x="7159066" y="0"/>
                </a:lnTo>
                <a:lnTo>
                  <a:pt x="7159066" y="4205254"/>
                </a:lnTo>
                <a:lnTo>
                  <a:pt x="0" y="42052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372600" y="2628986"/>
            <a:ext cx="6559591" cy="3428729"/>
          </a:xfrm>
          <a:custGeom>
            <a:avLst/>
            <a:gdLst/>
            <a:ahLst/>
            <a:cxnLst/>
            <a:rect r="r" b="b" t="t" l="l"/>
            <a:pathLst>
              <a:path h="3428729" w="6559591">
                <a:moveTo>
                  <a:pt x="0" y="0"/>
                </a:moveTo>
                <a:lnTo>
                  <a:pt x="6559591" y="0"/>
                </a:lnTo>
                <a:lnTo>
                  <a:pt x="6559591" y="3428728"/>
                </a:lnTo>
                <a:lnTo>
                  <a:pt x="0" y="34287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312964" y="6375254"/>
            <a:ext cx="5436751" cy="2870287"/>
          </a:xfrm>
          <a:custGeom>
            <a:avLst/>
            <a:gdLst/>
            <a:ahLst/>
            <a:cxnLst/>
            <a:rect r="r" b="b" t="t" l="l"/>
            <a:pathLst>
              <a:path h="2870287" w="5436751">
                <a:moveTo>
                  <a:pt x="0" y="0"/>
                </a:moveTo>
                <a:lnTo>
                  <a:pt x="5436751" y="0"/>
                </a:lnTo>
                <a:lnTo>
                  <a:pt x="5436751" y="2870287"/>
                </a:lnTo>
                <a:lnTo>
                  <a:pt x="0" y="287028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657600" y="6400800"/>
            <a:ext cx="4000500" cy="3324230"/>
          </a:xfrm>
          <a:custGeom>
            <a:avLst/>
            <a:gdLst/>
            <a:ahLst/>
            <a:cxnLst/>
            <a:rect r="r" b="b" t="t" l="l"/>
            <a:pathLst>
              <a:path h="3324230" w="4000500">
                <a:moveTo>
                  <a:pt x="0" y="0"/>
                </a:moveTo>
                <a:lnTo>
                  <a:pt x="4000500" y="0"/>
                </a:lnTo>
                <a:lnTo>
                  <a:pt x="4000500" y="3324230"/>
                </a:lnTo>
                <a:lnTo>
                  <a:pt x="0" y="332423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423160" y="9746351"/>
            <a:ext cx="2873773" cy="314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Ths. Trương Quang Trường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433958" y="8974207"/>
            <a:ext cx="88911" cy="311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7"/>
              </a:lnSpc>
            </a:pPr>
            <a:r>
              <a:rPr lang="en-US" sz="1378" spc="-1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483460" y="9289151"/>
            <a:ext cx="3134920" cy="840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8"/>
              </a:lnSpc>
            </a:pPr>
            <a:r>
              <a:rPr lang="en-US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Khoa Cơ Khí – Công Nghệ </a:t>
            </a:r>
          </a:p>
          <a:p>
            <a:pPr algn="l">
              <a:lnSpc>
                <a:spcPts val="2910"/>
              </a:lnSpc>
            </a:pPr>
            <a:r>
              <a:rPr lang="en-US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Trường ĐH Nông Lâm TPHCM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854064" y="9864571"/>
            <a:ext cx="658711" cy="36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8"/>
              </a:lnSpc>
            </a:pPr>
            <a:r>
              <a:rPr lang="en-US" sz="2106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- 32 -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865937" y="255922"/>
            <a:ext cx="8630193" cy="616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VI. NHỮNG PHɈƠNG PHÁP CHẾ TẠO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249553" y="775916"/>
            <a:ext cx="5673623" cy="645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6"/>
              </a:lnSpc>
            </a:pPr>
            <a:r>
              <a:rPr lang="en-US" sz="3603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BÁNH</a:t>
            </a:r>
            <a:r>
              <a:rPr lang="en-US" sz="3603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3603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RĂNG</a:t>
            </a:r>
            <a:r>
              <a:rPr lang="en-US" sz="3603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3603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THÂN</a:t>
            </a:r>
            <a:r>
              <a:rPr lang="en-US" sz="3603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3603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KHAI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382883" y="1473222"/>
            <a:ext cx="116586" cy="6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0"/>
              </a:lnSpc>
            </a:pPr>
            <a:r>
              <a:rPr lang="en-US" sz="3600">
                <a:solidFill>
                  <a:srgbClr val="FF0000"/>
                </a:solidFill>
                <a:latin typeface="Arab Times"/>
                <a:ea typeface="Arab Times"/>
                <a:cs typeface="Arab Times"/>
                <a:sym typeface="Arab Times"/>
              </a:rPr>
              <a:t>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735324" y="1501797"/>
            <a:ext cx="543754" cy="6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FF0000"/>
                </a:solidFill>
                <a:latin typeface="Arab Times"/>
                <a:ea typeface="Arab Times"/>
                <a:cs typeface="Arab Times"/>
                <a:sym typeface="Arab Times"/>
              </a:rPr>
              <a:t>Ph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278745" y="1501797"/>
            <a:ext cx="1127627" cy="6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FF0000"/>
                </a:solidFill>
                <a:latin typeface="Arab Times"/>
                <a:ea typeface="Arab Times"/>
                <a:cs typeface="Arab Times"/>
                <a:sym typeface="Arab Times"/>
              </a:rPr>
              <a:t> pháp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199557" y="1501797"/>
            <a:ext cx="1749261" cy="6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FF0000"/>
                </a:solidFill>
                <a:latin typeface="Arab Times"/>
                <a:ea typeface="Arab Times"/>
                <a:cs typeface="Arab Times"/>
                <a:sym typeface="Arab Times"/>
              </a:rPr>
              <a:t>bao</a:t>
            </a:r>
            <a:r>
              <a:rPr lang="en-US" sz="3600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 </a:t>
            </a:r>
            <a:r>
              <a:rPr lang="en-US" sz="3600">
                <a:solidFill>
                  <a:srgbClr val="FF0000"/>
                </a:solidFill>
                <a:latin typeface="Arab Times"/>
                <a:ea typeface="Arab Times"/>
                <a:cs typeface="Arab Times"/>
                <a:sym typeface="Arab Times"/>
              </a:rPr>
              <a:t>hình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268333" y="1474699"/>
            <a:ext cx="1030615" cy="680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FF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ѭѫng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499469" y="1474699"/>
            <a:ext cx="595517" cy="680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FF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cắt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212594" y="7093139"/>
            <a:ext cx="256804" cy="727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92"/>
              </a:lnSpc>
            </a:pPr>
            <a:r>
              <a:rPr lang="en-US" sz="2756" spc="-2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H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191735" y="8068747"/>
            <a:ext cx="118443" cy="727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92"/>
              </a:lnSpc>
            </a:pPr>
            <a:r>
              <a:rPr lang="en-US" sz="2756" spc="-2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432647" y="7251011"/>
            <a:ext cx="98884" cy="232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3"/>
              </a:lnSpc>
            </a:pPr>
            <a:r>
              <a:rPr lang="en-US" sz="2756" spc="-2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551104" y="7393281"/>
            <a:ext cx="124244" cy="161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34"/>
              </a:lnSpc>
            </a:pPr>
            <a:r>
              <a:rPr lang="en-US" sz="1926" spc="-1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428303" y="7539961"/>
            <a:ext cx="177837" cy="346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2"/>
              </a:lnSpc>
            </a:pPr>
            <a:r>
              <a:rPr lang="en-US" sz="2756" spc="-2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2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698791" y="7484983"/>
            <a:ext cx="98884" cy="232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3"/>
              </a:lnSpc>
            </a:pPr>
            <a:r>
              <a:rPr lang="en-US" sz="2756" spc="-2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784487" y="7627425"/>
            <a:ext cx="177837" cy="572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4"/>
              </a:lnSpc>
            </a:pPr>
            <a:r>
              <a:rPr lang="en-US" sz="1926" spc="-1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</a:t>
            </a:r>
          </a:p>
          <a:p>
            <a:pPr algn="ctr">
              <a:lnSpc>
                <a:spcPts val="4320"/>
              </a:lnSpc>
            </a:pPr>
            <a:r>
              <a:rPr lang="en-US" sz="2756" spc="-2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2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718997" y="7325311"/>
            <a:ext cx="256804" cy="470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10"/>
              </a:lnSpc>
            </a:pPr>
            <a:r>
              <a:rPr lang="en-US" sz="2756" spc="-2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H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560663" y="7847419"/>
            <a:ext cx="809987" cy="470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10"/>
              </a:lnSpc>
            </a:pPr>
            <a:r>
              <a:rPr lang="en-US" sz="2756" spc="-19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h'=md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722154" y="8439602"/>
            <a:ext cx="118443" cy="261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6"/>
              </a:lnSpc>
            </a:pPr>
            <a:r>
              <a:rPr lang="en-US" sz="2756" spc="-2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4550119" y="8615372"/>
            <a:ext cx="900570" cy="727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92"/>
              </a:lnSpc>
            </a:pPr>
            <a:r>
              <a:rPr lang="en-US" sz="2756" spc="-19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0,25m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841287" y="6566673"/>
            <a:ext cx="313739" cy="469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9"/>
              </a:lnSpc>
            </a:pPr>
            <a:r>
              <a:rPr lang="en-US" sz="275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d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81255" y="247645"/>
            <a:ext cx="13030200" cy="1771650"/>
          </a:xfrm>
          <a:custGeom>
            <a:avLst/>
            <a:gdLst/>
            <a:ahLst/>
            <a:cxnLst/>
            <a:rect r="r" b="b" t="t" l="l"/>
            <a:pathLst>
              <a:path h="1771650" w="13030200">
                <a:moveTo>
                  <a:pt x="0" y="0"/>
                </a:moveTo>
                <a:lnTo>
                  <a:pt x="13030200" y="0"/>
                </a:lnTo>
                <a:lnTo>
                  <a:pt x="13030200" y="1771650"/>
                </a:lnTo>
                <a:lnTo>
                  <a:pt x="0" y="17716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16100" y="71"/>
            <a:ext cx="1485900" cy="1464469"/>
          </a:xfrm>
          <a:custGeom>
            <a:avLst/>
            <a:gdLst/>
            <a:ahLst/>
            <a:cxnLst/>
            <a:rect r="r" b="b" t="t" l="l"/>
            <a:pathLst>
              <a:path h="1464469" w="1485900">
                <a:moveTo>
                  <a:pt x="0" y="0"/>
                </a:moveTo>
                <a:lnTo>
                  <a:pt x="1485900" y="0"/>
                </a:lnTo>
                <a:lnTo>
                  <a:pt x="1485900" y="1464469"/>
                </a:lnTo>
                <a:lnTo>
                  <a:pt x="0" y="14644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529012" y="2171700"/>
            <a:ext cx="11901516" cy="8115300"/>
          </a:xfrm>
          <a:custGeom>
            <a:avLst/>
            <a:gdLst/>
            <a:ahLst/>
            <a:cxnLst/>
            <a:rect r="r" b="b" t="t" l="l"/>
            <a:pathLst>
              <a:path h="8115300" w="11901516">
                <a:moveTo>
                  <a:pt x="0" y="0"/>
                </a:moveTo>
                <a:lnTo>
                  <a:pt x="11901517" y="0"/>
                </a:lnTo>
                <a:lnTo>
                  <a:pt x="11901517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423160" y="9746351"/>
            <a:ext cx="2873773" cy="314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Ths. Trương Quang Trường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483460" y="9336776"/>
            <a:ext cx="3134920" cy="793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Khoa Cơ Khí – Công Nghệ Trường ĐH Nông Lâm TPHCM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854064" y="9864571"/>
            <a:ext cx="658711" cy="36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8"/>
              </a:lnSpc>
            </a:pPr>
            <a:r>
              <a:rPr lang="en-US" sz="2106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- 33 -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865937" y="255922"/>
            <a:ext cx="8630193" cy="616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VI. NHỮNG PHɈƠNG PHÁP CHẾ TẠO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249553" y="775916"/>
            <a:ext cx="5673623" cy="645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6"/>
              </a:lnSpc>
            </a:pPr>
            <a:r>
              <a:rPr lang="en-US" sz="3603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BÁNH</a:t>
            </a:r>
            <a:r>
              <a:rPr lang="en-US" sz="3603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3603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RĂNG</a:t>
            </a:r>
            <a:r>
              <a:rPr lang="en-US" sz="3603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3603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THÂN</a:t>
            </a:r>
            <a:r>
              <a:rPr lang="en-US" sz="3603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3603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KHAI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382883" y="1473222"/>
            <a:ext cx="116586" cy="6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0"/>
              </a:lnSpc>
            </a:pPr>
            <a:r>
              <a:rPr lang="en-US" sz="3600">
                <a:solidFill>
                  <a:srgbClr val="FF0000"/>
                </a:solidFill>
                <a:latin typeface="Arab Times"/>
                <a:ea typeface="Arab Times"/>
                <a:cs typeface="Arab Times"/>
                <a:sym typeface="Arab Times"/>
              </a:rPr>
              <a:t>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735324" y="1501797"/>
            <a:ext cx="543754" cy="6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FF0000"/>
                </a:solidFill>
                <a:latin typeface="Arab Times"/>
                <a:ea typeface="Arab Times"/>
                <a:cs typeface="Arab Times"/>
                <a:sym typeface="Arab Times"/>
              </a:rPr>
              <a:t>Ph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278745" y="1501797"/>
            <a:ext cx="1127627" cy="6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FF0000"/>
                </a:solidFill>
                <a:latin typeface="Arab Times"/>
                <a:ea typeface="Arab Times"/>
                <a:cs typeface="Arab Times"/>
                <a:sym typeface="Arab Times"/>
              </a:rPr>
              <a:t> pháp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199557" y="1501797"/>
            <a:ext cx="1749261" cy="6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FF0000"/>
                </a:solidFill>
                <a:latin typeface="Arab Times"/>
                <a:ea typeface="Arab Times"/>
                <a:cs typeface="Arab Times"/>
                <a:sym typeface="Arab Times"/>
              </a:rPr>
              <a:t>bao</a:t>
            </a:r>
            <a:r>
              <a:rPr lang="en-US" sz="3600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 </a:t>
            </a:r>
            <a:r>
              <a:rPr lang="en-US" sz="3600">
                <a:solidFill>
                  <a:srgbClr val="FF0000"/>
                </a:solidFill>
                <a:latin typeface="Arab Times"/>
                <a:ea typeface="Arab Times"/>
                <a:cs typeface="Arab Times"/>
                <a:sym typeface="Arab Times"/>
              </a:rPr>
              <a:t>hình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268333" y="1474699"/>
            <a:ext cx="1030615" cy="680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FF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ѭѫng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499469" y="1474699"/>
            <a:ext cx="595517" cy="680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FF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cắt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81255" y="247645"/>
            <a:ext cx="13030200" cy="1771650"/>
          </a:xfrm>
          <a:custGeom>
            <a:avLst/>
            <a:gdLst/>
            <a:ahLst/>
            <a:cxnLst/>
            <a:rect r="r" b="b" t="t" l="l"/>
            <a:pathLst>
              <a:path h="1771650" w="13030200">
                <a:moveTo>
                  <a:pt x="0" y="0"/>
                </a:moveTo>
                <a:lnTo>
                  <a:pt x="13030200" y="0"/>
                </a:lnTo>
                <a:lnTo>
                  <a:pt x="13030200" y="1771650"/>
                </a:lnTo>
                <a:lnTo>
                  <a:pt x="0" y="17716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16100" y="71"/>
            <a:ext cx="1485900" cy="1464469"/>
          </a:xfrm>
          <a:custGeom>
            <a:avLst/>
            <a:gdLst/>
            <a:ahLst/>
            <a:cxnLst/>
            <a:rect r="r" b="b" t="t" l="l"/>
            <a:pathLst>
              <a:path h="1464469" w="1485900">
                <a:moveTo>
                  <a:pt x="0" y="0"/>
                </a:moveTo>
                <a:lnTo>
                  <a:pt x="1485900" y="0"/>
                </a:lnTo>
                <a:lnTo>
                  <a:pt x="1485900" y="1464469"/>
                </a:lnTo>
                <a:lnTo>
                  <a:pt x="0" y="14644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286000" y="3771957"/>
            <a:ext cx="13716000" cy="4914843"/>
          </a:xfrm>
          <a:custGeom>
            <a:avLst/>
            <a:gdLst/>
            <a:ahLst/>
            <a:cxnLst/>
            <a:rect r="r" b="b" t="t" l="l"/>
            <a:pathLst>
              <a:path h="4914843" w="13716000">
                <a:moveTo>
                  <a:pt x="0" y="0"/>
                </a:moveTo>
                <a:lnTo>
                  <a:pt x="13716000" y="0"/>
                </a:lnTo>
                <a:lnTo>
                  <a:pt x="13716000" y="4914843"/>
                </a:lnTo>
                <a:lnTo>
                  <a:pt x="0" y="4914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544" t="0" r="-2640" b="-2585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423160" y="9746351"/>
            <a:ext cx="2873773" cy="314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Ths. Trương Quang Trường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483460" y="9336776"/>
            <a:ext cx="3134920" cy="793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Khoa Cơ Khí – Công Nghệ Trường ĐH Nông Lâm TPHCM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854064" y="9864571"/>
            <a:ext cx="658711" cy="36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8"/>
              </a:lnSpc>
            </a:pPr>
            <a:r>
              <a:rPr lang="en-US" sz="2106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- 34 -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865937" y="255922"/>
            <a:ext cx="8630193" cy="616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VI. NHỮNG PHɈƠNG PHÁP CHẾ TẠO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249553" y="699716"/>
            <a:ext cx="5673623" cy="721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69"/>
              </a:lnSpc>
            </a:pPr>
            <a:r>
              <a:rPr lang="en-US" sz="3603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BÁNH</a:t>
            </a:r>
            <a:r>
              <a:rPr lang="en-US" sz="3603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3603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RĂNG</a:t>
            </a:r>
            <a:r>
              <a:rPr lang="en-US" sz="3603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3603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THÂN</a:t>
            </a:r>
            <a:r>
              <a:rPr lang="en-US" sz="3603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3603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KHAI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887779" y="1503893"/>
            <a:ext cx="116586" cy="716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63"/>
              </a:lnSpc>
            </a:pPr>
            <a:r>
              <a:rPr lang="en-US" sz="3600">
                <a:solidFill>
                  <a:srgbClr val="FF0000"/>
                </a:solidFill>
                <a:latin typeface="Arab Times"/>
                <a:ea typeface="Arab Times"/>
                <a:cs typeface="Arab Times"/>
                <a:sym typeface="Arab Times"/>
              </a:rPr>
              <a:t>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735324" y="2523225"/>
            <a:ext cx="1178019" cy="612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5"/>
              </a:lnSpc>
            </a:pPr>
            <a:r>
              <a:rPr lang="en-US" sz="3603">
                <a:solidFill>
                  <a:srgbClr val="FF0000"/>
                </a:solidFill>
                <a:latin typeface="Arab Times"/>
                <a:ea typeface="Arab Times"/>
                <a:cs typeface="Arab Times"/>
                <a:sym typeface="Arab Times"/>
              </a:rPr>
              <a:t>Bánh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806811" y="2523225"/>
            <a:ext cx="673984" cy="612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5"/>
              </a:lnSpc>
            </a:pPr>
            <a:r>
              <a:rPr lang="en-US" sz="3603">
                <a:solidFill>
                  <a:srgbClr val="FF0000"/>
                </a:solidFill>
                <a:latin typeface="Arab Times"/>
                <a:ea typeface="Arab Times"/>
                <a:cs typeface="Arab Times"/>
                <a:sym typeface="Arab Times"/>
              </a:rPr>
              <a:t> có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307013" y="2523225"/>
            <a:ext cx="1877149" cy="612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5"/>
              </a:lnSpc>
            </a:pPr>
            <a:r>
              <a:rPr lang="en-US" sz="3603">
                <a:solidFill>
                  <a:srgbClr val="FF0000"/>
                </a:solidFill>
                <a:latin typeface="Arab Times"/>
                <a:ea typeface="Arab Times"/>
                <a:cs typeface="Arab Times"/>
                <a:sym typeface="Arab Times"/>
              </a:rPr>
              <a:t> dao (BR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856793" y="1399118"/>
            <a:ext cx="116586" cy="821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3600">
                <a:solidFill>
                  <a:srgbClr val="FF0000"/>
                </a:solidFill>
                <a:latin typeface="Arab Times"/>
                <a:ea typeface="Arab Times"/>
                <a:cs typeface="Arab Times"/>
                <a:sym typeface="Arab Times"/>
              </a:rPr>
              <a:t>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892411" y="2286619"/>
            <a:ext cx="933617" cy="891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7"/>
              </a:lnSpc>
            </a:pPr>
            <a:r>
              <a:rPr lang="en-US" sz="3603">
                <a:solidFill>
                  <a:srgbClr val="FF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rĕng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467465" y="2496169"/>
            <a:ext cx="856136" cy="681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5"/>
              </a:lnSpc>
            </a:pPr>
            <a:r>
              <a:rPr lang="en-US" sz="3603">
                <a:solidFill>
                  <a:srgbClr val="FF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dịch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149529" y="2460236"/>
            <a:ext cx="2357895" cy="717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5"/>
              </a:lnSpc>
            </a:pPr>
            <a:r>
              <a:rPr lang="en-US" sz="3603">
                <a:solidFill>
                  <a:srgbClr val="FF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dịch chỉnh)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816234" y="1608668"/>
            <a:ext cx="1062804" cy="6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>
                <a:solidFill>
                  <a:srgbClr val="FF0000"/>
                </a:solidFill>
                <a:latin typeface="Arab Times"/>
                <a:ea typeface="Arab Times"/>
                <a:cs typeface="Arab Times"/>
                <a:sym typeface="Arab Times"/>
              </a:rPr>
              <a:t>Bánh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002079" y="1608668"/>
            <a:ext cx="754080" cy="6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spc="7">
                <a:solidFill>
                  <a:srgbClr val="FF0000"/>
                </a:solidFill>
                <a:latin typeface="Arab Times"/>
                <a:ea typeface="Arab Times"/>
                <a:cs typeface="Arab Times"/>
                <a:sym typeface="Arab Times"/>
              </a:rPr>
              <a:t>tiêu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973379" y="1581569"/>
            <a:ext cx="933617" cy="680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spc="3">
                <a:solidFill>
                  <a:srgbClr val="FF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rĕng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853042" y="1581569"/>
            <a:ext cx="1219024" cy="680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FF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chuẩn</a:t>
            </a: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81255" y="247645"/>
            <a:ext cx="13030200" cy="1771650"/>
          </a:xfrm>
          <a:custGeom>
            <a:avLst/>
            <a:gdLst/>
            <a:ahLst/>
            <a:cxnLst/>
            <a:rect r="r" b="b" t="t" l="l"/>
            <a:pathLst>
              <a:path h="1771650" w="13030200">
                <a:moveTo>
                  <a:pt x="0" y="0"/>
                </a:moveTo>
                <a:lnTo>
                  <a:pt x="13030200" y="0"/>
                </a:lnTo>
                <a:lnTo>
                  <a:pt x="13030200" y="1771650"/>
                </a:lnTo>
                <a:lnTo>
                  <a:pt x="0" y="17716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16100" y="71"/>
            <a:ext cx="1485900" cy="1464469"/>
          </a:xfrm>
          <a:custGeom>
            <a:avLst/>
            <a:gdLst/>
            <a:ahLst/>
            <a:cxnLst/>
            <a:rect r="r" b="b" t="t" l="l"/>
            <a:pathLst>
              <a:path h="1464469" w="1485900">
                <a:moveTo>
                  <a:pt x="0" y="0"/>
                </a:moveTo>
                <a:lnTo>
                  <a:pt x="1485900" y="0"/>
                </a:lnTo>
                <a:lnTo>
                  <a:pt x="1485900" y="1464469"/>
                </a:lnTo>
                <a:lnTo>
                  <a:pt x="0" y="14644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800814" y="4010730"/>
            <a:ext cx="2840541" cy="1927427"/>
          </a:xfrm>
          <a:custGeom>
            <a:avLst/>
            <a:gdLst/>
            <a:ahLst/>
            <a:cxnLst/>
            <a:rect r="r" b="b" t="t" l="l"/>
            <a:pathLst>
              <a:path h="1927427" w="2840541">
                <a:moveTo>
                  <a:pt x="0" y="0"/>
                </a:moveTo>
                <a:lnTo>
                  <a:pt x="2840541" y="0"/>
                </a:lnTo>
                <a:lnTo>
                  <a:pt x="2840541" y="1927426"/>
                </a:lnTo>
                <a:lnTo>
                  <a:pt x="0" y="19274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190745" y="2342364"/>
            <a:ext cx="13906495" cy="7985112"/>
          </a:xfrm>
          <a:custGeom>
            <a:avLst/>
            <a:gdLst/>
            <a:ahLst/>
            <a:cxnLst/>
            <a:rect r="r" b="b" t="t" l="l"/>
            <a:pathLst>
              <a:path h="7985112" w="13906495">
                <a:moveTo>
                  <a:pt x="0" y="0"/>
                </a:moveTo>
                <a:lnTo>
                  <a:pt x="13906495" y="0"/>
                </a:lnTo>
                <a:lnTo>
                  <a:pt x="13906495" y="7985112"/>
                </a:lnTo>
                <a:lnTo>
                  <a:pt x="0" y="798511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865937" y="255922"/>
            <a:ext cx="8630193" cy="616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VI. NHỮNG PHɈƠNG PHÁP CHẾ TẠO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249553" y="699716"/>
            <a:ext cx="5673623" cy="721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69"/>
              </a:lnSpc>
            </a:pPr>
            <a:r>
              <a:rPr lang="en-US" sz="3603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BÁNH</a:t>
            </a:r>
            <a:r>
              <a:rPr lang="en-US" sz="3603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3603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RĂNG</a:t>
            </a:r>
            <a:r>
              <a:rPr lang="en-US" sz="3603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3603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THÂN</a:t>
            </a:r>
            <a:r>
              <a:rPr lang="en-US" sz="3603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3603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KHAI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031811" y="1503893"/>
            <a:ext cx="116586" cy="716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63"/>
              </a:lnSpc>
            </a:pPr>
            <a:r>
              <a:rPr lang="en-US" sz="3600">
                <a:solidFill>
                  <a:srgbClr val="FF0000"/>
                </a:solidFill>
                <a:latin typeface="Arab Times"/>
                <a:ea typeface="Arab Times"/>
                <a:cs typeface="Arab Times"/>
                <a:sym typeface="Arab Times"/>
              </a:rPr>
              <a:t>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816248" y="1545679"/>
            <a:ext cx="2972914" cy="716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FF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Hiện tѭợngcắt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897759" y="1581569"/>
            <a:ext cx="933617" cy="680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spc="3">
                <a:solidFill>
                  <a:srgbClr val="FF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rĕng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498330" y="1545679"/>
            <a:ext cx="3344075" cy="716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72"/>
              </a:lnSpc>
            </a:pPr>
            <a:r>
              <a:rPr lang="en-US" sz="3600" spc="3">
                <a:solidFill>
                  <a:srgbClr val="FF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sốrĕngtốithiểu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65324" y="2259178"/>
            <a:ext cx="171650" cy="506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82"/>
              </a:lnSpc>
            </a:pPr>
            <a:r>
              <a:rPr lang="en-US" sz="2606" spc="-2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0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843913" y="1608668"/>
            <a:ext cx="959734" cy="6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spc="3">
                <a:solidFill>
                  <a:srgbClr val="FF0000"/>
                </a:solidFill>
                <a:latin typeface="Arab Times"/>
                <a:ea typeface="Arab Times"/>
                <a:cs typeface="Arab Times"/>
                <a:sym typeface="Arab Times"/>
              </a:rPr>
              <a:t>chân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926459" y="1608668"/>
            <a:ext cx="466815" cy="6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spc="3">
                <a:solidFill>
                  <a:srgbClr val="FF0000"/>
                </a:solidFill>
                <a:latin typeface="Arab Times"/>
                <a:ea typeface="Arab Times"/>
                <a:cs typeface="Arab Times"/>
                <a:sym typeface="Arab Times"/>
              </a:rPr>
              <a:t>và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130716" y="4812092"/>
            <a:ext cx="233286" cy="363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276" spc="-18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464712" y="3905693"/>
            <a:ext cx="216484" cy="363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276" spc="-18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Q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520433" y="4982070"/>
            <a:ext cx="166721" cy="363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276" spc="-18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059825" y="3760246"/>
            <a:ext cx="216484" cy="363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276" spc="-18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458271" y="3227680"/>
            <a:ext cx="149919" cy="363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276" spc="-18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101348" y="3373493"/>
            <a:ext cx="189209" cy="405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27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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459764" y="4821674"/>
            <a:ext cx="189209" cy="405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27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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294504" y="5253885"/>
            <a:ext cx="148119" cy="405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27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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930773" y="6152912"/>
            <a:ext cx="149919" cy="325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9"/>
              </a:lnSpc>
            </a:pPr>
            <a:r>
              <a:rPr lang="en-US" sz="2276" spc="-18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423160" y="6452883"/>
            <a:ext cx="8737735" cy="515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0"/>
              </a:lnSpc>
            </a:pPr>
            <a:r>
              <a:rPr lang="en-US" b="true" sz="3006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+ Nếu hệ số dịch dao đã chọn thì số răng phải bảo đảm:</a:t>
            </a:r>
            <a:r>
              <a:rPr lang="en-US" sz="3006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181283" y="6745519"/>
            <a:ext cx="3294640" cy="715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1"/>
              </a:lnSpc>
            </a:pPr>
            <a:r>
              <a:rPr lang="en-US" sz="3009">
                <a:solidFill>
                  <a:srgbClr val="1021A0"/>
                </a:solidFill>
                <a:latin typeface="Arab Times"/>
                <a:ea typeface="Arab Times"/>
                <a:cs typeface="Arab Times"/>
                <a:sym typeface="Arab Times"/>
              </a:rPr>
              <a:t>Z  Zmin = 17(1 – )</a:t>
            </a:r>
            <a:r>
              <a:rPr lang="en-US" sz="3009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423160" y="7434877"/>
            <a:ext cx="13534434" cy="1363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4"/>
              </a:lnSpc>
            </a:pPr>
            <a:r>
              <a:rPr lang="en-US" b="true" sz="3006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Đối với bánh răng tiêu chuẩn (</a:t>
            </a:r>
            <a:r>
              <a:rPr lang="en-US" sz="3006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 = 0) thì Zmin </a:t>
            </a:r>
            <a:r>
              <a:rPr lang="en-US" b="true" sz="3006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= 17. Có thể dịch dao để số răng nhỏ hơn </a:t>
            </a:r>
          </a:p>
          <a:p>
            <a:pPr algn="l">
              <a:lnSpc>
                <a:spcPts val="3598"/>
              </a:lnSpc>
            </a:pPr>
            <a:r>
              <a:rPr lang="en-US" b="true" sz="3006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(khi có yêu cầu bánh răng nhỏ gọn).</a:t>
            </a:r>
            <a:r>
              <a:rPr lang="en-US" sz="3006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b="true" sz="3006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+ Nếu số răng Z đã được quyết định thì hệ số dịch dao phải bảo đảm:</a:t>
            </a:r>
            <a:r>
              <a:rPr lang="en-US" sz="3006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085271" y="8594179"/>
            <a:ext cx="3273666" cy="676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1"/>
              </a:lnSpc>
            </a:pPr>
            <a:r>
              <a:rPr lang="en-US" sz="3009">
                <a:solidFill>
                  <a:srgbClr val="1021A0"/>
                </a:solidFill>
                <a:latin typeface="Arab Times"/>
                <a:ea typeface="Arab Times"/>
                <a:cs typeface="Arab Times"/>
                <a:sym typeface="Arab Times"/>
              </a:rPr>
              <a:t>  min = (17-Z)/17</a:t>
            </a:r>
            <a:r>
              <a:rPr lang="en-US" sz="3009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 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423160" y="9480485"/>
            <a:ext cx="552555" cy="230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3"/>
              </a:lnSpc>
            </a:pPr>
            <a:r>
              <a:rPr lang="en-US" sz="3006" spc="-2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+ Z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964942" y="9292366"/>
            <a:ext cx="12810887" cy="483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3"/>
              </a:lnSpc>
            </a:pPr>
            <a:r>
              <a:rPr lang="en-US" sz="3006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min, min </a:t>
            </a:r>
            <a:r>
              <a:rPr lang="en-US" b="true" sz="3006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là số răng tối thiểu và hệ số dịch dao tối thiểu để không</a:t>
            </a:r>
            <a:r>
              <a:rPr lang="en-US" sz="3006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Kh</a:t>
            </a:r>
            <a:r>
              <a:rPr lang="en-US" b="true" sz="3006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 x</a:t>
            </a:r>
            <a:r>
              <a:rPr lang="en-US" sz="3006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oa</a:t>
            </a:r>
            <a:r>
              <a:rPr lang="en-US" b="true" sz="3006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ả</a:t>
            </a:r>
            <a:r>
              <a:rPr lang="en-US" sz="3006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C</a:t>
            </a:r>
            <a:r>
              <a:rPr lang="en-US" b="true" sz="3006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y</a:t>
            </a:r>
            <a:r>
              <a:rPr lang="en-US" sz="3006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ơ</a:t>
            </a:r>
            <a:r>
              <a:rPr lang="en-US" b="true" sz="3006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 r</a:t>
            </a:r>
            <a:r>
              <a:rPr lang="en-US" sz="3006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K</a:t>
            </a:r>
            <a:r>
              <a:rPr lang="en-US" b="true" sz="3006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a</a:t>
            </a:r>
            <a:r>
              <a:rPr lang="en-US" sz="3006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hí</a:t>
            </a:r>
            <a:r>
              <a:rPr lang="en-US" b="true" sz="3006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 h</a:t>
            </a:r>
            <a:r>
              <a:rPr lang="en-US" sz="3006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– </a:t>
            </a:r>
            <a:r>
              <a:rPr lang="en-US" b="true" sz="3006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i</a:t>
            </a:r>
            <a:r>
              <a:rPr lang="en-US" sz="3006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</a:t>
            </a:r>
            <a:r>
              <a:rPr lang="en-US" b="true" sz="3006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ệ</a:t>
            </a:r>
            <a:r>
              <a:rPr lang="en-US" sz="3006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ôn</a:t>
            </a:r>
            <a:r>
              <a:rPr lang="en-US" b="true" sz="3006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n</a:t>
            </a:r>
            <a:r>
              <a:rPr lang="en-US" sz="3006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g</a:t>
            </a:r>
            <a:r>
              <a:rPr lang="en-US" b="true" sz="3006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 t</a:t>
            </a:r>
            <a:r>
              <a:rPr lang="en-US" sz="3006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</a:t>
            </a:r>
            <a:r>
              <a:rPr lang="en-US" b="true" sz="3006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ư</a:t>
            </a:r>
            <a:r>
              <a:rPr lang="en-US" sz="3006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g</a:t>
            </a:r>
            <a:r>
              <a:rPr lang="en-US" b="true" sz="3006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ợ</a:t>
            </a:r>
            <a:r>
              <a:rPr lang="en-US" sz="3006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hệ</a:t>
            </a:r>
            <a:r>
              <a:rPr lang="en-US" b="true" sz="3006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n</a:t>
            </a:r>
            <a:r>
              <a:rPr lang="en-US" sz="3006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b="true" sz="3006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g 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423160" y="9589841"/>
            <a:ext cx="2873773" cy="582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20"/>
              </a:lnSpc>
            </a:pPr>
            <a:r>
              <a:rPr lang="en-US" sz="3006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</a:t>
            </a:r>
            <a:r>
              <a:rPr lang="en-US" b="true" sz="3006" i="true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c</a:t>
            </a:r>
            <a:r>
              <a:rPr lang="en-US" sz="3006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h</a:t>
            </a:r>
            <a:r>
              <a:rPr lang="en-US" b="true" sz="3006" i="true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ắ</a:t>
            </a:r>
            <a:r>
              <a:rPr lang="en-US" sz="3006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</a:t>
            </a:r>
            <a:r>
              <a:rPr lang="en-US" b="true" sz="3006" i="true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t</a:t>
            </a:r>
            <a:r>
              <a:rPr lang="en-US" sz="3006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r>
              <a:rPr lang="en-US" b="true" sz="3006" i="true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3006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</a:t>
            </a:r>
            <a:r>
              <a:rPr lang="en-US" b="true" sz="3006" i="true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c</a:t>
            </a:r>
            <a:r>
              <a:rPr lang="en-US" sz="3006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rư</a:t>
            </a:r>
            <a:r>
              <a:rPr lang="en-US" b="true" sz="3006" i="true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h</a:t>
            </a:r>
            <a:r>
              <a:rPr lang="en-US" sz="3006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ơ</a:t>
            </a:r>
            <a:r>
              <a:rPr lang="en-US" b="true" sz="3006" i="true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â</a:t>
            </a:r>
            <a:r>
              <a:rPr lang="en-US" sz="3006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</a:t>
            </a:r>
            <a:r>
              <a:rPr lang="en-US" b="true" sz="3006" i="true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n</a:t>
            </a:r>
            <a:r>
              <a:rPr lang="en-US" sz="3006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g Q</a:t>
            </a:r>
            <a:r>
              <a:rPr lang="en-US" b="true" sz="3006" i="true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r</a:t>
            </a:r>
            <a:r>
              <a:rPr lang="en-US" sz="3006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u</a:t>
            </a:r>
            <a:r>
              <a:rPr lang="en-US" b="true" sz="3006" i="true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ă</a:t>
            </a:r>
            <a:r>
              <a:rPr lang="en-US" sz="3006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a</a:t>
            </a:r>
            <a:r>
              <a:rPr lang="en-US" b="true" sz="3006" i="true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ng</a:t>
            </a:r>
            <a:r>
              <a:rPr lang="en-US" sz="3006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T</a:t>
            </a:r>
            <a:r>
              <a:rPr lang="en-US" b="true" sz="3006" i="true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.</a:t>
            </a:r>
            <a:r>
              <a:rPr lang="en-US" sz="3006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rường 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8854064" y="10045546"/>
            <a:ext cx="658711" cy="179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3"/>
              </a:lnSpc>
            </a:pPr>
            <a:r>
              <a:rPr lang="en-US" sz="2106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- 35 - 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483460" y="9967331"/>
            <a:ext cx="3134920" cy="162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"/>
              </a:lnSpc>
            </a:pPr>
            <a:r>
              <a:rPr lang="en-US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Trường ĐH Nông Lâm TPHCM 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81255" y="247645"/>
            <a:ext cx="13030200" cy="1771650"/>
          </a:xfrm>
          <a:custGeom>
            <a:avLst/>
            <a:gdLst/>
            <a:ahLst/>
            <a:cxnLst/>
            <a:rect r="r" b="b" t="t" l="l"/>
            <a:pathLst>
              <a:path h="1771650" w="13030200">
                <a:moveTo>
                  <a:pt x="0" y="0"/>
                </a:moveTo>
                <a:lnTo>
                  <a:pt x="13030200" y="0"/>
                </a:lnTo>
                <a:lnTo>
                  <a:pt x="13030200" y="1771650"/>
                </a:lnTo>
                <a:lnTo>
                  <a:pt x="0" y="17716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16100" y="71"/>
            <a:ext cx="1485900" cy="1464469"/>
          </a:xfrm>
          <a:custGeom>
            <a:avLst/>
            <a:gdLst/>
            <a:ahLst/>
            <a:cxnLst/>
            <a:rect r="r" b="b" t="t" l="l"/>
            <a:pathLst>
              <a:path h="1464469" w="1485900">
                <a:moveTo>
                  <a:pt x="0" y="0"/>
                </a:moveTo>
                <a:lnTo>
                  <a:pt x="1485900" y="0"/>
                </a:lnTo>
                <a:lnTo>
                  <a:pt x="1485900" y="1464469"/>
                </a:lnTo>
                <a:lnTo>
                  <a:pt x="0" y="14644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771900" y="2286143"/>
            <a:ext cx="4114714" cy="5509260"/>
          </a:xfrm>
          <a:custGeom>
            <a:avLst/>
            <a:gdLst/>
            <a:ahLst/>
            <a:cxnLst/>
            <a:rect r="r" b="b" t="t" l="l"/>
            <a:pathLst>
              <a:path h="5509260" w="4114714">
                <a:moveTo>
                  <a:pt x="0" y="0"/>
                </a:moveTo>
                <a:lnTo>
                  <a:pt x="4114714" y="0"/>
                </a:lnTo>
                <a:lnTo>
                  <a:pt x="4114714" y="5509260"/>
                </a:lnTo>
                <a:lnTo>
                  <a:pt x="0" y="55092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1050" t="0" r="-14868" b="0"/>
            </a:stretch>
          </a:blipFill>
        </p:spPr>
      </p: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4163835" y="4028503"/>
            <a:ext cx="834147" cy="792113"/>
            <a:chOff x="0" y="0"/>
            <a:chExt cx="556095" cy="52807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65151" y="65278"/>
              <a:ext cx="425958" cy="397637"/>
            </a:xfrm>
            <a:custGeom>
              <a:avLst/>
              <a:gdLst/>
              <a:ahLst/>
              <a:cxnLst/>
              <a:rect r="r" b="b" t="t" l="l"/>
              <a:pathLst>
                <a:path h="397637" w="425958">
                  <a:moveTo>
                    <a:pt x="423291" y="8763"/>
                  </a:moveTo>
                  <a:lnTo>
                    <a:pt x="38735" y="366141"/>
                  </a:lnTo>
                  <a:lnTo>
                    <a:pt x="36195" y="368427"/>
                  </a:lnTo>
                  <a:lnTo>
                    <a:pt x="33655" y="368427"/>
                  </a:lnTo>
                  <a:lnTo>
                    <a:pt x="31369" y="366141"/>
                  </a:lnTo>
                  <a:lnTo>
                    <a:pt x="28829" y="366141"/>
                  </a:lnTo>
                  <a:lnTo>
                    <a:pt x="28829" y="361696"/>
                  </a:lnTo>
                  <a:lnTo>
                    <a:pt x="31369" y="359664"/>
                  </a:lnTo>
                  <a:lnTo>
                    <a:pt x="416052" y="2032"/>
                  </a:lnTo>
                  <a:lnTo>
                    <a:pt x="418592" y="2032"/>
                  </a:lnTo>
                  <a:lnTo>
                    <a:pt x="420878" y="0"/>
                  </a:lnTo>
                  <a:lnTo>
                    <a:pt x="420878" y="2032"/>
                  </a:lnTo>
                  <a:lnTo>
                    <a:pt x="423418" y="2032"/>
                  </a:lnTo>
                  <a:lnTo>
                    <a:pt x="423418" y="4318"/>
                  </a:lnTo>
                  <a:lnTo>
                    <a:pt x="425958" y="6604"/>
                  </a:lnTo>
                  <a:lnTo>
                    <a:pt x="423418" y="6604"/>
                  </a:lnTo>
                  <a:lnTo>
                    <a:pt x="423418" y="8763"/>
                  </a:lnTo>
                  <a:close/>
                  <a:moveTo>
                    <a:pt x="62611" y="377317"/>
                  </a:moveTo>
                  <a:lnTo>
                    <a:pt x="0" y="397637"/>
                  </a:lnTo>
                  <a:lnTo>
                    <a:pt x="19177" y="337185"/>
                  </a:lnTo>
                  <a:lnTo>
                    <a:pt x="62484" y="377444"/>
                  </a:lnTo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63373" y="63500"/>
              <a:ext cx="429387" cy="401066"/>
            </a:xfrm>
            <a:custGeom>
              <a:avLst/>
              <a:gdLst/>
              <a:ahLst/>
              <a:cxnLst/>
              <a:rect r="r" b="b" t="t" l="l"/>
              <a:pathLst>
                <a:path h="401066" w="429387">
                  <a:moveTo>
                    <a:pt x="426085" y="11684"/>
                  </a:moveTo>
                  <a:lnTo>
                    <a:pt x="41529" y="369062"/>
                  </a:lnTo>
                  <a:lnTo>
                    <a:pt x="41529" y="369062"/>
                  </a:lnTo>
                  <a:lnTo>
                    <a:pt x="38989" y="371348"/>
                  </a:lnTo>
                  <a:lnTo>
                    <a:pt x="37846" y="371729"/>
                  </a:lnTo>
                  <a:lnTo>
                    <a:pt x="35306" y="371729"/>
                  </a:lnTo>
                  <a:lnTo>
                    <a:pt x="35306" y="370205"/>
                  </a:lnTo>
                  <a:lnTo>
                    <a:pt x="35306" y="368681"/>
                  </a:lnTo>
                  <a:lnTo>
                    <a:pt x="35306" y="370205"/>
                  </a:lnTo>
                  <a:lnTo>
                    <a:pt x="34163" y="371348"/>
                  </a:lnTo>
                  <a:lnTo>
                    <a:pt x="31877" y="369062"/>
                  </a:lnTo>
                  <a:lnTo>
                    <a:pt x="33020" y="367919"/>
                  </a:lnTo>
                  <a:lnTo>
                    <a:pt x="33020" y="369443"/>
                  </a:lnTo>
                  <a:lnTo>
                    <a:pt x="30480" y="369443"/>
                  </a:lnTo>
                  <a:cubicBezTo>
                    <a:pt x="29591" y="369443"/>
                    <a:pt x="28956" y="368681"/>
                    <a:pt x="28956" y="367919"/>
                  </a:cubicBezTo>
                  <a:lnTo>
                    <a:pt x="28956" y="363474"/>
                  </a:lnTo>
                  <a:lnTo>
                    <a:pt x="29591" y="362204"/>
                  </a:lnTo>
                  <a:lnTo>
                    <a:pt x="32131" y="360172"/>
                  </a:lnTo>
                  <a:lnTo>
                    <a:pt x="33147" y="361442"/>
                  </a:lnTo>
                  <a:lnTo>
                    <a:pt x="32004" y="360299"/>
                  </a:lnTo>
                  <a:lnTo>
                    <a:pt x="416687" y="2540"/>
                  </a:lnTo>
                  <a:lnTo>
                    <a:pt x="417830" y="2159"/>
                  </a:lnTo>
                  <a:lnTo>
                    <a:pt x="420370" y="2159"/>
                  </a:lnTo>
                  <a:lnTo>
                    <a:pt x="420370" y="3810"/>
                  </a:lnTo>
                  <a:lnTo>
                    <a:pt x="419227" y="2540"/>
                  </a:lnTo>
                  <a:lnTo>
                    <a:pt x="421513" y="508"/>
                  </a:lnTo>
                  <a:cubicBezTo>
                    <a:pt x="422021" y="127"/>
                    <a:pt x="422656" y="0"/>
                    <a:pt x="423164" y="254"/>
                  </a:cubicBezTo>
                  <a:cubicBezTo>
                    <a:pt x="423672" y="508"/>
                    <a:pt x="424053" y="1016"/>
                    <a:pt x="424053" y="1651"/>
                  </a:cubicBezTo>
                  <a:lnTo>
                    <a:pt x="424053" y="3810"/>
                  </a:lnTo>
                  <a:lnTo>
                    <a:pt x="422529" y="3810"/>
                  </a:lnTo>
                  <a:lnTo>
                    <a:pt x="422529" y="2159"/>
                  </a:lnTo>
                  <a:lnTo>
                    <a:pt x="425069" y="2159"/>
                  </a:lnTo>
                  <a:cubicBezTo>
                    <a:pt x="425958" y="2159"/>
                    <a:pt x="426593" y="2921"/>
                    <a:pt x="426593" y="3683"/>
                  </a:cubicBezTo>
                  <a:lnTo>
                    <a:pt x="426593" y="5969"/>
                  </a:lnTo>
                  <a:lnTo>
                    <a:pt x="425069" y="5969"/>
                  </a:lnTo>
                  <a:lnTo>
                    <a:pt x="426212" y="4826"/>
                  </a:lnTo>
                  <a:lnTo>
                    <a:pt x="428752" y="7112"/>
                  </a:lnTo>
                  <a:cubicBezTo>
                    <a:pt x="429260" y="7620"/>
                    <a:pt x="429387" y="8255"/>
                    <a:pt x="429133" y="8890"/>
                  </a:cubicBezTo>
                  <a:cubicBezTo>
                    <a:pt x="428879" y="9525"/>
                    <a:pt x="428371" y="9906"/>
                    <a:pt x="427609" y="9906"/>
                  </a:cubicBezTo>
                  <a:lnTo>
                    <a:pt x="425069" y="9906"/>
                  </a:lnTo>
                  <a:lnTo>
                    <a:pt x="425069" y="8382"/>
                  </a:lnTo>
                  <a:lnTo>
                    <a:pt x="426593" y="8382"/>
                  </a:lnTo>
                  <a:lnTo>
                    <a:pt x="426593" y="10541"/>
                  </a:lnTo>
                  <a:lnTo>
                    <a:pt x="426085" y="11684"/>
                  </a:lnTo>
                  <a:moveTo>
                    <a:pt x="423926" y="9398"/>
                  </a:moveTo>
                  <a:lnTo>
                    <a:pt x="425069" y="10541"/>
                  </a:lnTo>
                  <a:lnTo>
                    <a:pt x="423545" y="10541"/>
                  </a:lnTo>
                  <a:lnTo>
                    <a:pt x="423545" y="8382"/>
                  </a:lnTo>
                  <a:cubicBezTo>
                    <a:pt x="423545" y="7493"/>
                    <a:pt x="424307" y="6858"/>
                    <a:pt x="425069" y="6858"/>
                  </a:cubicBezTo>
                  <a:lnTo>
                    <a:pt x="427609" y="6858"/>
                  </a:lnTo>
                  <a:lnTo>
                    <a:pt x="427609" y="8382"/>
                  </a:lnTo>
                  <a:lnTo>
                    <a:pt x="426466" y="9525"/>
                  </a:lnTo>
                  <a:lnTo>
                    <a:pt x="423926" y="7239"/>
                  </a:lnTo>
                  <a:lnTo>
                    <a:pt x="423418" y="6096"/>
                  </a:lnTo>
                  <a:lnTo>
                    <a:pt x="423418" y="3810"/>
                  </a:lnTo>
                  <a:lnTo>
                    <a:pt x="424942" y="3810"/>
                  </a:lnTo>
                  <a:lnTo>
                    <a:pt x="424942" y="5334"/>
                  </a:lnTo>
                  <a:lnTo>
                    <a:pt x="422402" y="5334"/>
                  </a:lnTo>
                  <a:cubicBezTo>
                    <a:pt x="421513" y="5334"/>
                    <a:pt x="420878" y="4572"/>
                    <a:pt x="420878" y="3810"/>
                  </a:cubicBezTo>
                  <a:lnTo>
                    <a:pt x="420878" y="1651"/>
                  </a:lnTo>
                  <a:lnTo>
                    <a:pt x="422402" y="1651"/>
                  </a:lnTo>
                  <a:lnTo>
                    <a:pt x="423418" y="2794"/>
                  </a:lnTo>
                  <a:lnTo>
                    <a:pt x="421132" y="4826"/>
                  </a:lnTo>
                  <a:lnTo>
                    <a:pt x="420116" y="5207"/>
                  </a:lnTo>
                  <a:lnTo>
                    <a:pt x="417576" y="5207"/>
                  </a:lnTo>
                  <a:lnTo>
                    <a:pt x="417576" y="3810"/>
                  </a:lnTo>
                  <a:lnTo>
                    <a:pt x="418719" y="4953"/>
                  </a:lnTo>
                  <a:lnTo>
                    <a:pt x="34290" y="362585"/>
                  </a:lnTo>
                  <a:lnTo>
                    <a:pt x="34163" y="362712"/>
                  </a:lnTo>
                  <a:lnTo>
                    <a:pt x="31623" y="364744"/>
                  </a:lnTo>
                  <a:lnTo>
                    <a:pt x="30607" y="363474"/>
                  </a:lnTo>
                  <a:lnTo>
                    <a:pt x="32131" y="363474"/>
                  </a:lnTo>
                  <a:lnTo>
                    <a:pt x="32131" y="367919"/>
                  </a:lnTo>
                  <a:lnTo>
                    <a:pt x="30734" y="367919"/>
                  </a:lnTo>
                  <a:lnTo>
                    <a:pt x="30734" y="366395"/>
                  </a:lnTo>
                  <a:lnTo>
                    <a:pt x="33274" y="366395"/>
                  </a:lnTo>
                  <a:lnTo>
                    <a:pt x="34417" y="366903"/>
                  </a:lnTo>
                  <a:lnTo>
                    <a:pt x="36703" y="369189"/>
                  </a:lnTo>
                  <a:cubicBezTo>
                    <a:pt x="37084" y="369697"/>
                    <a:pt x="37211" y="370332"/>
                    <a:pt x="37084" y="370967"/>
                  </a:cubicBezTo>
                  <a:cubicBezTo>
                    <a:pt x="36957" y="371602"/>
                    <a:pt x="36322" y="371983"/>
                    <a:pt x="35560" y="371983"/>
                  </a:cubicBezTo>
                  <a:cubicBezTo>
                    <a:pt x="34671" y="371983"/>
                    <a:pt x="34036" y="371221"/>
                    <a:pt x="34036" y="370459"/>
                  </a:cubicBezTo>
                  <a:cubicBezTo>
                    <a:pt x="34036" y="369697"/>
                    <a:pt x="34798" y="368935"/>
                    <a:pt x="35560" y="368935"/>
                  </a:cubicBezTo>
                  <a:lnTo>
                    <a:pt x="38100" y="368935"/>
                  </a:lnTo>
                  <a:lnTo>
                    <a:pt x="38100" y="370459"/>
                  </a:lnTo>
                  <a:lnTo>
                    <a:pt x="36957" y="369316"/>
                  </a:lnTo>
                  <a:lnTo>
                    <a:pt x="39497" y="367030"/>
                  </a:lnTo>
                  <a:lnTo>
                    <a:pt x="40640" y="368173"/>
                  </a:lnTo>
                  <a:lnTo>
                    <a:pt x="39497" y="367030"/>
                  </a:lnTo>
                  <a:lnTo>
                    <a:pt x="423926" y="9398"/>
                  </a:lnTo>
                  <a:close/>
                  <a:moveTo>
                    <a:pt x="64897" y="380619"/>
                  </a:moveTo>
                  <a:lnTo>
                    <a:pt x="2286" y="400939"/>
                  </a:lnTo>
                  <a:cubicBezTo>
                    <a:pt x="1778" y="401066"/>
                    <a:pt x="1143" y="400939"/>
                    <a:pt x="635" y="400558"/>
                  </a:cubicBezTo>
                  <a:cubicBezTo>
                    <a:pt x="127" y="400177"/>
                    <a:pt x="0" y="399542"/>
                    <a:pt x="254" y="398907"/>
                  </a:cubicBezTo>
                  <a:lnTo>
                    <a:pt x="19431" y="338328"/>
                  </a:lnTo>
                  <a:cubicBezTo>
                    <a:pt x="19558" y="337820"/>
                    <a:pt x="20066" y="337439"/>
                    <a:pt x="20574" y="337312"/>
                  </a:cubicBezTo>
                  <a:cubicBezTo>
                    <a:pt x="21082" y="337185"/>
                    <a:pt x="21717" y="337312"/>
                    <a:pt x="22098" y="337693"/>
                  </a:cubicBezTo>
                  <a:lnTo>
                    <a:pt x="65405" y="377952"/>
                  </a:lnTo>
                  <a:cubicBezTo>
                    <a:pt x="65786" y="378333"/>
                    <a:pt x="66040" y="378968"/>
                    <a:pt x="65913" y="379476"/>
                  </a:cubicBezTo>
                  <a:cubicBezTo>
                    <a:pt x="65786" y="379984"/>
                    <a:pt x="65405" y="380492"/>
                    <a:pt x="64897" y="380619"/>
                  </a:cubicBezTo>
                  <a:moveTo>
                    <a:pt x="63881" y="377571"/>
                  </a:moveTo>
                  <a:lnTo>
                    <a:pt x="64389" y="379095"/>
                  </a:lnTo>
                  <a:lnTo>
                    <a:pt x="63246" y="380238"/>
                  </a:lnTo>
                  <a:lnTo>
                    <a:pt x="19939" y="339979"/>
                  </a:lnTo>
                  <a:lnTo>
                    <a:pt x="21082" y="338836"/>
                  </a:lnTo>
                  <a:lnTo>
                    <a:pt x="22606" y="339344"/>
                  </a:lnTo>
                  <a:lnTo>
                    <a:pt x="3429" y="399923"/>
                  </a:lnTo>
                  <a:lnTo>
                    <a:pt x="1905" y="399415"/>
                  </a:lnTo>
                  <a:lnTo>
                    <a:pt x="1397" y="397891"/>
                  </a:lnTo>
                  <a:lnTo>
                    <a:pt x="64008" y="377571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7566460" y="4080953"/>
            <a:ext cx="377333" cy="876852"/>
          </a:xfrm>
          <a:custGeom>
            <a:avLst/>
            <a:gdLst/>
            <a:ahLst/>
            <a:cxnLst/>
            <a:rect r="r" b="b" t="t" l="l"/>
            <a:pathLst>
              <a:path h="876852" w="377333">
                <a:moveTo>
                  <a:pt x="0" y="0"/>
                </a:moveTo>
                <a:lnTo>
                  <a:pt x="377333" y="0"/>
                </a:lnTo>
                <a:lnTo>
                  <a:pt x="377333" y="876852"/>
                </a:lnTo>
                <a:lnTo>
                  <a:pt x="0" y="8768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258300" y="1714457"/>
            <a:ext cx="5921383" cy="6533917"/>
          </a:xfrm>
          <a:custGeom>
            <a:avLst/>
            <a:gdLst/>
            <a:ahLst/>
            <a:cxnLst/>
            <a:rect r="r" b="b" t="t" l="l"/>
            <a:pathLst>
              <a:path h="6533917" w="5921383">
                <a:moveTo>
                  <a:pt x="0" y="0"/>
                </a:moveTo>
                <a:lnTo>
                  <a:pt x="5921383" y="0"/>
                </a:lnTo>
                <a:lnTo>
                  <a:pt x="5921383" y="6533917"/>
                </a:lnTo>
                <a:lnTo>
                  <a:pt x="0" y="653391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1349" t="0" r="0" b="0"/>
            </a:stretch>
          </a:blipFill>
        </p:spPr>
      </p: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9947686" y="4015902"/>
            <a:ext cx="1040759" cy="543168"/>
            <a:chOff x="0" y="0"/>
            <a:chExt cx="693839" cy="3621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65278" y="65151"/>
              <a:ext cx="563245" cy="231902"/>
            </a:xfrm>
            <a:custGeom>
              <a:avLst/>
              <a:gdLst/>
              <a:ahLst/>
              <a:cxnLst/>
              <a:rect r="r" b="b" t="t" l="l"/>
              <a:pathLst>
                <a:path h="231902" w="563245">
                  <a:moveTo>
                    <a:pt x="558927" y="8763"/>
                  </a:moveTo>
                  <a:lnTo>
                    <a:pt x="44577" y="214249"/>
                  </a:lnTo>
                  <a:lnTo>
                    <a:pt x="40132" y="214249"/>
                  </a:lnTo>
                  <a:lnTo>
                    <a:pt x="37846" y="211963"/>
                  </a:lnTo>
                  <a:lnTo>
                    <a:pt x="37846" y="205359"/>
                  </a:lnTo>
                  <a:lnTo>
                    <a:pt x="40132" y="205359"/>
                  </a:lnTo>
                  <a:lnTo>
                    <a:pt x="556514" y="2032"/>
                  </a:lnTo>
                  <a:lnTo>
                    <a:pt x="558800" y="0"/>
                  </a:lnTo>
                  <a:lnTo>
                    <a:pt x="558800" y="2032"/>
                  </a:lnTo>
                  <a:lnTo>
                    <a:pt x="560959" y="2032"/>
                  </a:lnTo>
                  <a:lnTo>
                    <a:pt x="560959" y="4318"/>
                  </a:lnTo>
                  <a:lnTo>
                    <a:pt x="563245" y="6604"/>
                  </a:lnTo>
                  <a:lnTo>
                    <a:pt x="560959" y="6604"/>
                  </a:lnTo>
                  <a:lnTo>
                    <a:pt x="560959" y="8763"/>
                  </a:lnTo>
                  <a:lnTo>
                    <a:pt x="558800" y="8763"/>
                  </a:lnTo>
                  <a:close/>
                  <a:moveTo>
                    <a:pt x="60198" y="231775"/>
                  </a:moveTo>
                  <a:lnTo>
                    <a:pt x="0" y="227330"/>
                  </a:lnTo>
                  <a:lnTo>
                    <a:pt x="40132" y="180975"/>
                  </a:lnTo>
                  <a:lnTo>
                    <a:pt x="60198" y="231902"/>
                  </a:lnTo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63500" y="63627"/>
              <a:ext cx="566928" cy="235077"/>
            </a:xfrm>
            <a:custGeom>
              <a:avLst/>
              <a:gdLst/>
              <a:ahLst/>
              <a:cxnLst/>
              <a:rect r="r" b="b" t="t" l="l"/>
              <a:pathLst>
                <a:path h="235077" w="566928">
                  <a:moveTo>
                    <a:pt x="561213" y="11811"/>
                  </a:moveTo>
                  <a:lnTo>
                    <a:pt x="46990" y="217297"/>
                  </a:lnTo>
                  <a:lnTo>
                    <a:pt x="46355" y="217424"/>
                  </a:lnTo>
                  <a:lnTo>
                    <a:pt x="41910" y="217424"/>
                  </a:lnTo>
                  <a:lnTo>
                    <a:pt x="40767" y="216916"/>
                  </a:lnTo>
                  <a:lnTo>
                    <a:pt x="38481" y="214630"/>
                  </a:lnTo>
                  <a:lnTo>
                    <a:pt x="37973" y="213487"/>
                  </a:lnTo>
                  <a:lnTo>
                    <a:pt x="37973" y="206883"/>
                  </a:lnTo>
                  <a:cubicBezTo>
                    <a:pt x="37973" y="205994"/>
                    <a:pt x="38735" y="205359"/>
                    <a:pt x="39497" y="205359"/>
                  </a:cubicBezTo>
                  <a:lnTo>
                    <a:pt x="41910" y="205359"/>
                  </a:lnTo>
                  <a:lnTo>
                    <a:pt x="41910" y="206883"/>
                  </a:lnTo>
                  <a:lnTo>
                    <a:pt x="41275" y="205359"/>
                  </a:lnTo>
                  <a:lnTo>
                    <a:pt x="557784" y="2159"/>
                  </a:lnTo>
                  <a:lnTo>
                    <a:pt x="558419" y="3683"/>
                  </a:lnTo>
                  <a:lnTo>
                    <a:pt x="557403" y="2540"/>
                  </a:lnTo>
                  <a:lnTo>
                    <a:pt x="559689" y="508"/>
                  </a:lnTo>
                  <a:cubicBezTo>
                    <a:pt x="560197" y="127"/>
                    <a:pt x="560832" y="0"/>
                    <a:pt x="561340" y="254"/>
                  </a:cubicBezTo>
                  <a:cubicBezTo>
                    <a:pt x="561848" y="508"/>
                    <a:pt x="562229" y="1016"/>
                    <a:pt x="562229" y="1651"/>
                  </a:cubicBezTo>
                  <a:lnTo>
                    <a:pt x="562229" y="3683"/>
                  </a:lnTo>
                  <a:lnTo>
                    <a:pt x="560705" y="3683"/>
                  </a:lnTo>
                  <a:lnTo>
                    <a:pt x="560705" y="2032"/>
                  </a:lnTo>
                  <a:lnTo>
                    <a:pt x="562864" y="2032"/>
                  </a:lnTo>
                  <a:cubicBezTo>
                    <a:pt x="563753" y="2032"/>
                    <a:pt x="564388" y="2794"/>
                    <a:pt x="564388" y="3556"/>
                  </a:cubicBezTo>
                  <a:lnTo>
                    <a:pt x="564388" y="5842"/>
                  </a:lnTo>
                  <a:lnTo>
                    <a:pt x="562864" y="5842"/>
                  </a:lnTo>
                  <a:lnTo>
                    <a:pt x="564007" y="4699"/>
                  </a:lnTo>
                  <a:lnTo>
                    <a:pt x="566293" y="6985"/>
                  </a:lnTo>
                  <a:cubicBezTo>
                    <a:pt x="566801" y="7493"/>
                    <a:pt x="566928" y="8128"/>
                    <a:pt x="566674" y="8763"/>
                  </a:cubicBezTo>
                  <a:cubicBezTo>
                    <a:pt x="566420" y="9398"/>
                    <a:pt x="565912" y="9779"/>
                    <a:pt x="565150" y="9779"/>
                  </a:cubicBezTo>
                  <a:lnTo>
                    <a:pt x="562864" y="9779"/>
                  </a:lnTo>
                  <a:lnTo>
                    <a:pt x="562864" y="8255"/>
                  </a:lnTo>
                  <a:lnTo>
                    <a:pt x="564388" y="8255"/>
                  </a:lnTo>
                  <a:lnTo>
                    <a:pt x="564388" y="10287"/>
                  </a:lnTo>
                  <a:cubicBezTo>
                    <a:pt x="564388" y="11176"/>
                    <a:pt x="563626" y="11811"/>
                    <a:pt x="562864" y="11811"/>
                  </a:cubicBezTo>
                  <a:lnTo>
                    <a:pt x="560705" y="11811"/>
                  </a:lnTo>
                  <a:lnTo>
                    <a:pt x="560705" y="10287"/>
                  </a:lnTo>
                  <a:lnTo>
                    <a:pt x="560705" y="8763"/>
                  </a:lnTo>
                  <a:cubicBezTo>
                    <a:pt x="561467" y="8763"/>
                    <a:pt x="562102" y="9271"/>
                    <a:pt x="562229" y="10033"/>
                  </a:cubicBezTo>
                  <a:cubicBezTo>
                    <a:pt x="562356" y="10795"/>
                    <a:pt x="561975" y="11557"/>
                    <a:pt x="561213" y="11811"/>
                  </a:cubicBezTo>
                  <a:moveTo>
                    <a:pt x="560070" y="8763"/>
                  </a:moveTo>
                  <a:lnTo>
                    <a:pt x="560705" y="10287"/>
                  </a:lnTo>
                  <a:lnTo>
                    <a:pt x="560705" y="11811"/>
                  </a:lnTo>
                  <a:cubicBezTo>
                    <a:pt x="559816" y="11811"/>
                    <a:pt x="559181" y="11049"/>
                    <a:pt x="559181" y="10287"/>
                  </a:cubicBezTo>
                  <a:cubicBezTo>
                    <a:pt x="559181" y="9525"/>
                    <a:pt x="559943" y="8763"/>
                    <a:pt x="560705" y="8763"/>
                  </a:cubicBezTo>
                  <a:lnTo>
                    <a:pt x="562864" y="8763"/>
                  </a:lnTo>
                  <a:lnTo>
                    <a:pt x="562864" y="10287"/>
                  </a:lnTo>
                  <a:lnTo>
                    <a:pt x="561340" y="10287"/>
                  </a:lnTo>
                  <a:lnTo>
                    <a:pt x="561340" y="8255"/>
                  </a:lnTo>
                  <a:cubicBezTo>
                    <a:pt x="561340" y="7366"/>
                    <a:pt x="562102" y="6731"/>
                    <a:pt x="562864" y="6731"/>
                  </a:cubicBezTo>
                  <a:lnTo>
                    <a:pt x="565150" y="6731"/>
                  </a:lnTo>
                  <a:lnTo>
                    <a:pt x="565150" y="8255"/>
                  </a:lnTo>
                  <a:lnTo>
                    <a:pt x="564007" y="9398"/>
                  </a:lnTo>
                  <a:lnTo>
                    <a:pt x="561721" y="7112"/>
                  </a:lnTo>
                  <a:lnTo>
                    <a:pt x="561213" y="5969"/>
                  </a:lnTo>
                  <a:lnTo>
                    <a:pt x="561213" y="3556"/>
                  </a:lnTo>
                  <a:lnTo>
                    <a:pt x="562737" y="3556"/>
                  </a:lnTo>
                  <a:lnTo>
                    <a:pt x="562737" y="5080"/>
                  </a:lnTo>
                  <a:lnTo>
                    <a:pt x="560578" y="5080"/>
                  </a:lnTo>
                  <a:cubicBezTo>
                    <a:pt x="559689" y="5080"/>
                    <a:pt x="559054" y="4318"/>
                    <a:pt x="559054" y="3556"/>
                  </a:cubicBezTo>
                  <a:lnTo>
                    <a:pt x="559054" y="1524"/>
                  </a:lnTo>
                  <a:lnTo>
                    <a:pt x="560578" y="1524"/>
                  </a:lnTo>
                  <a:lnTo>
                    <a:pt x="561594" y="2667"/>
                  </a:lnTo>
                  <a:lnTo>
                    <a:pt x="559308" y="4699"/>
                  </a:lnTo>
                  <a:lnTo>
                    <a:pt x="558800" y="4953"/>
                  </a:lnTo>
                  <a:lnTo>
                    <a:pt x="42545" y="208407"/>
                  </a:lnTo>
                  <a:lnTo>
                    <a:pt x="41910" y="208534"/>
                  </a:lnTo>
                  <a:lnTo>
                    <a:pt x="39624" y="208534"/>
                  </a:lnTo>
                  <a:lnTo>
                    <a:pt x="39624" y="206883"/>
                  </a:lnTo>
                  <a:lnTo>
                    <a:pt x="41148" y="206883"/>
                  </a:lnTo>
                  <a:lnTo>
                    <a:pt x="41148" y="213487"/>
                  </a:lnTo>
                  <a:lnTo>
                    <a:pt x="39624" y="213487"/>
                  </a:lnTo>
                  <a:lnTo>
                    <a:pt x="40767" y="212344"/>
                  </a:lnTo>
                  <a:lnTo>
                    <a:pt x="43053" y="214630"/>
                  </a:lnTo>
                  <a:lnTo>
                    <a:pt x="41910" y="215773"/>
                  </a:lnTo>
                  <a:lnTo>
                    <a:pt x="41910" y="214249"/>
                  </a:lnTo>
                  <a:lnTo>
                    <a:pt x="46355" y="214249"/>
                  </a:lnTo>
                  <a:lnTo>
                    <a:pt x="46355" y="215773"/>
                  </a:lnTo>
                  <a:lnTo>
                    <a:pt x="45720" y="214249"/>
                  </a:lnTo>
                  <a:lnTo>
                    <a:pt x="560070" y="8763"/>
                  </a:lnTo>
                  <a:close/>
                  <a:moveTo>
                    <a:pt x="61849" y="234950"/>
                  </a:moveTo>
                  <a:lnTo>
                    <a:pt x="1651" y="230505"/>
                  </a:lnTo>
                  <a:cubicBezTo>
                    <a:pt x="1016" y="230505"/>
                    <a:pt x="508" y="230124"/>
                    <a:pt x="254" y="229489"/>
                  </a:cubicBezTo>
                  <a:cubicBezTo>
                    <a:pt x="0" y="228854"/>
                    <a:pt x="127" y="228346"/>
                    <a:pt x="508" y="227838"/>
                  </a:cubicBezTo>
                  <a:lnTo>
                    <a:pt x="40767" y="181483"/>
                  </a:lnTo>
                  <a:cubicBezTo>
                    <a:pt x="41148" y="181102"/>
                    <a:pt x="41656" y="180848"/>
                    <a:pt x="42291" y="180975"/>
                  </a:cubicBezTo>
                  <a:cubicBezTo>
                    <a:pt x="42926" y="181102"/>
                    <a:pt x="43307" y="181483"/>
                    <a:pt x="43561" y="181991"/>
                  </a:cubicBezTo>
                  <a:lnTo>
                    <a:pt x="63627" y="232918"/>
                  </a:lnTo>
                  <a:cubicBezTo>
                    <a:pt x="63881" y="233426"/>
                    <a:pt x="63754" y="234061"/>
                    <a:pt x="63373" y="234442"/>
                  </a:cubicBezTo>
                  <a:cubicBezTo>
                    <a:pt x="62992" y="234823"/>
                    <a:pt x="62484" y="235077"/>
                    <a:pt x="61976" y="235077"/>
                  </a:cubicBezTo>
                  <a:moveTo>
                    <a:pt x="62230" y="231902"/>
                  </a:moveTo>
                  <a:lnTo>
                    <a:pt x="62103" y="233426"/>
                  </a:lnTo>
                  <a:lnTo>
                    <a:pt x="60579" y="234061"/>
                  </a:lnTo>
                  <a:lnTo>
                    <a:pt x="40513" y="183134"/>
                  </a:lnTo>
                  <a:lnTo>
                    <a:pt x="42037" y="182499"/>
                  </a:lnTo>
                  <a:lnTo>
                    <a:pt x="43180" y="183515"/>
                  </a:lnTo>
                  <a:lnTo>
                    <a:pt x="2921" y="229997"/>
                  </a:lnTo>
                  <a:lnTo>
                    <a:pt x="1778" y="228981"/>
                  </a:lnTo>
                  <a:lnTo>
                    <a:pt x="1905" y="227457"/>
                  </a:lnTo>
                  <a:lnTo>
                    <a:pt x="62103" y="231902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14702252" y="3713221"/>
            <a:ext cx="330656" cy="1004754"/>
          </a:xfrm>
          <a:custGeom>
            <a:avLst/>
            <a:gdLst/>
            <a:ahLst/>
            <a:cxnLst/>
            <a:rect r="r" b="b" t="t" l="l"/>
            <a:pathLst>
              <a:path h="1004754" w="330656">
                <a:moveTo>
                  <a:pt x="0" y="0"/>
                </a:moveTo>
                <a:lnTo>
                  <a:pt x="330655" y="0"/>
                </a:lnTo>
                <a:lnTo>
                  <a:pt x="330655" y="1004754"/>
                </a:lnTo>
                <a:lnTo>
                  <a:pt x="0" y="10047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258300" y="1714514"/>
            <a:ext cx="5921383" cy="6533531"/>
          </a:xfrm>
          <a:custGeom>
            <a:avLst/>
            <a:gdLst/>
            <a:ahLst/>
            <a:cxnLst/>
            <a:rect r="r" b="b" t="t" l="l"/>
            <a:pathLst>
              <a:path h="6533531" w="5921383">
                <a:moveTo>
                  <a:pt x="0" y="0"/>
                </a:moveTo>
                <a:lnTo>
                  <a:pt x="5921383" y="0"/>
                </a:lnTo>
                <a:lnTo>
                  <a:pt x="5921383" y="6533531"/>
                </a:lnTo>
                <a:lnTo>
                  <a:pt x="0" y="65335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1349" t="0" r="0" b="0"/>
            </a:stretch>
          </a:blipFill>
        </p:spPr>
      </p: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9947686" y="4015902"/>
            <a:ext cx="1040759" cy="543168"/>
            <a:chOff x="0" y="0"/>
            <a:chExt cx="693839" cy="36211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65278" y="65151"/>
              <a:ext cx="563245" cy="231902"/>
            </a:xfrm>
            <a:custGeom>
              <a:avLst/>
              <a:gdLst/>
              <a:ahLst/>
              <a:cxnLst/>
              <a:rect r="r" b="b" t="t" l="l"/>
              <a:pathLst>
                <a:path h="231902" w="563245">
                  <a:moveTo>
                    <a:pt x="558927" y="8763"/>
                  </a:moveTo>
                  <a:lnTo>
                    <a:pt x="44577" y="214249"/>
                  </a:lnTo>
                  <a:lnTo>
                    <a:pt x="40132" y="214249"/>
                  </a:lnTo>
                  <a:lnTo>
                    <a:pt x="37846" y="211963"/>
                  </a:lnTo>
                  <a:lnTo>
                    <a:pt x="37846" y="205359"/>
                  </a:lnTo>
                  <a:lnTo>
                    <a:pt x="40132" y="205359"/>
                  </a:lnTo>
                  <a:lnTo>
                    <a:pt x="556514" y="2032"/>
                  </a:lnTo>
                  <a:lnTo>
                    <a:pt x="558800" y="0"/>
                  </a:lnTo>
                  <a:lnTo>
                    <a:pt x="558800" y="2032"/>
                  </a:lnTo>
                  <a:lnTo>
                    <a:pt x="560959" y="2032"/>
                  </a:lnTo>
                  <a:lnTo>
                    <a:pt x="560959" y="4318"/>
                  </a:lnTo>
                  <a:lnTo>
                    <a:pt x="563245" y="6604"/>
                  </a:lnTo>
                  <a:lnTo>
                    <a:pt x="560959" y="6604"/>
                  </a:lnTo>
                  <a:lnTo>
                    <a:pt x="560959" y="8763"/>
                  </a:lnTo>
                  <a:lnTo>
                    <a:pt x="558800" y="8763"/>
                  </a:lnTo>
                  <a:close/>
                  <a:moveTo>
                    <a:pt x="60198" y="231775"/>
                  </a:moveTo>
                  <a:lnTo>
                    <a:pt x="0" y="227330"/>
                  </a:lnTo>
                  <a:lnTo>
                    <a:pt x="40132" y="180975"/>
                  </a:lnTo>
                  <a:lnTo>
                    <a:pt x="60198" y="231902"/>
                  </a:lnTo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63500" y="63627"/>
              <a:ext cx="566928" cy="235077"/>
            </a:xfrm>
            <a:custGeom>
              <a:avLst/>
              <a:gdLst/>
              <a:ahLst/>
              <a:cxnLst/>
              <a:rect r="r" b="b" t="t" l="l"/>
              <a:pathLst>
                <a:path h="235077" w="566928">
                  <a:moveTo>
                    <a:pt x="561213" y="11811"/>
                  </a:moveTo>
                  <a:lnTo>
                    <a:pt x="46990" y="217297"/>
                  </a:lnTo>
                  <a:lnTo>
                    <a:pt x="46355" y="217424"/>
                  </a:lnTo>
                  <a:lnTo>
                    <a:pt x="41910" y="217424"/>
                  </a:lnTo>
                  <a:lnTo>
                    <a:pt x="40767" y="216916"/>
                  </a:lnTo>
                  <a:lnTo>
                    <a:pt x="38481" y="214630"/>
                  </a:lnTo>
                  <a:lnTo>
                    <a:pt x="37973" y="213487"/>
                  </a:lnTo>
                  <a:lnTo>
                    <a:pt x="37973" y="206883"/>
                  </a:lnTo>
                  <a:cubicBezTo>
                    <a:pt x="37973" y="205994"/>
                    <a:pt x="38735" y="205359"/>
                    <a:pt x="39497" y="205359"/>
                  </a:cubicBezTo>
                  <a:lnTo>
                    <a:pt x="41910" y="205359"/>
                  </a:lnTo>
                  <a:lnTo>
                    <a:pt x="41910" y="206883"/>
                  </a:lnTo>
                  <a:lnTo>
                    <a:pt x="41275" y="205359"/>
                  </a:lnTo>
                  <a:lnTo>
                    <a:pt x="557784" y="2159"/>
                  </a:lnTo>
                  <a:lnTo>
                    <a:pt x="558419" y="3683"/>
                  </a:lnTo>
                  <a:lnTo>
                    <a:pt x="557403" y="2540"/>
                  </a:lnTo>
                  <a:lnTo>
                    <a:pt x="559689" y="508"/>
                  </a:lnTo>
                  <a:cubicBezTo>
                    <a:pt x="560197" y="127"/>
                    <a:pt x="560832" y="0"/>
                    <a:pt x="561340" y="254"/>
                  </a:cubicBezTo>
                  <a:cubicBezTo>
                    <a:pt x="561848" y="508"/>
                    <a:pt x="562229" y="1016"/>
                    <a:pt x="562229" y="1651"/>
                  </a:cubicBezTo>
                  <a:lnTo>
                    <a:pt x="562229" y="3683"/>
                  </a:lnTo>
                  <a:lnTo>
                    <a:pt x="560705" y="3683"/>
                  </a:lnTo>
                  <a:lnTo>
                    <a:pt x="560705" y="2032"/>
                  </a:lnTo>
                  <a:lnTo>
                    <a:pt x="562864" y="2032"/>
                  </a:lnTo>
                  <a:cubicBezTo>
                    <a:pt x="563753" y="2032"/>
                    <a:pt x="564388" y="2794"/>
                    <a:pt x="564388" y="3556"/>
                  </a:cubicBezTo>
                  <a:lnTo>
                    <a:pt x="564388" y="5842"/>
                  </a:lnTo>
                  <a:lnTo>
                    <a:pt x="562864" y="5842"/>
                  </a:lnTo>
                  <a:lnTo>
                    <a:pt x="564007" y="4699"/>
                  </a:lnTo>
                  <a:lnTo>
                    <a:pt x="566293" y="6985"/>
                  </a:lnTo>
                  <a:cubicBezTo>
                    <a:pt x="566801" y="7493"/>
                    <a:pt x="566928" y="8128"/>
                    <a:pt x="566674" y="8763"/>
                  </a:cubicBezTo>
                  <a:cubicBezTo>
                    <a:pt x="566420" y="9398"/>
                    <a:pt x="565912" y="9779"/>
                    <a:pt x="565150" y="9779"/>
                  </a:cubicBezTo>
                  <a:lnTo>
                    <a:pt x="562864" y="9779"/>
                  </a:lnTo>
                  <a:lnTo>
                    <a:pt x="562864" y="8255"/>
                  </a:lnTo>
                  <a:lnTo>
                    <a:pt x="564388" y="8255"/>
                  </a:lnTo>
                  <a:lnTo>
                    <a:pt x="564388" y="10287"/>
                  </a:lnTo>
                  <a:cubicBezTo>
                    <a:pt x="564388" y="11176"/>
                    <a:pt x="563626" y="11811"/>
                    <a:pt x="562864" y="11811"/>
                  </a:cubicBezTo>
                  <a:lnTo>
                    <a:pt x="560705" y="11811"/>
                  </a:lnTo>
                  <a:lnTo>
                    <a:pt x="560705" y="10287"/>
                  </a:lnTo>
                  <a:lnTo>
                    <a:pt x="560705" y="8763"/>
                  </a:lnTo>
                  <a:cubicBezTo>
                    <a:pt x="561467" y="8763"/>
                    <a:pt x="562102" y="9271"/>
                    <a:pt x="562229" y="10033"/>
                  </a:cubicBezTo>
                  <a:cubicBezTo>
                    <a:pt x="562356" y="10795"/>
                    <a:pt x="561975" y="11557"/>
                    <a:pt x="561213" y="11811"/>
                  </a:cubicBezTo>
                  <a:moveTo>
                    <a:pt x="560070" y="8763"/>
                  </a:moveTo>
                  <a:lnTo>
                    <a:pt x="560705" y="10287"/>
                  </a:lnTo>
                  <a:lnTo>
                    <a:pt x="560705" y="11811"/>
                  </a:lnTo>
                  <a:cubicBezTo>
                    <a:pt x="559816" y="11811"/>
                    <a:pt x="559181" y="11049"/>
                    <a:pt x="559181" y="10287"/>
                  </a:cubicBezTo>
                  <a:cubicBezTo>
                    <a:pt x="559181" y="9525"/>
                    <a:pt x="559943" y="8763"/>
                    <a:pt x="560705" y="8763"/>
                  </a:cubicBezTo>
                  <a:lnTo>
                    <a:pt x="562864" y="8763"/>
                  </a:lnTo>
                  <a:lnTo>
                    <a:pt x="562864" y="10287"/>
                  </a:lnTo>
                  <a:lnTo>
                    <a:pt x="561340" y="10287"/>
                  </a:lnTo>
                  <a:lnTo>
                    <a:pt x="561340" y="8255"/>
                  </a:lnTo>
                  <a:cubicBezTo>
                    <a:pt x="561340" y="7366"/>
                    <a:pt x="562102" y="6731"/>
                    <a:pt x="562864" y="6731"/>
                  </a:cubicBezTo>
                  <a:lnTo>
                    <a:pt x="565150" y="6731"/>
                  </a:lnTo>
                  <a:lnTo>
                    <a:pt x="565150" y="8255"/>
                  </a:lnTo>
                  <a:lnTo>
                    <a:pt x="564007" y="9398"/>
                  </a:lnTo>
                  <a:lnTo>
                    <a:pt x="561721" y="7112"/>
                  </a:lnTo>
                  <a:lnTo>
                    <a:pt x="561213" y="5969"/>
                  </a:lnTo>
                  <a:lnTo>
                    <a:pt x="561213" y="3556"/>
                  </a:lnTo>
                  <a:lnTo>
                    <a:pt x="562737" y="3556"/>
                  </a:lnTo>
                  <a:lnTo>
                    <a:pt x="562737" y="5080"/>
                  </a:lnTo>
                  <a:lnTo>
                    <a:pt x="560578" y="5080"/>
                  </a:lnTo>
                  <a:cubicBezTo>
                    <a:pt x="559689" y="5080"/>
                    <a:pt x="559054" y="4318"/>
                    <a:pt x="559054" y="3556"/>
                  </a:cubicBezTo>
                  <a:lnTo>
                    <a:pt x="559054" y="1524"/>
                  </a:lnTo>
                  <a:lnTo>
                    <a:pt x="560578" y="1524"/>
                  </a:lnTo>
                  <a:lnTo>
                    <a:pt x="561594" y="2667"/>
                  </a:lnTo>
                  <a:lnTo>
                    <a:pt x="559308" y="4699"/>
                  </a:lnTo>
                  <a:lnTo>
                    <a:pt x="558800" y="4953"/>
                  </a:lnTo>
                  <a:lnTo>
                    <a:pt x="42545" y="208407"/>
                  </a:lnTo>
                  <a:lnTo>
                    <a:pt x="41910" y="208534"/>
                  </a:lnTo>
                  <a:lnTo>
                    <a:pt x="39624" y="208534"/>
                  </a:lnTo>
                  <a:lnTo>
                    <a:pt x="39624" y="206883"/>
                  </a:lnTo>
                  <a:lnTo>
                    <a:pt x="41148" y="206883"/>
                  </a:lnTo>
                  <a:lnTo>
                    <a:pt x="41148" y="213487"/>
                  </a:lnTo>
                  <a:lnTo>
                    <a:pt x="39624" y="213487"/>
                  </a:lnTo>
                  <a:lnTo>
                    <a:pt x="40767" y="212344"/>
                  </a:lnTo>
                  <a:lnTo>
                    <a:pt x="43053" y="214630"/>
                  </a:lnTo>
                  <a:lnTo>
                    <a:pt x="41910" y="215773"/>
                  </a:lnTo>
                  <a:lnTo>
                    <a:pt x="41910" y="214249"/>
                  </a:lnTo>
                  <a:lnTo>
                    <a:pt x="46355" y="214249"/>
                  </a:lnTo>
                  <a:lnTo>
                    <a:pt x="46355" y="215773"/>
                  </a:lnTo>
                  <a:lnTo>
                    <a:pt x="45720" y="214249"/>
                  </a:lnTo>
                  <a:lnTo>
                    <a:pt x="560070" y="8763"/>
                  </a:lnTo>
                  <a:close/>
                  <a:moveTo>
                    <a:pt x="61849" y="234950"/>
                  </a:moveTo>
                  <a:lnTo>
                    <a:pt x="1651" y="230505"/>
                  </a:lnTo>
                  <a:cubicBezTo>
                    <a:pt x="1016" y="230505"/>
                    <a:pt x="508" y="230124"/>
                    <a:pt x="254" y="229489"/>
                  </a:cubicBezTo>
                  <a:cubicBezTo>
                    <a:pt x="0" y="228854"/>
                    <a:pt x="127" y="228346"/>
                    <a:pt x="508" y="227838"/>
                  </a:cubicBezTo>
                  <a:lnTo>
                    <a:pt x="40767" y="181483"/>
                  </a:lnTo>
                  <a:cubicBezTo>
                    <a:pt x="41148" y="181102"/>
                    <a:pt x="41656" y="180848"/>
                    <a:pt x="42291" y="180975"/>
                  </a:cubicBezTo>
                  <a:cubicBezTo>
                    <a:pt x="42926" y="181102"/>
                    <a:pt x="43307" y="181483"/>
                    <a:pt x="43561" y="181991"/>
                  </a:cubicBezTo>
                  <a:lnTo>
                    <a:pt x="63627" y="232918"/>
                  </a:lnTo>
                  <a:cubicBezTo>
                    <a:pt x="63881" y="233426"/>
                    <a:pt x="63754" y="234061"/>
                    <a:pt x="63373" y="234442"/>
                  </a:cubicBezTo>
                  <a:cubicBezTo>
                    <a:pt x="62992" y="234823"/>
                    <a:pt x="62484" y="235077"/>
                    <a:pt x="61976" y="235077"/>
                  </a:cubicBezTo>
                  <a:moveTo>
                    <a:pt x="62230" y="231902"/>
                  </a:moveTo>
                  <a:lnTo>
                    <a:pt x="62103" y="233426"/>
                  </a:lnTo>
                  <a:lnTo>
                    <a:pt x="60579" y="234061"/>
                  </a:lnTo>
                  <a:lnTo>
                    <a:pt x="40513" y="183134"/>
                  </a:lnTo>
                  <a:lnTo>
                    <a:pt x="42037" y="182499"/>
                  </a:lnTo>
                  <a:lnTo>
                    <a:pt x="43180" y="183515"/>
                  </a:lnTo>
                  <a:lnTo>
                    <a:pt x="2921" y="229997"/>
                  </a:lnTo>
                  <a:lnTo>
                    <a:pt x="1778" y="228981"/>
                  </a:lnTo>
                  <a:lnTo>
                    <a:pt x="1905" y="227457"/>
                  </a:lnTo>
                  <a:lnTo>
                    <a:pt x="62103" y="231902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14702252" y="3713221"/>
            <a:ext cx="330656" cy="1004754"/>
          </a:xfrm>
          <a:custGeom>
            <a:avLst/>
            <a:gdLst/>
            <a:ahLst/>
            <a:cxnLst/>
            <a:rect r="r" b="b" t="t" l="l"/>
            <a:pathLst>
              <a:path h="1004754" w="330656">
                <a:moveTo>
                  <a:pt x="0" y="0"/>
                </a:moveTo>
                <a:lnTo>
                  <a:pt x="330655" y="0"/>
                </a:lnTo>
                <a:lnTo>
                  <a:pt x="330655" y="1004754"/>
                </a:lnTo>
                <a:lnTo>
                  <a:pt x="0" y="10047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943600" y="7200900"/>
            <a:ext cx="5231511" cy="3086100"/>
          </a:xfrm>
          <a:custGeom>
            <a:avLst/>
            <a:gdLst/>
            <a:ahLst/>
            <a:cxnLst/>
            <a:rect r="r" b="b" t="t" l="l"/>
            <a:pathLst>
              <a:path h="3086100" w="5231511">
                <a:moveTo>
                  <a:pt x="0" y="0"/>
                </a:moveTo>
                <a:lnTo>
                  <a:pt x="5231511" y="0"/>
                </a:lnTo>
                <a:lnTo>
                  <a:pt x="5231511" y="3086100"/>
                </a:lnTo>
                <a:lnTo>
                  <a:pt x="0" y="30861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2423160" y="9746351"/>
            <a:ext cx="2873773" cy="314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Ths. Trương Quang Trường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483460" y="9336776"/>
            <a:ext cx="3134920" cy="793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Khoa Cơ Khí – Công Nghệ Trường ĐH Nông Lâm TPHCM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170578" y="800376"/>
            <a:ext cx="10316532" cy="620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5"/>
              </a:lnSpc>
            </a:pPr>
            <a:r>
              <a:rPr lang="en-US" sz="3603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VI. BÁNH RĂNG TRͤ TRÒN RĂNG NGHIÊNG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854064" y="9864571"/>
            <a:ext cx="658711" cy="36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8"/>
              </a:lnSpc>
            </a:pPr>
            <a:r>
              <a:rPr lang="en-US" sz="2106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- 36 -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816248" y="1608668"/>
            <a:ext cx="350229" cy="6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spc="3">
                <a:solidFill>
                  <a:srgbClr val="FF0000"/>
                </a:solidFill>
                <a:latin typeface="Arab Times"/>
                <a:ea typeface="Arab Times"/>
                <a:cs typeface="Arab Times"/>
                <a:sym typeface="Arab Times"/>
              </a:rPr>
              <a:t>1.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273877" y="1581569"/>
            <a:ext cx="3513082" cy="680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spc="3">
                <a:solidFill>
                  <a:srgbClr val="FF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Cҩu</a:t>
            </a:r>
            <a:r>
              <a:rPr lang="en-US" sz="3600" spc="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3600" spc="3">
                <a:solidFill>
                  <a:srgbClr val="FF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tạo</a:t>
            </a:r>
            <a:r>
              <a:rPr lang="en-US" sz="3600" spc="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3600" spc="3">
                <a:solidFill>
                  <a:srgbClr val="FF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mặt</a:t>
            </a:r>
            <a:r>
              <a:rPr lang="en-US" sz="3600" spc="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3600" spc="3">
                <a:solidFill>
                  <a:srgbClr val="FF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rĕng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247134" y="4429482"/>
            <a:ext cx="101770" cy="216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2"/>
              </a:lnSpc>
            </a:pPr>
            <a:r>
              <a:rPr lang="en-US" sz="1316" spc="-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362560" y="4192138"/>
            <a:ext cx="91426" cy="311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3"/>
              </a:lnSpc>
            </a:pPr>
            <a:r>
              <a:rPr lang="en-US" sz="1974" spc="-1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434711" y="4292013"/>
            <a:ext cx="67208" cy="168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6"/>
              </a:lnSpc>
            </a:pPr>
            <a:r>
              <a:rPr lang="en-US" sz="86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312728" y="4472997"/>
            <a:ext cx="205054" cy="214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2"/>
              </a:lnSpc>
            </a:pPr>
            <a:r>
              <a:rPr lang="en-US" sz="2162" spc="-17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514153" y="4609648"/>
            <a:ext cx="92354" cy="115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3"/>
              </a:lnSpc>
            </a:pPr>
            <a:r>
              <a:rPr lang="en-US" sz="1406" spc="-1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983498" y="5224763"/>
            <a:ext cx="252489" cy="356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6"/>
              </a:lnSpc>
            </a:pPr>
            <a:r>
              <a:rPr lang="en-US" sz="2162" spc="-17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157673" y="2228374"/>
            <a:ext cx="299452" cy="412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6"/>
              </a:lnSpc>
            </a:pPr>
            <a:r>
              <a:rPr lang="en-US" sz="2162" spc="-17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</a:t>
            </a:r>
            <a:r>
              <a:rPr lang="en-US" b="true" sz="2162" i="true" spc="-17">
                <a:solidFill>
                  <a:srgbClr val="000000"/>
                </a:solidFill>
                <a:latin typeface="IBM Plex Sans Condensed Bold Italics"/>
                <a:ea typeface="IBM Plex Sans Condensed Bold Italics"/>
                <a:cs typeface="IBM Plex Sans Condensed Bold Italics"/>
                <a:sym typeface="IBM Plex Sans Condensed Bold Italics"/>
              </a:rPr>
              <a:t>’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4163499" y="3719060"/>
            <a:ext cx="347629" cy="737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6"/>
              </a:lnSpc>
            </a:pPr>
            <a:r>
              <a:rPr lang="en-US" sz="2162" spc="-1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</a:t>
            </a:r>
            <a:r>
              <a:rPr lang="en-US" b="true" sz="2162" i="true" spc="-12">
                <a:solidFill>
                  <a:srgbClr val="000000"/>
                </a:solidFill>
                <a:latin typeface="IBM Plex Sans Condensed Bold Italics"/>
                <a:ea typeface="IBM Plex Sans Condensed Bold Italics"/>
                <a:cs typeface="IBM Plex Sans Condensed Bold Italics"/>
                <a:sym typeface="IBM Plex Sans Condensed Bold Italics"/>
              </a:rPr>
              <a:t>’</a:t>
            </a:r>
          </a:p>
          <a:p>
            <a:pPr algn="ctr">
              <a:lnSpc>
                <a:spcPts val="2442"/>
              </a:lnSpc>
            </a:pPr>
            <a:r>
              <a:rPr lang="en-US" sz="1744" spc="-1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449310" y="2424632"/>
            <a:ext cx="92354" cy="229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8"/>
              </a:lnSpc>
            </a:pPr>
            <a:r>
              <a:rPr lang="en-US" sz="1406" spc="-1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222749" y="4012602"/>
            <a:ext cx="85454" cy="308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4"/>
              </a:lnSpc>
            </a:pPr>
            <a:r>
              <a:rPr lang="en-US" sz="1953" spc="-1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306845" y="4166145"/>
            <a:ext cx="56407" cy="141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2"/>
              </a:lnSpc>
            </a:pPr>
            <a:r>
              <a:rPr lang="en-US" sz="858" spc="-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0</a:t>
            </a:r>
          </a:p>
        </p:txBody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81255" y="247645"/>
            <a:ext cx="13030200" cy="1771650"/>
          </a:xfrm>
          <a:custGeom>
            <a:avLst/>
            <a:gdLst/>
            <a:ahLst/>
            <a:cxnLst/>
            <a:rect r="r" b="b" t="t" l="l"/>
            <a:pathLst>
              <a:path h="1771650" w="13030200">
                <a:moveTo>
                  <a:pt x="0" y="0"/>
                </a:moveTo>
                <a:lnTo>
                  <a:pt x="13030200" y="0"/>
                </a:lnTo>
                <a:lnTo>
                  <a:pt x="13030200" y="1771650"/>
                </a:lnTo>
                <a:lnTo>
                  <a:pt x="0" y="17716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16100" y="71"/>
            <a:ext cx="1485900" cy="1464469"/>
          </a:xfrm>
          <a:custGeom>
            <a:avLst/>
            <a:gdLst/>
            <a:ahLst/>
            <a:cxnLst/>
            <a:rect r="r" b="b" t="t" l="l"/>
            <a:pathLst>
              <a:path h="1464469" w="1485900">
                <a:moveTo>
                  <a:pt x="0" y="0"/>
                </a:moveTo>
                <a:lnTo>
                  <a:pt x="1485900" y="0"/>
                </a:lnTo>
                <a:lnTo>
                  <a:pt x="1485900" y="1464469"/>
                </a:lnTo>
                <a:lnTo>
                  <a:pt x="0" y="14644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286000" y="8648710"/>
            <a:ext cx="6172200" cy="1523990"/>
          </a:xfrm>
          <a:custGeom>
            <a:avLst/>
            <a:gdLst/>
            <a:ahLst/>
            <a:cxnLst/>
            <a:rect r="r" b="b" t="t" l="l"/>
            <a:pathLst>
              <a:path h="1523990" w="6172200">
                <a:moveTo>
                  <a:pt x="0" y="0"/>
                </a:moveTo>
                <a:lnTo>
                  <a:pt x="6172200" y="0"/>
                </a:lnTo>
                <a:lnTo>
                  <a:pt x="6172200" y="1523990"/>
                </a:lnTo>
                <a:lnTo>
                  <a:pt x="0" y="15239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933020" y="2387756"/>
            <a:ext cx="3750383" cy="2469680"/>
          </a:xfrm>
          <a:custGeom>
            <a:avLst/>
            <a:gdLst/>
            <a:ahLst/>
            <a:cxnLst/>
            <a:rect r="r" b="b" t="t" l="l"/>
            <a:pathLst>
              <a:path h="2469680" w="3750383">
                <a:moveTo>
                  <a:pt x="0" y="0"/>
                </a:moveTo>
                <a:lnTo>
                  <a:pt x="3750383" y="0"/>
                </a:lnTo>
                <a:lnTo>
                  <a:pt x="3750383" y="2469680"/>
                </a:lnTo>
                <a:lnTo>
                  <a:pt x="0" y="24696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896498" y="2261383"/>
            <a:ext cx="5652106" cy="2828639"/>
          </a:xfrm>
          <a:custGeom>
            <a:avLst/>
            <a:gdLst/>
            <a:ahLst/>
            <a:cxnLst/>
            <a:rect r="r" b="b" t="t" l="l"/>
            <a:pathLst>
              <a:path h="2828639" w="5652106">
                <a:moveTo>
                  <a:pt x="0" y="0"/>
                </a:moveTo>
                <a:lnTo>
                  <a:pt x="5652106" y="0"/>
                </a:lnTo>
                <a:lnTo>
                  <a:pt x="5652106" y="2828639"/>
                </a:lnTo>
                <a:lnTo>
                  <a:pt x="0" y="282863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423160" y="9720577"/>
            <a:ext cx="2847356" cy="369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Ths. TrươngQuang Trườn g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483460" y="9336776"/>
            <a:ext cx="3134920" cy="793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Khoa Cơ Khí – Công Nghệ Trường ĐH Nông Lâm TPHCM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854064" y="9864571"/>
            <a:ext cx="658711" cy="36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8"/>
              </a:lnSpc>
            </a:pPr>
            <a:r>
              <a:rPr lang="en-US" sz="2106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- 37 -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170578" y="657501"/>
            <a:ext cx="10316532" cy="763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04"/>
              </a:lnSpc>
            </a:pPr>
            <a:r>
              <a:rPr lang="en-US" sz="3603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VI. BÁNH RĂNG TRͤ TRÒN RĂNG NGHIÊNG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768046" y="1821137"/>
            <a:ext cx="149090" cy="596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27"/>
              </a:lnSpc>
            </a:pPr>
            <a:r>
              <a:rPr lang="en-US" sz="209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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816098" y="2470056"/>
            <a:ext cx="81553" cy="103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7"/>
              </a:lnSpc>
            </a:pPr>
            <a:r>
              <a:rPr lang="en-US" sz="1255" spc="-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816248" y="1694393"/>
            <a:ext cx="2500984" cy="526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61"/>
              </a:lnSpc>
            </a:pPr>
            <a:r>
              <a:rPr lang="en-US" sz="3600">
                <a:solidFill>
                  <a:srgbClr val="FF0000"/>
                </a:solidFill>
                <a:latin typeface="Arab Times"/>
                <a:ea typeface="Arab Times"/>
                <a:cs typeface="Arab Times"/>
                <a:sym typeface="Arab Times"/>
              </a:rPr>
              <a:t>2.Cácthông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669323" y="2113607"/>
            <a:ext cx="149090" cy="46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2"/>
              </a:lnSpc>
            </a:pPr>
            <a:r>
              <a:rPr lang="en-US" sz="209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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127641" y="1608668"/>
            <a:ext cx="2347022" cy="6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FF0000"/>
                </a:solidFill>
                <a:latin typeface="Arab Times"/>
                <a:ea typeface="Arab Times"/>
                <a:cs typeface="Arab Times"/>
                <a:sym typeface="Arab Times"/>
              </a:rPr>
              <a:t>BR</a:t>
            </a:r>
            <a:r>
              <a:rPr lang="en-US" sz="3600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 </a:t>
            </a:r>
            <a:r>
              <a:rPr lang="en-US" sz="3600">
                <a:solidFill>
                  <a:srgbClr val="FF0000"/>
                </a:solidFill>
                <a:latin typeface="Arab Times"/>
                <a:ea typeface="Arab Times"/>
                <a:cs typeface="Arab Times"/>
                <a:sym typeface="Arab Times"/>
              </a:rPr>
              <a:t>nghiêng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383869" y="1467269"/>
            <a:ext cx="2682064" cy="795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35"/>
              </a:lnSpc>
            </a:pPr>
            <a:r>
              <a:rPr lang="en-US" sz="3600" spc="3">
                <a:solidFill>
                  <a:srgbClr val="FF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số</a:t>
            </a:r>
            <a:r>
              <a:rPr lang="en-US" sz="3600" spc="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3600" spc="3">
                <a:solidFill>
                  <a:srgbClr val="FF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cѫ</a:t>
            </a:r>
            <a:r>
              <a:rPr lang="en-US" sz="3600" spc="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3600" spc="3">
                <a:solidFill>
                  <a:srgbClr val="FF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bҧn</a:t>
            </a:r>
            <a:r>
              <a:rPr lang="en-US" sz="3600" spc="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3600" spc="3">
                <a:solidFill>
                  <a:srgbClr val="FF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của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546015" y="2592029"/>
            <a:ext cx="150990" cy="565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27"/>
              </a:lnSpc>
            </a:pPr>
            <a:r>
              <a:rPr lang="en-US" sz="2091" spc="-1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097651" y="3752626"/>
            <a:ext cx="67951" cy="206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78"/>
              </a:lnSpc>
            </a:pPr>
            <a:r>
              <a:rPr lang="en-US" sz="1046" spc="-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867915" y="3456656"/>
            <a:ext cx="236644" cy="552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73"/>
              </a:lnSpc>
            </a:pPr>
            <a:r>
              <a:rPr lang="en-US" sz="2927" spc="-17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401275" y="3956199"/>
            <a:ext cx="376390" cy="622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16"/>
              </a:lnSpc>
            </a:pPr>
            <a:r>
              <a:rPr lang="en-US" sz="2091" spc="-1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2r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495712" y="4663740"/>
            <a:ext cx="207469" cy="218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3"/>
              </a:lnSpc>
            </a:pPr>
            <a:r>
              <a:rPr lang="en-US" sz="2927" spc="-17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709039" y="4566042"/>
            <a:ext cx="4875924" cy="843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90"/>
              </a:lnSpc>
            </a:pPr>
            <a:r>
              <a:rPr lang="en-US" sz="3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- </a:t>
            </a:r>
            <a:r>
              <a:rPr lang="en-US" b="true" sz="3600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Góc nghiêng của răng: </a:t>
            </a:r>
            <a:r>
              <a:rPr lang="en-US" sz="3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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587881" y="5348854"/>
            <a:ext cx="5123655" cy="607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3"/>
              </a:lnSpc>
            </a:pPr>
            <a:r>
              <a:rPr lang="en-US" sz="3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- </a:t>
            </a:r>
            <a:r>
              <a:rPr lang="en-US" b="true" sz="3600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Bước răng –</a:t>
            </a:r>
            <a:r>
              <a:rPr lang="en-US" sz="3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b="true" sz="3600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Modun răng: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169768" y="5610463"/>
            <a:ext cx="4129502" cy="861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26"/>
              </a:lnSpc>
            </a:pPr>
            <a:r>
              <a:rPr lang="en-US" b="true" sz="3600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+ Trên tiết diện pháp: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657082" y="5694455"/>
            <a:ext cx="403393" cy="850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26"/>
              </a:lnSpc>
            </a:pPr>
            <a:r>
              <a:rPr lang="en-US" sz="3600" spc="-28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tn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028682" y="5603729"/>
            <a:ext cx="1208208" cy="886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26"/>
              </a:lnSpc>
            </a:pPr>
            <a:r>
              <a:rPr lang="en-US" sz="3600" spc="-28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 n 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713835" y="6014466"/>
            <a:ext cx="155062" cy="513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06"/>
              </a:lnSpc>
            </a:pPr>
            <a:r>
              <a:rPr lang="en-US" sz="2394" spc="-19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580215" y="6645064"/>
            <a:ext cx="4380047" cy="925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b="true" sz="3603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+ Trên tiết diện ngang: </a:t>
            </a:r>
          </a:p>
          <a:p>
            <a:pPr algn="l">
              <a:lnSpc>
                <a:spcPts val="6843"/>
              </a:lnSpc>
            </a:pPr>
            <a:r>
              <a:rPr lang="en-US" b="true" sz="3600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+ Trên tiết diện dọc: 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067573" y="6729084"/>
            <a:ext cx="384834" cy="914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01"/>
              </a:lnSpc>
            </a:pPr>
            <a:r>
              <a:rPr lang="en-US" sz="3603" spc="-28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ts </a:t>
            </a:r>
          </a:p>
          <a:p>
            <a:pPr algn="just">
              <a:lnSpc>
                <a:spcPts val="6843"/>
              </a:lnSpc>
            </a:pPr>
            <a:r>
              <a:rPr lang="en-US" sz="3600" spc="-28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ta 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455532" y="6638273"/>
            <a:ext cx="576058" cy="323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360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 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813401" y="5736498"/>
            <a:ext cx="2376611" cy="735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2"/>
              </a:lnSpc>
            </a:pPr>
            <a:r>
              <a:rPr lang="en-US" sz="3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(tiêuăchuẩn) 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108310" y="6314423"/>
            <a:ext cx="623264" cy="725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7"/>
              </a:lnSpc>
            </a:pPr>
            <a:r>
              <a:rPr lang="en-US" sz="3603" spc="-28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s 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4726534" y="3571785"/>
            <a:ext cx="376361" cy="431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7"/>
              </a:lnSpc>
            </a:pPr>
            <a:r>
              <a:rPr lang="en-US" sz="2091" spc="-1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2r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4856207" y="3098235"/>
            <a:ext cx="104470" cy="262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1"/>
              </a:lnSpc>
            </a:pPr>
            <a:r>
              <a:rPr lang="en-US" sz="146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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8826117" y="3125686"/>
            <a:ext cx="104384" cy="466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8"/>
              </a:lnSpc>
            </a:pPr>
            <a:r>
              <a:rPr lang="en-US" sz="2927" spc="-2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8929259" y="3214711"/>
            <a:ext cx="116700" cy="340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8"/>
              </a:lnSpc>
            </a:pPr>
            <a:r>
              <a:rPr lang="en-US" sz="2049" spc="-1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0593324" y="5942105"/>
            <a:ext cx="1800468" cy="524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spc="102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m=t/ 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020174" y="6490959"/>
            <a:ext cx="363174" cy="525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4"/>
              </a:lnSpc>
            </a:pPr>
            <a:r>
              <a:rPr lang="en-US" sz="3603" spc="-28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356230" y="6729084"/>
            <a:ext cx="1034358" cy="914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01"/>
              </a:lnSpc>
            </a:pPr>
            <a:r>
              <a:rPr lang="en-US" sz="3603" spc="-18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 =t/ a = ta/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004186" y="6973295"/>
            <a:ext cx="362817" cy="591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79"/>
              </a:lnSpc>
            </a:pPr>
            <a:r>
              <a:rPr lang="en-US" sz="3600" spc="-28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1489807" y="4844825"/>
            <a:ext cx="116586" cy="524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81"/>
              </a:lnSpc>
            </a:pPr>
            <a:r>
              <a:rPr lang="en-US" sz="3600" spc="2199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1834193" y="4802653"/>
            <a:ext cx="206140" cy="467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927" spc="181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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1613266" y="5391179"/>
            <a:ext cx="116586" cy="524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81"/>
              </a:lnSpc>
            </a:pPr>
            <a:r>
              <a:rPr lang="en-US" sz="3600" spc="-28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1995013" y="5422754"/>
            <a:ext cx="256018" cy="989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3"/>
              </a:lnSpc>
            </a:pPr>
            <a:r>
              <a:rPr lang="en-US" sz="3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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1439544" y="6520620"/>
            <a:ext cx="460286" cy="2086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3"/>
              </a:lnSpc>
            </a:pPr>
            <a:r>
              <a:rPr lang="en-US" sz="3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</a:t>
            </a:r>
          </a:p>
          <a:p>
            <a:pPr algn="l">
              <a:lnSpc>
                <a:spcPts val="6732"/>
              </a:lnSpc>
            </a:pPr>
            <a:r>
              <a:rPr lang="en-US" sz="3600" spc="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 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1146922" y="7723818"/>
            <a:ext cx="256018" cy="34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3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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3371214" y="6882570"/>
            <a:ext cx="371332" cy="627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 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6430161" y="7520692"/>
            <a:ext cx="5188448" cy="1164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69"/>
              </a:lnSpc>
            </a:pPr>
            <a:r>
              <a:rPr lang="en-US" sz="36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tn = ts.cos = ta.sin mn = ms.cos = ma.sin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5950844" y="8892526"/>
            <a:ext cx="129416" cy="4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2"/>
              </a:lnSpc>
            </a:pPr>
            <a:r>
              <a:rPr lang="en-US" sz="1998" spc="1598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6694365" y="8516850"/>
            <a:ext cx="213784" cy="66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40"/>
              </a:lnSpc>
            </a:pPr>
            <a:r>
              <a:rPr lang="en-US" sz="3006" spc="240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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7361877" y="8611653"/>
            <a:ext cx="97355" cy="611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40"/>
              </a:lnSpc>
            </a:pPr>
            <a:r>
              <a:rPr lang="en-US" sz="3006" spc="240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3108960" y="8992653"/>
            <a:ext cx="1233597" cy="230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3"/>
              </a:lnSpc>
            </a:pPr>
            <a:r>
              <a:rPr lang="en-US" sz="3006" spc="-2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 = ½ m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4314068" y="8992653"/>
            <a:ext cx="3108531" cy="314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3"/>
              </a:lnSpc>
            </a:pPr>
            <a:r>
              <a:rPr lang="en-US" sz="3006" spc="-2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s.Z = ½ (m/cos).Z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3108960" y="9228492"/>
            <a:ext cx="129673" cy="906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95"/>
              </a:lnSpc>
            </a:pPr>
            <a:r>
              <a:rPr lang="en-US" sz="3006" spc="-2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</a:t>
            </a:r>
          </a:p>
          <a:p>
            <a:pPr algn="just">
              <a:lnSpc>
                <a:spcPts val="3429"/>
              </a:lnSpc>
            </a:pPr>
            <a:r>
              <a:rPr lang="en-US" sz="3006" spc="-2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3236976" y="9390417"/>
            <a:ext cx="211598" cy="371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9"/>
              </a:lnSpc>
            </a:pPr>
            <a:r>
              <a:rPr lang="en-US" sz="1998" spc="-1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 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4949576" y="9390417"/>
            <a:ext cx="227928" cy="371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9"/>
              </a:lnSpc>
            </a:pPr>
            <a:r>
              <a:rPr lang="en-US" sz="1998" spc="-1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 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3236976" y="9904767"/>
            <a:ext cx="711875" cy="314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3"/>
              </a:lnSpc>
            </a:pPr>
            <a:r>
              <a:rPr lang="en-US" sz="3006" spc="-2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 = r 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4903856" y="10061815"/>
            <a:ext cx="129416" cy="1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9"/>
              </a:lnSpc>
            </a:pPr>
            <a:r>
              <a:rPr lang="en-US" sz="1998" spc="-1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3442716" y="9166408"/>
            <a:ext cx="1540464" cy="515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1"/>
              </a:lnSpc>
            </a:pPr>
            <a:r>
              <a:rPr lang="en-US" b="true" sz="3006" i="true" spc="3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=r+f’.m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3932391" y="9623608"/>
            <a:ext cx="994239" cy="515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1"/>
              </a:lnSpc>
            </a:pPr>
            <a:r>
              <a:rPr lang="en-US" b="true" sz="3006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–</a:t>
            </a:r>
            <a:r>
              <a:rPr lang="en-US" b="true" sz="3006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 </a:t>
            </a:r>
            <a:r>
              <a:rPr lang="en-US" b="true" sz="3006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f”.m</a:t>
            </a:r>
          </a:p>
        </p:txBody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81255" y="247645"/>
            <a:ext cx="13030200" cy="1771650"/>
          </a:xfrm>
          <a:custGeom>
            <a:avLst/>
            <a:gdLst/>
            <a:ahLst/>
            <a:cxnLst/>
            <a:rect r="r" b="b" t="t" l="l"/>
            <a:pathLst>
              <a:path h="1771650" w="13030200">
                <a:moveTo>
                  <a:pt x="0" y="0"/>
                </a:moveTo>
                <a:lnTo>
                  <a:pt x="13030200" y="0"/>
                </a:lnTo>
                <a:lnTo>
                  <a:pt x="13030200" y="1771650"/>
                </a:lnTo>
                <a:lnTo>
                  <a:pt x="0" y="17716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354094" y="5305563"/>
            <a:ext cx="3226832" cy="2990717"/>
          </a:xfrm>
          <a:custGeom>
            <a:avLst/>
            <a:gdLst/>
            <a:ahLst/>
            <a:cxnLst/>
            <a:rect r="r" b="b" t="t" l="l"/>
            <a:pathLst>
              <a:path h="2990717" w="3226832">
                <a:moveTo>
                  <a:pt x="0" y="0"/>
                </a:moveTo>
                <a:lnTo>
                  <a:pt x="3226832" y="0"/>
                </a:lnTo>
                <a:lnTo>
                  <a:pt x="3226832" y="2990717"/>
                </a:lnTo>
                <a:lnTo>
                  <a:pt x="0" y="29907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452717" y="5638605"/>
            <a:ext cx="862036" cy="282950"/>
          </a:xfrm>
          <a:custGeom>
            <a:avLst/>
            <a:gdLst/>
            <a:ahLst/>
            <a:cxnLst/>
            <a:rect r="r" b="b" t="t" l="l"/>
            <a:pathLst>
              <a:path h="282950" w="862036">
                <a:moveTo>
                  <a:pt x="0" y="0"/>
                </a:moveTo>
                <a:lnTo>
                  <a:pt x="862037" y="0"/>
                </a:lnTo>
                <a:lnTo>
                  <a:pt x="862037" y="282949"/>
                </a:lnTo>
                <a:lnTo>
                  <a:pt x="0" y="28294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118636" y="2307303"/>
            <a:ext cx="3170711" cy="7505852"/>
          </a:xfrm>
          <a:custGeom>
            <a:avLst/>
            <a:gdLst/>
            <a:ahLst/>
            <a:cxnLst/>
            <a:rect r="r" b="b" t="t" l="l"/>
            <a:pathLst>
              <a:path h="7505852" w="3170711">
                <a:moveTo>
                  <a:pt x="0" y="0"/>
                </a:moveTo>
                <a:lnTo>
                  <a:pt x="3170711" y="0"/>
                </a:lnTo>
                <a:lnTo>
                  <a:pt x="3170711" y="7505852"/>
                </a:lnTo>
                <a:lnTo>
                  <a:pt x="0" y="750585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516100" y="71"/>
            <a:ext cx="1485900" cy="1464469"/>
          </a:xfrm>
          <a:custGeom>
            <a:avLst/>
            <a:gdLst/>
            <a:ahLst/>
            <a:cxnLst/>
            <a:rect r="r" b="b" t="t" l="l"/>
            <a:pathLst>
              <a:path h="1464469" w="1485900">
                <a:moveTo>
                  <a:pt x="0" y="0"/>
                </a:moveTo>
                <a:lnTo>
                  <a:pt x="1485900" y="0"/>
                </a:lnTo>
                <a:lnTo>
                  <a:pt x="1485900" y="1464469"/>
                </a:lnTo>
                <a:lnTo>
                  <a:pt x="0" y="14644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458700" y="7338060"/>
            <a:ext cx="3543300" cy="2948940"/>
          </a:xfrm>
          <a:custGeom>
            <a:avLst/>
            <a:gdLst/>
            <a:ahLst/>
            <a:cxnLst/>
            <a:rect r="r" b="b" t="t" l="l"/>
            <a:pathLst>
              <a:path h="2948940" w="3543300">
                <a:moveTo>
                  <a:pt x="0" y="0"/>
                </a:moveTo>
                <a:lnTo>
                  <a:pt x="3543300" y="0"/>
                </a:lnTo>
                <a:lnTo>
                  <a:pt x="3543300" y="2948940"/>
                </a:lnTo>
                <a:lnTo>
                  <a:pt x="0" y="294894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119357" t="-9618" r="-13240" b="-3883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258300" y="5169618"/>
            <a:ext cx="3771814" cy="2945682"/>
          </a:xfrm>
          <a:custGeom>
            <a:avLst/>
            <a:gdLst/>
            <a:ahLst/>
            <a:cxnLst/>
            <a:rect r="r" b="b" t="t" l="l"/>
            <a:pathLst>
              <a:path h="2945682" w="3771814">
                <a:moveTo>
                  <a:pt x="0" y="0"/>
                </a:moveTo>
                <a:lnTo>
                  <a:pt x="3771814" y="0"/>
                </a:lnTo>
                <a:lnTo>
                  <a:pt x="3771814" y="2945682"/>
                </a:lnTo>
                <a:lnTo>
                  <a:pt x="0" y="294568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6060" t="-9738" r="-112437" b="-3888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423160" y="9746351"/>
            <a:ext cx="2873773" cy="314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Ths. Trương Quang Trường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483460" y="9336776"/>
            <a:ext cx="3134920" cy="793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Khoa Cơ Khí – Công Nghệ Trường ĐH Nông Lâm TPHCM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854064" y="9864571"/>
            <a:ext cx="658711" cy="36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8"/>
              </a:lnSpc>
            </a:pPr>
            <a:r>
              <a:rPr lang="en-US" sz="2106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- 38 -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170578" y="800376"/>
            <a:ext cx="10316532" cy="620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5"/>
              </a:lnSpc>
            </a:pPr>
            <a:r>
              <a:rPr lang="en-US" sz="3603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VI. BÁNH RĂNG TRͤ TRÒN RĂNG NGHIÊNG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238373" y="1608668"/>
            <a:ext cx="2880531" cy="6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FF0000"/>
                </a:solidFill>
                <a:latin typeface="Arab Times"/>
                <a:ea typeface="Arab Times"/>
                <a:cs typeface="Arab Times"/>
                <a:sym typeface="Arab Times"/>
              </a:rPr>
              <a:t>BR</a:t>
            </a:r>
            <a:r>
              <a:rPr lang="en-US" sz="3600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 </a:t>
            </a:r>
            <a:r>
              <a:rPr lang="en-US" sz="3600">
                <a:solidFill>
                  <a:srgbClr val="FF0000"/>
                </a:solidFill>
                <a:latin typeface="Arab Times"/>
                <a:ea typeface="Arab Times"/>
                <a:cs typeface="Arab Times"/>
                <a:sym typeface="Arab Times"/>
              </a:rPr>
              <a:t>nghiêngso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896730" y="1608668"/>
            <a:ext cx="647281" cy="6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FF0000"/>
                </a:solidFill>
                <a:latin typeface="Arab Times"/>
                <a:ea typeface="Arab Times"/>
                <a:cs typeface="Arab Times"/>
                <a:sym typeface="Arab Times"/>
              </a:rPr>
              <a:t>BR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816248" y="1522943"/>
            <a:ext cx="4393978" cy="743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74"/>
              </a:lnSpc>
            </a:pPr>
            <a:r>
              <a:rPr lang="en-US" sz="3600">
                <a:solidFill>
                  <a:srgbClr val="FF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3.Ѭu</a:t>
            </a:r>
            <a:r>
              <a:rPr lang="en-US" sz="3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3600">
                <a:solidFill>
                  <a:srgbClr val="FF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nhѭợcđiểmcủa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345625" y="2133524"/>
            <a:ext cx="1489858" cy="672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2"/>
              </a:lnSpc>
            </a:pPr>
            <a:r>
              <a:rPr lang="en-US" sz="2700">
                <a:solidFill>
                  <a:srgbClr val="0066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Ѭuăđiểmă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680931" y="2810499"/>
            <a:ext cx="4549669" cy="1610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b="true" sz="3600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+ Làm việc êm dịu.</a:t>
            </a:r>
            <a:r>
              <a:rPr lang="en-US" sz="3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</a:p>
          <a:p>
            <a:pPr algn="l">
              <a:lnSpc>
                <a:spcPts val="1800"/>
              </a:lnSpc>
            </a:pPr>
            <a:r>
              <a:rPr lang="en-US" b="true" sz="3600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+ Khả năng tải lớn hơn.</a:t>
            </a:r>
            <a:r>
              <a:rPr lang="en-US" sz="3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176254" y="1581569"/>
            <a:ext cx="621178" cy="680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FF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với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648824" y="1545679"/>
            <a:ext cx="3446874" cy="716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FF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thҷngtѭѫng ứng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678245" y="2316275"/>
            <a:ext cx="1918783" cy="489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5"/>
              </a:lnSpc>
            </a:pPr>
            <a:r>
              <a:rPr lang="en-US" sz="2700">
                <a:solidFill>
                  <a:srgbClr val="0066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Nhѭợcăđiểmă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901673" y="2778300"/>
            <a:ext cx="116700" cy="643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91"/>
              </a:lnSpc>
            </a:pPr>
            <a:r>
              <a:rPr lang="en-US" b="true" sz="3603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989259" y="7665425"/>
            <a:ext cx="114186" cy="243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6"/>
              </a:lnSpc>
            </a:pPr>
            <a:r>
              <a:rPr lang="en-US" sz="1568" spc="-1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937835" y="5753686"/>
            <a:ext cx="182566" cy="243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6"/>
              </a:lnSpc>
            </a:pPr>
            <a:r>
              <a:rPr lang="en-US" sz="1568" spc="-1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670730" y="7685113"/>
            <a:ext cx="220056" cy="243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6"/>
              </a:lnSpc>
            </a:pPr>
            <a:r>
              <a:rPr lang="en-US" sz="1568" spc="-7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M'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677620" y="6024848"/>
            <a:ext cx="172550" cy="243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6"/>
              </a:lnSpc>
            </a:pPr>
            <a:r>
              <a:rPr lang="en-US" sz="1568" spc="-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r01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048645" y="5985200"/>
            <a:ext cx="172764" cy="243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6"/>
              </a:lnSpc>
            </a:pPr>
            <a:r>
              <a:rPr lang="en-US" sz="1568" spc="-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r02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327134" y="7165396"/>
            <a:ext cx="120972" cy="382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9"/>
              </a:lnSpc>
            </a:pPr>
            <a:r>
              <a:rPr lang="en-US" sz="1674" spc="-1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617370" y="7621181"/>
            <a:ext cx="222856" cy="382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9"/>
              </a:lnSpc>
            </a:pPr>
            <a:r>
              <a:rPr lang="en-US" sz="1674" spc="-1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B1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666876" y="5957187"/>
            <a:ext cx="145132" cy="268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3"/>
              </a:lnSpc>
            </a:pPr>
            <a:r>
              <a:rPr lang="en-US" sz="1674" spc="-1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B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053996" y="7745111"/>
            <a:ext cx="233129" cy="268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3"/>
              </a:lnSpc>
            </a:pPr>
            <a:r>
              <a:rPr lang="en-US" sz="1674" spc="-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M'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898673" y="7745111"/>
            <a:ext cx="145132" cy="268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3"/>
              </a:lnSpc>
            </a:pPr>
            <a:r>
              <a:rPr lang="en-US" sz="1674" spc="-1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B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618095" y="5957187"/>
            <a:ext cx="559899" cy="278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3"/>
              </a:lnSpc>
            </a:pPr>
            <a:r>
              <a:rPr lang="en-US" sz="1674" spc="-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MB2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554726" y="5967132"/>
            <a:ext cx="184823" cy="268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3"/>
              </a:lnSpc>
            </a:pPr>
            <a:r>
              <a:rPr lang="en-US" sz="1674" spc="-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B'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809680" y="6015447"/>
            <a:ext cx="77553" cy="189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0"/>
              </a:lnSpc>
            </a:pPr>
            <a:r>
              <a:rPr lang="en-US" sz="1193" spc="-9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8041219" y="7803356"/>
            <a:ext cx="77553" cy="189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0"/>
              </a:lnSpc>
            </a:pPr>
            <a:r>
              <a:rPr lang="en-US" sz="1193" spc="-9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2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739703" y="2740200"/>
            <a:ext cx="4867494" cy="2048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5"/>
              </a:lnSpc>
            </a:pPr>
            <a:r>
              <a:rPr lang="en-US" b="true" sz="3603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+ Xuất hiệnlựcdọctrục</a:t>
            </a:r>
            <a:r>
              <a:rPr lang="en-US" sz="360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</a:p>
          <a:p>
            <a:pPr algn="l">
              <a:lnSpc>
                <a:spcPts val="3610"/>
              </a:lnSpc>
            </a:pPr>
            <a:r>
              <a:rPr lang="en-US" b="true" sz="3006" i="true" spc="3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Khắcphục: + Dùng bánhrăngchữ V + Thông thường người ta chọn 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1889115" y="4725210"/>
            <a:ext cx="311982" cy="470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14"/>
              </a:lnSpc>
            </a:pPr>
            <a:r>
              <a:rPr lang="en-US" sz="3009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 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696073" y="4757699"/>
            <a:ext cx="517179" cy="517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14"/>
              </a:lnSpc>
            </a:pPr>
            <a:r>
              <a:rPr lang="en-US" sz="3009" spc="-2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 </a:t>
            </a:r>
            <a:r>
              <a:rPr lang="en-US" b="true" sz="3009" i="true" spc="-24">
                <a:solidFill>
                  <a:srgbClr val="000000"/>
                </a:solidFill>
                <a:latin typeface="IBM Plex Sans Condensed Bold Italics"/>
                <a:ea typeface="IBM Plex Sans Condensed Bold Italics"/>
                <a:cs typeface="IBM Plex Sans Condensed Bold Italics"/>
                <a:sym typeface="IBM Plex Sans Condensed Bold Italics"/>
              </a:rPr>
              <a:t>–</a:t>
            </a:r>
            <a:r>
              <a:rPr lang="en-US" sz="3009" spc="-2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3585327" y="4788946"/>
            <a:ext cx="129645" cy="295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3"/>
              </a:lnSpc>
            </a:pPr>
            <a:r>
              <a:rPr lang="en-US" sz="2001" spc="-1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193153" y="4743898"/>
            <a:ext cx="512278" cy="497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3"/>
              </a:lnSpc>
            </a:pPr>
            <a:r>
              <a:rPr lang="en-US" sz="3009" spc="728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=8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3201279" y="4743898"/>
            <a:ext cx="390792" cy="497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3"/>
              </a:lnSpc>
            </a:pPr>
            <a:r>
              <a:rPr lang="en-US" sz="3009" spc="-18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15</a:t>
            </a:r>
          </a:p>
        </p:txBody>
      </p: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81255" y="247645"/>
            <a:ext cx="13030200" cy="1771650"/>
          </a:xfrm>
          <a:custGeom>
            <a:avLst/>
            <a:gdLst/>
            <a:ahLst/>
            <a:cxnLst/>
            <a:rect r="r" b="b" t="t" l="l"/>
            <a:pathLst>
              <a:path h="1771650" w="13030200">
                <a:moveTo>
                  <a:pt x="0" y="0"/>
                </a:moveTo>
                <a:lnTo>
                  <a:pt x="13030200" y="0"/>
                </a:lnTo>
                <a:lnTo>
                  <a:pt x="13030200" y="1771650"/>
                </a:lnTo>
                <a:lnTo>
                  <a:pt x="0" y="17716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16100" y="71"/>
            <a:ext cx="1485900" cy="1464469"/>
          </a:xfrm>
          <a:custGeom>
            <a:avLst/>
            <a:gdLst/>
            <a:ahLst/>
            <a:cxnLst/>
            <a:rect r="r" b="b" t="t" l="l"/>
            <a:pathLst>
              <a:path h="1464469" w="1485900">
                <a:moveTo>
                  <a:pt x="0" y="0"/>
                </a:moveTo>
                <a:lnTo>
                  <a:pt x="1485900" y="0"/>
                </a:lnTo>
                <a:lnTo>
                  <a:pt x="1485900" y="1464469"/>
                </a:lnTo>
                <a:lnTo>
                  <a:pt x="0" y="14644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029200" y="-14"/>
            <a:ext cx="8229600" cy="9163060"/>
          </a:xfrm>
          <a:custGeom>
            <a:avLst/>
            <a:gdLst/>
            <a:ahLst/>
            <a:cxnLst/>
            <a:rect r="r" b="b" t="t" l="l"/>
            <a:pathLst>
              <a:path h="9163060" w="8229600">
                <a:moveTo>
                  <a:pt x="0" y="0"/>
                </a:moveTo>
                <a:lnTo>
                  <a:pt x="8229600" y="0"/>
                </a:lnTo>
                <a:lnTo>
                  <a:pt x="8229600" y="9163060"/>
                </a:lnTo>
                <a:lnTo>
                  <a:pt x="0" y="91630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423160" y="9746351"/>
            <a:ext cx="2873773" cy="314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Ths. Trương Quang Trường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483460" y="9336776"/>
            <a:ext cx="3134920" cy="793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Khoa Cơ Khí – Công Nghệ Trường ĐH Nông Lâm TPHCM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854064" y="9864571"/>
            <a:ext cx="658711" cy="36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8"/>
              </a:lnSpc>
            </a:pPr>
            <a:r>
              <a:rPr lang="en-US" sz="2106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- 39 -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DAG0pIfRc38</dc:identifier>
  <dcterms:modified xsi:type="dcterms:W3CDTF">2011-08-01T06:04:30Z</dcterms:modified>
  <cp:revision>1</cp:revision>
  <dc:title>NGUYÊN LÝ CHI TIẾT MÁY</dc:title>
</cp:coreProperties>
</file>